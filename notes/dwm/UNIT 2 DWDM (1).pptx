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02"/>
  </p:notesMasterIdLst>
  <p:sldIdLst>
    <p:sldId id="256" r:id="rId2"/>
    <p:sldId id="257" r:id="rId3"/>
    <p:sldId id="258" r:id="rId4"/>
    <p:sldId id="259" r:id="rId5"/>
    <p:sldId id="260" r:id="rId6"/>
    <p:sldId id="261" r:id="rId7"/>
    <p:sldId id="263" r:id="rId8"/>
    <p:sldId id="290" r:id="rId9"/>
    <p:sldId id="291" r:id="rId10"/>
    <p:sldId id="292" r:id="rId11"/>
    <p:sldId id="293" r:id="rId12"/>
    <p:sldId id="294" r:id="rId13"/>
    <p:sldId id="295" r:id="rId14"/>
    <p:sldId id="302" r:id="rId15"/>
    <p:sldId id="262" r:id="rId16"/>
    <p:sldId id="297" r:id="rId17"/>
    <p:sldId id="298" r:id="rId18"/>
    <p:sldId id="299" r:id="rId19"/>
    <p:sldId id="264" r:id="rId20"/>
    <p:sldId id="265" r:id="rId21"/>
    <p:sldId id="336"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22" r:id="rId61"/>
    <p:sldId id="323" r:id="rId62"/>
    <p:sldId id="317" r:id="rId63"/>
    <p:sldId id="318" r:id="rId64"/>
    <p:sldId id="319" r:id="rId65"/>
    <p:sldId id="320" r:id="rId66"/>
    <p:sldId id="321" r:id="rId67"/>
    <p:sldId id="325" r:id="rId68"/>
    <p:sldId id="324" r:id="rId69"/>
    <p:sldId id="326" r:id="rId70"/>
    <p:sldId id="327" r:id="rId71"/>
    <p:sldId id="330" r:id="rId72"/>
    <p:sldId id="328" r:id="rId73"/>
    <p:sldId id="331" r:id="rId74"/>
    <p:sldId id="332" r:id="rId75"/>
    <p:sldId id="329" r:id="rId76"/>
    <p:sldId id="333" r:id="rId77"/>
    <p:sldId id="334" r:id="rId78"/>
    <p:sldId id="335"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99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DC2176-9079-4F79-AAB4-D97510DDC3E0}" type="datetimeFigureOut">
              <a:rPr lang="en-IN" smtClean="0"/>
              <a:t>21-01-2026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B8E89-3402-43BC-B647-C98965E18C24}" type="slidenum">
              <a:rPr lang="en-IN" smtClean="0"/>
              <a:t>‹#›</a:t>
            </a:fld>
            <a:endParaRPr lang="en-IN"/>
          </a:p>
        </p:txBody>
      </p:sp>
    </p:spTree>
    <p:extLst>
      <p:ext uri="{BB962C8B-B14F-4D97-AF65-F5344CB8AC3E}">
        <p14:creationId xmlns:p14="http://schemas.microsoft.com/office/powerpoint/2010/main" val="28870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17B8E89-3402-43BC-B647-C98965E18C24}" type="slidenum">
              <a:rPr lang="en-IN" smtClean="0"/>
              <a:t>11</a:t>
            </a:fld>
            <a:endParaRPr lang="en-IN"/>
          </a:p>
        </p:txBody>
      </p:sp>
    </p:spTree>
    <p:extLst>
      <p:ext uri="{BB962C8B-B14F-4D97-AF65-F5344CB8AC3E}">
        <p14:creationId xmlns:p14="http://schemas.microsoft.com/office/powerpoint/2010/main" val="3691362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248727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677582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668982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C1BC44-6918-416C-B920-E4791DABCCC7}" type="datetimeFigureOut">
              <a:rPr lang="en-IN" smtClean="0"/>
              <a:t>21-01-2026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43859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C1BC44-6918-416C-B920-E4791DABCCC7}" type="datetimeFigureOut">
              <a:rPr lang="en-IN" smtClean="0"/>
              <a:t>21-01-2026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318951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C1BC44-6918-416C-B920-E4791DABCCC7}" type="datetimeFigureOut">
              <a:rPr lang="en-IN" smtClean="0"/>
              <a:t>21-01-2026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3838746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C1BC44-6918-416C-B920-E4791DABCCC7}" type="datetimeFigureOut">
              <a:rPr lang="en-IN" smtClean="0"/>
              <a:t>21-01-2026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297174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C1BC44-6918-416C-B920-E4791DABCCC7}" type="datetimeFigureOut">
              <a:rPr lang="en-IN" smtClean="0"/>
              <a:t>21-01-2026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1382334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9EE4B-A93B-491E-9047-BB69225822D0}" type="slidenum">
              <a:rPr lang="en-IN" smtClean="0"/>
              <a:t>‹#›</a:t>
            </a:fld>
            <a:endParaRPr lang="en-IN"/>
          </a:p>
        </p:txBody>
      </p:sp>
      <p:sp>
        <p:nvSpPr>
          <p:cNvPr id="5" name="Date Placeholder 4"/>
          <p:cNvSpPr>
            <a:spLocks noGrp="1"/>
          </p:cNvSpPr>
          <p:nvPr>
            <p:ph type="dt" sz="half" idx="10"/>
          </p:nvPr>
        </p:nvSpPr>
        <p:spPr/>
        <p:txBody>
          <a:bodyPr/>
          <a:lstStyle/>
          <a:p>
            <a:fld id="{65C1BC44-6918-416C-B920-E4791DABCCC7}" type="datetimeFigureOut">
              <a:rPr lang="en-IN" smtClean="0"/>
              <a:t>21-01-2026</a:t>
            </a:fld>
            <a:endParaRPr lang="en-IN"/>
          </a:p>
        </p:txBody>
      </p:sp>
    </p:spTree>
    <p:extLst>
      <p:ext uri="{BB962C8B-B14F-4D97-AF65-F5344CB8AC3E}">
        <p14:creationId xmlns:p14="http://schemas.microsoft.com/office/powerpoint/2010/main" val="3562442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1103376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57035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3520850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1147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30530781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1832963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C1BC44-6918-416C-B920-E4791DABCCC7}" type="datetimeFigureOut">
              <a:rPr lang="en-IN" smtClean="0"/>
              <a:t>21-01-2026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9EE4B-A93B-491E-9047-BB69225822D0}" type="slidenum">
              <a:rPr lang="en-IN" smtClean="0"/>
              <a:t>‹#›</a:t>
            </a:fld>
            <a:endParaRPr lang="en-IN"/>
          </a:p>
        </p:txBody>
      </p:sp>
    </p:spTree>
    <p:extLst>
      <p:ext uri="{BB962C8B-B14F-4D97-AF65-F5344CB8AC3E}">
        <p14:creationId xmlns:p14="http://schemas.microsoft.com/office/powerpoint/2010/main" val="2634364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1BC44-6918-416C-B920-E4791DABCCC7}" type="datetimeFigureOut">
              <a:rPr lang="en-IN" smtClean="0"/>
              <a:t>21-01-2026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059EE4B-A93B-491E-9047-BB69225822D0}" type="slidenum">
              <a:rPr lang="en-IN" smtClean="0"/>
              <a:t>‹#›</a:t>
            </a:fld>
            <a:endParaRPr lang="en-IN"/>
          </a:p>
        </p:txBody>
      </p:sp>
    </p:spTree>
    <p:extLst>
      <p:ext uri="{BB962C8B-B14F-4D97-AF65-F5344CB8AC3E}">
        <p14:creationId xmlns:p14="http://schemas.microsoft.com/office/powerpoint/2010/main" val="228860807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8" Type="http://schemas.openxmlformats.org/officeDocument/2006/relationships/hyperlink" Target="https://www.geeksforgeeks.org/data-science/data-mining/" TargetMode="External"/><Relationship Id="rId3" Type="http://schemas.openxmlformats.org/officeDocument/2006/relationships/hyperlink" Target="https://www.geeksforgeeks.org/dbms/star-schema-in-data-warehouse-modeling/" TargetMode="External"/><Relationship Id="rId7" Type="http://schemas.openxmlformats.org/officeDocument/2006/relationships/hyperlink" Target="https://www.geeksforgeeks.org/power-bi/what-is-business-intelligence/" TargetMode="External"/><Relationship Id="rId2" Type="http://schemas.openxmlformats.org/officeDocument/2006/relationships/hyperlink" Target="https://www.geeksforgeeks.org/data-analysis/data-modeling-a-comprehensive-guide-for-analysts/" TargetMode="External"/><Relationship Id="rId1" Type="http://schemas.openxmlformats.org/officeDocument/2006/relationships/slideLayout" Target="../slideLayouts/slideLayout1.xml"/><Relationship Id="rId6" Type="http://schemas.openxmlformats.org/officeDocument/2006/relationships/hyperlink" Target="https://www.geeksforgeeks.org/software-testing/what-is-a-dimension-table/" TargetMode="External"/><Relationship Id="rId5" Type="http://schemas.openxmlformats.org/officeDocument/2006/relationships/hyperlink" Target="https://www.geeksforgeeks.org/software-testing/what-is-a-fact-table/" TargetMode="External"/><Relationship Id="rId4" Type="http://schemas.openxmlformats.org/officeDocument/2006/relationships/hyperlink" Target="https://www.geeksforgeeks.org/dbms/snowflake-schema-in-data-warehouse-model/"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www.geeksforgeeks.org/dbms/introduction-of-database-normalization/" TargetMode="External"/><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hyperlink" Target="https://www.geeksforgeeks.org/data-analysis/what-is-data-analysis/"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2ABBB2-44B6-F535-7D7C-2538697068DD}"/>
              </a:ext>
            </a:extLst>
          </p:cNvPr>
          <p:cNvSpPr txBox="1"/>
          <p:nvPr/>
        </p:nvSpPr>
        <p:spPr>
          <a:xfrm>
            <a:off x="880040" y="394754"/>
            <a:ext cx="8852539" cy="5632311"/>
          </a:xfrm>
          <a:prstGeom prst="rect">
            <a:avLst/>
          </a:prstGeom>
          <a:noFill/>
        </p:spPr>
        <p:txBody>
          <a:bodyPr wrap="square">
            <a:spAutoFit/>
          </a:bodyPr>
          <a:lstStyle/>
          <a:p>
            <a:pPr>
              <a:buNone/>
            </a:pPr>
            <a:r>
              <a:rPr lang="en-IN" sz="6000" b="1" dirty="0">
                <a:solidFill>
                  <a:srgbClr val="FF3300"/>
                </a:solidFill>
              </a:rPr>
              <a:t>Data Warehouse </a:t>
            </a:r>
          </a:p>
          <a:p>
            <a:pPr>
              <a:buNone/>
            </a:pPr>
            <a:r>
              <a:rPr lang="en-IN" sz="6000" b="1" dirty="0">
                <a:solidFill>
                  <a:srgbClr val="FF3300"/>
                </a:solidFill>
              </a:rPr>
              <a:t>and Data Mining </a:t>
            </a:r>
          </a:p>
          <a:p>
            <a:pPr>
              <a:buNone/>
            </a:pPr>
            <a:endParaRPr lang="en-IN" sz="6000" b="1" dirty="0"/>
          </a:p>
          <a:p>
            <a:pPr>
              <a:buNone/>
            </a:pPr>
            <a:r>
              <a:rPr lang="en-IN" sz="6000" b="1" dirty="0"/>
              <a:t>               UNIT - 2</a:t>
            </a:r>
            <a:endParaRPr lang="en-IN" sz="6000" dirty="0"/>
          </a:p>
          <a:p>
            <a:pPr>
              <a:buNone/>
            </a:pPr>
            <a:br>
              <a:rPr lang="en-IN" sz="4000" dirty="0"/>
            </a:br>
            <a:r>
              <a:rPr lang="en-IN" sz="4000" dirty="0"/>
              <a:t>Department: CSE (AI)</a:t>
            </a:r>
            <a:br>
              <a:rPr lang="en-IN" sz="4000" dirty="0"/>
            </a:br>
            <a:r>
              <a:rPr lang="en-IN" sz="4000" dirty="0"/>
              <a:t>Semester: 6</a:t>
            </a:r>
            <a:r>
              <a:rPr lang="en-IN" sz="4000" baseline="30000" dirty="0"/>
              <a:t>TH</a:t>
            </a:r>
            <a:r>
              <a:rPr lang="en-IN" sz="4000" dirty="0"/>
              <a:t> </a:t>
            </a:r>
          </a:p>
        </p:txBody>
      </p:sp>
    </p:spTree>
    <p:extLst>
      <p:ext uri="{BB962C8B-B14F-4D97-AF65-F5344CB8AC3E}">
        <p14:creationId xmlns:p14="http://schemas.microsoft.com/office/powerpoint/2010/main" val="574988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389CF-8263-6C53-1D82-A280A32B84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51E065-68AA-3EE7-44AA-11F860E641CA}"/>
              </a:ext>
            </a:extLst>
          </p:cNvPr>
          <p:cNvSpPr txBox="1"/>
          <p:nvPr/>
        </p:nvSpPr>
        <p:spPr>
          <a:xfrm>
            <a:off x="938049" y="385603"/>
            <a:ext cx="9814034" cy="5632311"/>
          </a:xfrm>
          <a:prstGeom prst="rect">
            <a:avLst/>
          </a:prstGeom>
          <a:noFill/>
        </p:spPr>
        <p:txBody>
          <a:bodyPr wrap="square">
            <a:spAutoFit/>
          </a:bodyPr>
          <a:lstStyle/>
          <a:p>
            <a:pPr algn="just"/>
            <a:r>
              <a:rPr lang="en-IN" sz="2400" b="1" dirty="0"/>
              <a:t>Unit 2  (SYLLABUS)</a:t>
            </a:r>
          </a:p>
          <a:p>
            <a:pPr algn="just"/>
            <a:endParaRPr lang="en-IN" sz="2400" b="1" dirty="0"/>
          </a:p>
          <a:p>
            <a:pPr algn="just"/>
            <a:r>
              <a:rPr lang="en-IN" sz="2400" b="1" dirty="0"/>
              <a:t>Dimensional Modelling: Defining the business requirements: Dimensional analysis,</a:t>
            </a:r>
          </a:p>
          <a:p>
            <a:pPr algn="just"/>
            <a:endParaRPr lang="en-IN" sz="2400" b="1" dirty="0"/>
          </a:p>
          <a:p>
            <a:pPr algn="just"/>
            <a:r>
              <a:rPr lang="en-IN" sz="2400" b="1" dirty="0"/>
              <a:t>Information packages – a new concept, requirements gathering methods, </a:t>
            </a:r>
          </a:p>
          <a:p>
            <a:pPr algn="just"/>
            <a:endParaRPr lang="en-IN" sz="2400" b="1" dirty="0"/>
          </a:p>
          <a:p>
            <a:pPr algn="just"/>
            <a:r>
              <a:rPr lang="en-IN" sz="2400" b="1" dirty="0"/>
              <a:t>Requirements definition: scope and content. Principles of Dimensional Modelling: Objectives, </a:t>
            </a:r>
          </a:p>
          <a:p>
            <a:pPr algn="just"/>
            <a:endParaRPr lang="en-IN" sz="2400" b="1" dirty="0"/>
          </a:p>
          <a:p>
            <a:pPr algn="just"/>
            <a:r>
              <a:rPr lang="en-IN" sz="2400" b="1" dirty="0"/>
              <a:t>From Requirements to data design, Multidimensional Data Model, </a:t>
            </a:r>
          </a:p>
          <a:p>
            <a:pPr algn="just"/>
            <a:endParaRPr lang="en-IN" sz="2400" b="1" dirty="0"/>
          </a:p>
          <a:p>
            <a:pPr algn="just"/>
            <a:r>
              <a:rPr lang="en-IN" sz="2400" b="1" dirty="0"/>
              <a:t>Schemas: the STAR schema, the Snowflake schema, fact constellation schema</a:t>
            </a:r>
          </a:p>
        </p:txBody>
      </p:sp>
    </p:spTree>
    <p:extLst>
      <p:ext uri="{BB962C8B-B14F-4D97-AF65-F5344CB8AC3E}">
        <p14:creationId xmlns:p14="http://schemas.microsoft.com/office/powerpoint/2010/main" val="3177085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0C0C6-0641-AF75-0890-75829BC4FA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A67B61-AB79-9012-F15D-186504B653A2}"/>
              </a:ext>
            </a:extLst>
          </p:cNvPr>
          <p:cNvSpPr txBox="1"/>
          <p:nvPr/>
        </p:nvSpPr>
        <p:spPr>
          <a:xfrm>
            <a:off x="1389993" y="555635"/>
            <a:ext cx="8216461" cy="3330848"/>
          </a:xfrm>
          <a:prstGeom prst="rect">
            <a:avLst/>
          </a:prstGeom>
          <a:noFill/>
        </p:spPr>
        <p:txBody>
          <a:bodyPr wrap="square">
            <a:spAutoFit/>
          </a:bodyPr>
          <a:lstStyle/>
          <a:p>
            <a:pPr>
              <a:buNone/>
            </a:pPr>
            <a:r>
              <a:rPr lang="en-IN" dirty="0"/>
              <a:t>By the end of UNIT–2, you should be able to:</a:t>
            </a:r>
          </a:p>
          <a:p>
            <a:pPr>
              <a:buNone/>
            </a:pPr>
            <a:endParaRPr lang="en-IN" dirty="0"/>
          </a:p>
          <a:p>
            <a:pPr>
              <a:lnSpc>
                <a:spcPct val="200000"/>
              </a:lnSpc>
              <a:buFont typeface="+mj-lt"/>
              <a:buAutoNum type="arabicPeriod"/>
            </a:pPr>
            <a:r>
              <a:rPr lang="en-IN" b="1" dirty="0"/>
              <a:t>Understand business requirements</a:t>
            </a:r>
            <a:endParaRPr lang="en-IN" dirty="0"/>
          </a:p>
          <a:p>
            <a:pPr>
              <a:lnSpc>
                <a:spcPct val="200000"/>
              </a:lnSpc>
              <a:buFont typeface="+mj-lt"/>
              <a:buAutoNum type="arabicPeriod"/>
            </a:pPr>
            <a:r>
              <a:rPr lang="en-IN" b="1" dirty="0"/>
              <a:t>Identify facts and dimensions</a:t>
            </a:r>
            <a:endParaRPr lang="en-IN" dirty="0"/>
          </a:p>
          <a:p>
            <a:pPr>
              <a:lnSpc>
                <a:spcPct val="200000"/>
              </a:lnSpc>
              <a:buFont typeface="+mj-lt"/>
              <a:buAutoNum type="arabicPeriod"/>
            </a:pPr>
            <a:r>
              <a:rPr lang="en-IN" b="1" dirty="0"/>
              <a:t>Organize requirements systematically</a:t>
            </a:r>
            <a:endParaRPr lang="en-IN" dirty="0"/>
          </a:p>
          <a:p>
            <a:pPr>
              <a:lnSpc>
                <a:spcPct val="200000"/>
              </a:lnSpc>
              <a:buFont typeface="+mj-lt"/>
              <a:buAutoNum type="arabicPeriod"/>
            </a:pPr>
            <a:r>
              <a:rPr lang="en-IN" b="1" dirty="0"/>
              <a:t>Convert requirements into a multidimensional model</a:t>
            </a:r>
            <a:endParaRPr lang="en-IN" dirty="0"/>
          </a:p>
          <a:p>
            <a:pPr>
              <a:lnSpc>
                <a:spcPct val="200000"/>
              </a:lnSpc>
              <a:buFont typeface="+mj-lt"/>
              <a:buAutoNum type="arabicPeriod"/>
            </a:pPr>
            <a:r>
              <a:rPr lang="en-IN" b="1" dirty="0"/>
              <a:t>Choose the right schema (STAR / Snowflake / Fact Constellation)</a:t>
            </a:r>
            <a:endParaRPr lang="en-IN" dirty="0"/>
          </a:p>
        </p:txBody>
      </p:sp>
    </p:spTree>
    <p:extLst>
      <p:ext uri="{BB962C8B-B14F-4D97-AF65-F5344CB8AC3E}">
        <p14:creationId xmlns:p14="http://schemas.microsoft.com/office/powerpoint/2010/main" val="3016917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32B78-040F-D6F1-6C9E-3CEA0A9FE7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6E70A7-B1AA-A811-9C99-0261F6F5D707}"/>
              </a:ext>
            </a:extLst>
          </p:cNvPr>
          <p:cNvSpPr txBox="1"/>
          <p:nvPr/>
        </p:nvSpPr>
        <p:spPr>
          <a:xfrm>
            <a:off x="801415" y="112952"/>
            <a:ext cx="4663965" cy="4247317"/>
          </a:xfrm>
          <a:prstGeom prst="rect">
            <a:avLst/>
          </a:prstGeom>
          <a:noFill/>
          <a:ln>
            <a:solidFill>
              <a:schemeClr val="tx1"/>
            </a:solidFill>
          </a:ln>
        </p:spPr>
        <p:txBody>
          <a:bodyPr wrap="square">
            <a:spAutoFit/>
          </a:bodyPr>
          <a:lstStyle/>
          <a:p>
            <a:pPr>
              <a:buNone/>
            </a:pPr>
            <a:r>
              <a:rPr lang="en-IN" b="1" u="sng" dirty="0"/>
              <a:t>1. Problem Statement</a:t>
            </a:r>
          </a:p>
          <a:p>
            <a:pPr>
              <a:buNone/>
            </a:pPr>
            <a:endParaRPr lang="en-IN" b="1" dirty="0"/>
          </a:p>
          <a:p>
            <a:pPr>
              <a:buNone/>
            </a:pPr>
            <a:r>
              <a:rPr lang="en-IN" dirty="0"/>
              <a:t>A college wants to </a:t>
            </a:r>
            <a:r>
              <a:rPr lang="en-IN" dirty="0" err="1"/>
              <a:t>analyze</a:t>
            </a:r>
            <a:r>
              <a:rPr lang="en-IN" dirty="0"/>
              <a:t>:</a:t>
            </a:r>
          </a:p>
          <a:p>
            <a:pPr>
              <a:buFont typeface="Arial" panose="020B0604020202020204" pitchFamily="34" charset="0"/>
              <a:buChar char="•"/>
            </a:pPr>
            <a:r>
              <a:rPr lang="en-IN" dirty="0"/>
              <a:t>Subject-wise student performance</a:t>
            </a:r>
          </a:p>
          <a:p>
            <a:pPr>
              <a:buFont typeface="Arial" panose="020B0604020202020204" pitchFamily="34" charset="0"/>
              <a:buChar char="•"/>
            </a:pPr>
            <a:r>
              <a:rPr lang="en-IN" dirty="0"/>
              <a:t>Year-wise pass &amp; fail trend</a:t>
            </a:r>
          </a:p>
          <a:p>
            <a:pPr>
              <a:buFont typeface="Arial" panose="020B0604020202020204" pitchFamily="34" charset="0"/>
              <a:buChar char="•"/>
            </a:pPr>
            <a:r>
              <a:rPr lang="en-IN" dirty="0"/>
              <a:t>Department-wise results</a:t>
            </a:r>
          </a:p>
          <a:p>
            <a:pPr>
              <a:buFont typeface="Arial" panose="020B0604020202020204" pitchFamily="34" charset="0"/>
              <a:buChar char="•"/>
            </a:pPr>
            <a:endParaRPr lang="en-IN" dirty="0"/>
          </a:p>
          <a:p>
            <a:pPr>
              <a:buNone/>
            </a:pPr>
            <a:r>
              <a:rPr lang="en-IN" dirty="0"/>
              <a:t>But data is stored in:</a:t>
            </a:r>
          </a:p>
          <a:p>
            <a:pPr>
              <a:buFont typeface="Arial" panose="020B0604020202020204" pitchFamily="34" charset="0"/>
              <a:buChar char="•"/>
            </a:pPr>
            <a:r>
              <a:rPr lang="en-IN" dirty="0"/>
              <a:t>Student Registration System</a:t>
            </a:r>
          </a:p>
          <a:p>
            <a:pPr>
              <a:buFont typeface="Arial" panose="020B0604020202020204" pitchFamily="34" charset="0"/>
              <a:buChar char="•"/>
            </a:pPr>
            <a:r>
              <a:rPr lang="en-IN" dirty="0"/>
              <a:t>Examination System</a:t>
            </a:r>
          </a:p>
          <a:p>
            <a:pPr>
              <a:buFont typeface="Arial" panose="020B0604020202020204" pitchFamily="34" charset="0"/>
              <a:buChar char="•"/>
            </a:pPr>
            <a:r>
              <a:rPr lang="en-IN" dirty="0"/>
              <a:t>Marks Entry Tables</a:t>
            </a:r>
          </a:p>
          <a:p>
            <a:pPr>
              <a:buFont typeface="Arial" panose="020B0604020202020204" pitchFamily="34" charset="0"/>
              <a:buChar char="•"/>
            </a:pPr>
            <a:endParaRPr lang="en-IN" dirty="0"/>
          </a:p>
          <a:p>
            <a:pPr>
              <a:buNone/>
            </a:pPr>
            <a:r>
              <a:rPr lang="en-IN" dirty="0"/>
              <a:t>❓ </a:t>
            </a:r>
            <a:r>
              <a:rPr lang="en-IN" b="1" dirty="0"/>
              <a:t>Question:</a:t>
            </a:r>
            <a:br>
              <a:rPr lang="en-IN" dirty="0"/>
            </a:br>
            <a:r>
              <a:rPr lang="en-IN" dirty="0"/>
              <a:t>Can we directly use this data for analysis efficiently?</a:t>
            </a:r>
          </a:p>
        </p:txBody>
      </p:sp>
      <p:sp>
        <p:nvSpPr>
          <p:cNvPr id="5" name="TextBox 4">
            <a:extLst>
              <a:ext uri="{FF2B5EF4-FFF2-40B4-BE49-F238E27FC236}">
                <a16:creationId xmlns:a16="http://schemas.microsoft.com/office/drawing/2014/main" id="{57081850-49F1-B63D-D01B-C76A5650B79E}"/>
              </a:ext>
            </a:extLst>
          </p:cNvPr>
          <p:cNvSpPr txBox="1"/>
          <p:nvPr/>
        </p:nvSpPr>
        <p:spPr>
          <a:xfrm>
            <a:off x="5854262" y="112952"/>
            <a:ext cx="5294586" cy="2585323"/>
          </a:xfrm>
          <a:prstGeom prst="rect">
            <a:avLst/>
          </a:prstGeom>
          <a:noFill/>
          <a:ln>
            <a:solidFill>
              <a:schemeClr val="tx1"/>
            </a:solidFill>
          </a:ln>
        </p:spPr>
        <p:txBody>
          <a:bodyPr wrap="square">
            <a:spAutoFit/>
          </a:bodyPr>
          <a:lstStyle/>
          <a:p>
            <a:pPr>
              <a:buNone/>
            </a:pPr>
            <a:r>
              <a:rPr lang="en-IN" b="1" u="sng" dirty="0"/>
              <a:t>2. Issues with Existing Systems</a:t>
            </a:r>
          </a:p>
          <a:p>
            <a:pPr>
              <a:buNone/>
            </a:pPr>
            <a:endParaRPr lang="en-IN" b="1" dirty="0"/>
          </a:p>
          <a:p>
            <a:pPr>
              <a:buFont typeface="Arial" panose="020B0604020202020204" pitchFamily="34" charset="0"/>
              <a:buChar char="•"/>
            </a:pPr>
            <a:r>
              <a:rPr lang="en-IN" dirty="0"/>
              <a:t>Data is spread across multiple tables</a:t>
            </a:r>
          </a:p>
          <a:p>
            <a:pPr>
              <a:buFont typeface="Arial" panose="020B0604020202020204" pitchFamily="34" charset="0"/>
              <a:buChar char="•"/>
            </a:pPr>
            <a:r>
              <a:rPr lang="en-IN" dirty="0"/>
              <a:t>Tables are designed for daily operations</a:t>
            </a:r>
          </a:p>
          <a:p>
            <a:pPr>
              <a:buFont typeface="Arial" panose="020B0604020202020204" pitchFamily="34" charset="0"/>
              <a:buChar char="•"/>
            </a:pPr>
            <a:r>
              <a:rPr lang="en-IN" dirty="0"/>
              <a:t>Complex SQL queries required</a:t>
            </a:r>
          </a:p>
          <a:p>
            <a:pPr>
              <a:buFont typeface="Arial" panose="020B0604020202020204" pitchFamily="34" charset="0"/>
              <a:buChar char="•"/>
            </a:pPr>
            <a:r>
              <a:rPr lang="en-IN" dirty="0"/>
              <a:t>Slow performance for reports</a:t>
            </a:r>
          </a:p>
          <a:p>
            <a:pPr>
              <a:buFont typeface="Arial" panose="020B0604020202020204" pitchFamily="34" charset="0"/>
              <a:buChar char="•"/>
            </a:pPr>
            <a:r>
              <a:rPr lang="en-IN" dirty="0"/>
              <a:t>Difficult for management to understand</a:t>
            </a:r>
          </a:p>
          <a:p>
            <a:pPr>
              <a:buFont typeface="Arial" panose="020B0604020202020204" pitchFamily="34" charset="0"/>
              <a:buChar char="•"/>
            </a:pPr>
            <a:endParaRPr lang="en-IN" dirty="0"/>
          </a:p>
          <a:p>
            <a:pPr>
              <a:buNone/>
            </a:pPr>
            <a:r>
              <a:rPr lang="en-IN" dirty="0"/>
              <a:t>❌ </a:t>
            </a:r>
            <a:r>
              <a:rPr lang="en-IN" b="1" dirty="0"/>
              <a:t>Not suitable for analysis</a:t>
            </a:r>
            <a:endParaRPr lang="en-IN" dirty="0"/>
          </a:p>
        </p:txBody>
      </p:sp>
      <p:sp>
        <p:nvSpPr>
          <p:cNvPr id="6" name="TextBox 5">
            <a:extLst>
              <a:ext uri="{FF2B5EF4-FFF2-40B4-BE49-F238E27FC236}">
                <a16:creationId xmlns:a16="http://schemas.microsoft.com/office/drawing/2014/main" id="{DF993EB3-5D22-2304-F4CF-4C7E4B29B011}"/>
              </a:ext>
            </a:extLst>
          </p:cNvPr>
          <p:cNvSpPr txBox="1"/>
          <p:nvPr/>
        </p:nvSpPr>
        <p:spPr>
          <a:xfrm>
            <a:off x="5854262" y="3294993"/>
            <a:ext cx="5294586" cy="2585323"/>
          </a:xfrm>
          <a:prstGeom prst="rect">
            <a:avLst/>
          </a:prstGeom>
          <a:noFill/>
          <a:ln>
            <a:solidFill>
              <a:schemeClr val="tx1"/>
            </a:solidFill>
          </a:ln>
        </p:spPr>
        <p:txBody>
          <a:bodyPr wrap="square">
            <a:spAutoFit/>
          </a:bodyPr>
          <a:lstStyle/>
          <a:p>
            <a:pPr>
              <a:buNone/>
            </a:pPr>
            <a:r>
              <a:rPr lang="en-IN" b="1" u="sng" dirty="0"/>
              <a:t>3. What Management Actually Wants</a:t>
            </a:r>
          </a:p>
          <a:p>
            <a:pPr>
              <a:buNone/>
            </a:pPr>
            <a:endParaRPr lang="en-IN" b="1" u="sng" dirty="0"/>
          </a:p>
          <a:p>
            <a:pPr>
              <a:buFont typeface="Arial" panose="020B0604020202020204" pitchFamily="34" charset="0"/>
              <a:buChar char="•"/>
            </a:pPr>
            <a:r>
              <a:rPr lang="en-IN" dirty="0"/>
              <a:t>Easy-to-understand reports</a:t>
            </a:r>
          </a:p>
          <a:p>
            <a:pPr>
              <a:buFont typeface="Arial" panose="020B0604020202020204" pitchFamily="34" charset="0"/>
              <a:buChar char="•"/>
            </a:pPr>
            <a:r>
              <a:rPr lang="en-IN" dirty="0"/>
              <a:t>Fast answers to questions like:</a:t>
            </a:r>
          </a:p>
          <a:p>
            <a:pPr marL="742950" lvl="1" indent="-285750">
              <a:buFont typeface="Arial" panose="020B0604020202020204" pitchFamily="34" charset="0"/>
              <a:buChar char="•"/>
            </a:pPr>
            <a:r>
              <a:rPr lang="en-IN" dirty="0"/>
              <a:t>“Which subject has highest failure?”</a:t>
            </a:r>
          </a:p>
          <a:p>
            <a:pPr marL="742950" lvl="1" indent="-285750">
              <a:buFont typeface="Arial" panose="020B0604020202020204" pitchFamily="34" charset="0"/>
              <a:buChar char="•"/>
            </a:pPr>
            <a:r>
              <a:rPr lang="en-IN" dirty="0"/>
              <a:t>“How are results changing year-wise?”</a:t>
            </a:r>
          </a:p>
          <a:p>
            <a:pPr>
              <a:buFont typeface="Arial" panose="020B0604020202020204" pitchFamily="34" charset="0"/>
              <a:buChar char="•"/>
            </a:pPr>
            <a:r>
              <a:rPr lang="en-IN" dirty="0"/>
              <a:t>Simple analysis without complex queries</a:t>
            </a:r>
          </a:p>
          <a:p>
            <a:pPr>
              <a:buFont typeface="Arial" panose="020B0604020202020204" pitchFamily="34" charset="0"/>
              <a:buChar char="•"/>
            </a:pPr>
            <a:endParaRPr lang="en-IN" dirty="0"/>
          </a:p>
          <a:p>
            <a:pPr>
              <a:buNone/>
            </a:pPr>
            <a:r>
              <a:rPr lang="en-IN" dirty="0"/>
              <a:t>✅ </a:t>
            </a:r>
            <a:r>
              <a:rPr lang="en-IN" b="1" dirty="0"/>
              <a:t>This leads to Dimensional Modelling</a:t>
            </a:r>
            <a:endParaRPr lang="en-IN" dirty="0"/>
          </a:p>
        </p:txBody>
      </p:sp>
    </p:spTree>
    <p:extLst>
      <p:ext uri="{BB962C8B-B14F-4D97-AF65-F5344CB8AC3E}">
        <p14:creationId xmlns:p14="http://schemas.microsoft.com/office/powerpoint/2010/main" val="159998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B49A-D4BC-D0F3-8392-69430430848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96A0FC-6595-7410-C670-895FD525D9AA}"/>
              </a:ext>
            </a:extLst>
          </p:cNvPr>
          <p:cNvSpPr txBox="1"/>
          <p:nvPr/>
        </p:nvSpPr>
        <p:spPr>
          <a:xfrm>
            <a:off x="1169276" y="223033"/>
            <a:ext cx="8332076" cy="1969770"/>
          </a:xfrm>
          <a:prstGeom prst="rect">
            <a:avLst/>
          </a:prstGeom>
          <a:noFill/>
        </p:spPr>
        <p:txBody>
          <a:bodyPr wrap="square">
            <a:spAutoFit/>
          </a:bodyPr>
          <a:lstStyle/>
          <a:p>
            <a:pPr>
              <a:buNone/>
            </a:pPr>
            <a:r>
              <a:rPr lang="en-IN" sz="3200" b="1" u="sng" dirty="0">
                <a:solidFill>
                  <a:srgbClr val="FF3300"/>
                </a:solidFill>
              </a:rPr>
              <a:t>What is Dimensional Modelling?</a:t>
            </a:r>
          </a:p>
          <a:p>
            <a:pPr>
              <a:buNone/>
            </a:pPr>
            <a:endParaRPr lang="en-IN" dirty="0"/>
          </a:p>
          <a:p>
            <a:pPr>
              <a:buNone/>
            </a:pPr>
            <a:r>
              <a:rPr lang="en-IN" sz="2400" dirty="0"/>
              <a:t>Dimensional Modelling is a data design technique used in data warehouses to organize data for easy analysis and reporting.</a:t>
            </a:r>
          </a:p>
        </p:txBody>
      </p:sp>
      <p:sp>
        <p:nvSpPr>
          <p:cNvPr id="7" name="TextBox 6">
            <a:extLst>
              <a:ext uri="{FF2B5EF4-FFF2-40B4-BE49-F238E27FC236}">
                <a16:creationId xmlns:a16="http://schemas.microsoft.com/office/drawing/2014/main" id="{A50790F5-ECB1-0727-56BC-7CBF528EB121}"/>
              </a:ext>
            </a:extLst>
          </p:cNvPr>
          <p:cNvSpPr txBox="1"/>
          <p:nvPr/>
        </p:nvSpPr>
        <p:spPr>
          <a:xfrm>
            <a:off x="3264775" y="2350458"/>
            <a:ext cx="5662449" cy="4370427"/>
          </a:xfrm>
          <a:prstGeom prst="rect">
            <a:avLst/>
          </a:prstGeom>
          <a:noFill/>
          <a:ln>
            <a:solidFill>
              <a:schemeClr val="tx1"/>
            </a:solidFill>
          </a:ln>
        </p:spPr>
        <p:txBody>
          <a:bodyPr wrap="square">
            <a:spAutoFit/>
          </a:bodyPr>
          <a:lstStyle/>
          <a:p>
            <a:pPr>
              <a:buNone/>
            </a:pPr>
            <a:r>
              <a:rPr lang="en-IN" sz="2000" b="1" u="sng" dirty="0">
                <a:solidFill>
                  <a:srgbClr val="FF3300"/>
                </a:solidFill>
              </a:rPr>
              <a:t>Core Idea of Dimensional Modelling</a:t>
            </a:r>
          </a:p>
          <a:p>
            <a:pPr>
              <a:buNone/>
            </a:pPr>
            <a:endParaRPr lang="en-IN" b="1" dirty="0"/>
          </a:p>
          <a:p>
            <a:pPr>
              <a:buNone/>
            </a:pPr>
            <a:r>
              <a:rPr lang="en-IN" sz="2400" b="1" u="sng" dirty="0"/>
              <a:t>Two Main Components</a:t>
            </a:r>
          </a:p>
          <a:p>
            <a:pPr>
              <a:buNone/>
            </a:pPr>
            <a:endParaRPr lang="en-IN" sz="2400" b="1" dirty="0"/>
          </a:p>
          <a:p>
            <a:pPr>
              <a:buFont typeface="Arial" panose="020B0604020202020204" pitchFamily="34" charset="0"/>
              <a:buChar char="•"/>
            </a:pPr>
            <a:r>
              <a:rPr lang="en-IN" sz="2400" b="1" dirty="0"/>
              <a:t>FACT</a:t>
            </a:r>
            <a:r>
              <a:rPr lang="en-IN" sz="2400" dirty="0"/>
              <a:t> → What we measure</a:t>
            </a:r>
          </a:p>
          <a:p>
            <a:pPr>
              <a:buFont typeface="Arial" panose="020B0604020202020204" pitchFamily="34" charset="0"/>
              <a:buChar char="•"/>
            </a:pPr>
            <a:r>
              <a:rPr lang="en-IN" sz="2400" b="1" dirty="0"/>
              <a:t>DIMENSION</a:t>
            </a:r>
            <a:r>
              <a:rPr lang="en-IN" sz="2400" dirty="0"/>
              <a:t> → How we </a:t>
            </a:r>
            <a:r>
              <a:rPr lang="en-IN" sz="2400" dirty="0" err="1"/>
              <a:t>analyze</a:t>
            </a:r>
            <a:endParaRPr lang="en-IN" sz="2400" dirty="0"/>
          </a:p>
          <a:p>
            <a:pPr>
              <a:buFont typeface="Arial" panose="020B0604020202020204" pitchFamily="34" charset="0"/>
              <a:buChar char="•"/>
            </a:pPr>
            <a:endParaRPr lang="en-IN" sz="2400" dirty="0"/>
          </a:p>
          <a:p>
            <a:pPr>
              <a:buNone/>
            </a:pPr>
            <a:r>
              <a:rPr lang="en-IN" sz="2400" b="1" dirty="0"/>
              <a:t>Example (College Case)</a:t>
            </a:r>
          </a:p>
          <a:p>
            <a:pPr>
              <a:buNone/>
            </a:pPr>
            <a:endParaRPr lang="en-IN" sz="2400" b="1" dirty="0"/>
          </a:p>
          <a:p>
            <a:pPr>
              <a:buFont typeface="Arial" panose="020B0604020202020204" pitchFamily="34" charset="0"/>
              <a:buChar char="•"/>
            </a:pPr>
            <a:r>
              <a:rPr lang="en-IN" sz="2400" b="1" u="sng" dirty="0"/>
              <a:t>Fact</a:t>
            </a:r>
            <a:r>
              <a:rPr lang="en-IN" sz="2400" dirty="0"/>
              <a:t>: Marks obtained</a:t>
            </a:r>
          </a:p>
          <a:p>
            <a:pPr>
              <a:buFont typeface="Arial" panose="020B0604020202020204" pitchFamily="34" charset="0"/>
              <a:buChar char="•"/>
            </a:pPr>
            <a:r>
              <a:rPr lang="en-IN" sz="2400" b="1" u="sng" dirty="0"/>
              <a:t>Dimensions</a:t>
            </a:r>
            <a:r>
              <a:rPr lang="en-IN" sz="2400" dirty="0"/>
              <a:t>: Student, Subject, Time, Department</a:t>
            </a:r>
          </a:p>
        </p:txBody>
      </p:sp>
    </p:spTree>
    <p:extLst>
      <p:ext uri="{BB962C8B-B14F-4D97-AF65-F5344CB8AC3E}">
        <p14:creationId xmlns:p14="http://schemas.microsoft.com/office/powerpoint/2010/main" val="1414319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997D-F24F-9856-96C9-440F16711B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E206872-8A92-4C5A-C4C5-E62C138DD69B}"/>
              </a:ext>
            </a:extLst>
          </p:cNvPr>
          <p:cNvPicPr>
            <a:picLocks noChangeAspect="1"/>
          </p:cNvPicPr>
          <p:nvPr/>
        </p:nvPicPr>
        <p:blipFill>
          <a:blip r:embed="rId2"/>
          <a:stretch>
            <a:fillRect/>
          </a:stretch>
        </p:blipFill>
        <p:spPr>
          <a:xfrm>
            <a:off x="930974" y="424198"/>
            <a:ext cx="7240010" cy="4601217"/>
          </a:xfrm>
          <a:prstGeom prst="rect">
            <a:avLst/>
          </a:prstGeom>
        </p:spPr>
      </p:pic>
    </p:spTree>
    <p:extLst>
      <p:ext uri="{BB962C8B-B14F-4D97-AF65-F5344CB8AC3E}">
        <p14:creationId xmlns:p14="http://schemas.microsoft.com/office/powerpoint/2010/main" val="1750993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AC75-9EDB-0978-F69E-063AFC1F50C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4F87A29-3979-1A41-322C-C419985D0A93}"/>
              </a:ext>
            </a:extLst>
          </p:cNvPr>
          <p:cNvPicPr>
            <a:picLocks noChangeAspect="1"/>
          </p:cNvPicPr>
          <p:nvPr/>
        </p:nvPicPr>
        <p:blipFill rotWithShape="1">
          <a:blip r:embed="rId2"/>
          <a:srcRect l="-1224" t="2502" r="1756"/>
          <a:stretch>
            <a:fillRect/>
          </a:stretch>
        </p:blipFill>
        <p:spPr>
          <a:xfrm>
            <a:off x="731077" y="515006"/>
            <a:ext cx="7719239" cy="4913937"/>
          </a:xfrm>
          <a:prstGeom prst="rect">
            <a:avLst/>
          </a:prstGeom>
        </p:spPr>
      </p:pic>
    </p:spTree>
    <p:extLst>
      <p:ext uri="{BB962C8B-B14F-4D97-AF65-F5344CB8AC3E}">
        <p14:creationId xmlns:p14="http://schemas.microsoft.com/office/powerpoint/2010/main" val="660255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FF8E1-5593-E26D-FB1C-911BB754BB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2AE1413-EA1D-9A69-CAB0-4809D9FE72D3}"/>
              </a:ext>
            </a:extLst>
          </p:cNvPr>
          <p:cNvPicPr>
            <a:picLocks noChangeAspect="1"/>
          </p:cNvPicPr>
          <p:nvPr/>
        </p:nvPicPr>
        <p:blipFill>
          <a:blip r:embed="rId2"/>
          <a:stretch>
            <a:fillRect/>
          </a:stretch>
        </p:blipFill>
        <p:spPr>
          <a:xfrm>
            <a:off x="1198853" y="374713"/>
            <a:ext cx="6830378" cy="5372850"/>
          </a:xfrm>
          <a:prstGeom prst="rect">
            <a:avLst/>
          </a:prstGeom>
        </p:spPr>
      </p:pic>
    </p:spTree>
    <p:extLst>
      <p:ext uri="{BB962C8B-B14F-4D97-AF65-F5344CB8AC3E}">
        <p14:creationId xmlns:p14="http://schemas.microsoft.com/office/powerpoint/2010/main" val="329453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C719D-557A-A116-C99B-5682D10BDB5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6CCB9E9-B5A7-3811-517C-FE04EC91CC19}"/>
              </a:ext>
            </a:extLst>
          </p:cNvPr>
          <p:cNvGraphicFramePr>
            <a:graphicFrameLocks noGrp="1"/>
          </p:cNvGraphicFramePr>
          <p:nvPr>
            <p:extLst>
              <p:ext uri="{D42A27DB-BD31-4B8C-83A1-F6EECF244321}">
                <p14:modId xmlns:p14="http://schemas.microsoft.com/office/powerpoint/2010/main" val="4121076905"/>
              </p:ext>
            </p:extLst>
          </p:nvPr>
        </p:nvGraphicFramePr>
        <p:xfrm>
          <a:off x="1245422" y="677035"/>
          <a:ext cx="8077254" cy="3600135"/>
        </p:xfrm>
        <a:graphic>
          <a:graphicData uri="http://schemas.openxmlformats.org/drawingml/2006/table">
            <a:tbl>
              <a:tblPr>
                <a:tableStyleId>{5940675A-B579-460E-94D1-54222C63F5DA}</a:tableStyleId>
              </a:tblPr>
              <a:tblGrid>
                <a:gridCol w="2149420">
                  <a:extLst>
                    <a:ext uri="{9D8B030D-6E8A-4147-A177-3AD203B41FA5}">
                      <a16:colId xmlns:a16="http://schemas.microsoft.com/office/drawing/2014/main" val="3011768031"/>
                    </a:ext>
                  </a:extLst>
                </a:gridCol>
                <a:gridCol w="2921876">
                  <a:extLst>
                    <a:ext uri="{9D8B030D-6E8A-4147-A177-3AD203B41FA5}">
                      <a16:colId xmlns:a16="http://schemas.microsoft.com/office/drawing/2014/main" val="4227651243"/>
                    </a:ext>
                  </a:extLst>
                </a:gridCol>
                <a:gridCol w="3005958">
                  <a:extLst>
                    <a:ext uri="{9D8B030D-6E8A-4147-A177-3AD203B41FA5}">
                      <a16:colId xmlns:a16="http://schemas.microsoft.com/office/drawing/2014/main" val="587166142"/>
                    </a:ext>
                  </a:extLst>
                </a:gridCol>
              </a:tblGrid>
              <a:tr h="0">
                <a:tc>
                  <a:txBody>
                    <a:bodyPr/>
                    <a:lstStyle/>
                    <a:p>
                      <a:pPr>
                        <a:buNone/>
                      </a:pPr>
                      <a:r>
                        <a:rPr lang="en-IN" sz="2400" b="1" u="sng">
                          <a:solidFill>
                            <a:srgbClr val="FF0000"/>
                          </a:solidFill>
                        </a:rPr>
                        <a:t>Point</a:t>
                      </a:r>
                    </a:p>
                  </a:txBody>
                  <a:tcPr anchor="ctr"/>
                </a:tc>
                <a:tc>
                  <a:txBody>
                    <a:bodyPr/>
                    <a:lstStyle/>
                    <a:p>
                      <a:pPr>
                        <a:buNone/>
                      </a:pPr>
                      <a:r>
                        <a:rPr lang="en-IN" sz="2400" b="1" u="sng">
                          <a:solidFill>
                            <a:srgbClr val="FF0000"/>
                          </a:solidFill>
                        </a:rPr>
                        <a:t>Transactional Database</a:t>
                      </a:r>
                    </a:p>
                  </a:txBody>
                  <a:tcPr anchor="ctr"/>
                </a:tc>
                <a:tc>
                  <a:txBody>
                    <a:bodyPr/>
                    <a:lstStyle/>
                    <a:p>
                      <a:pPr>
                        <a:buNone/>
                      </a:pPr>
                      <a:r>
                        <a:rPr lang="en-IN" sz="2400" b="1" u="sng" dirty="0">
                          <a:solidFill>
                            <a:srgbClr val="FF0000"/>
                          </a:solidFill>
                        </a:rPr>
                        <a:t>Dimensional Model</a:t>
                      </a:r>
                    </a:p>
                  </a:txBody>
                  <a:tcPr anchor="ctr"/>
                </a:tc>
                <a:extLst>
                  <a:ext uri="{0D108BD9-81ED-4DB2-BD59-A6C34878D82A}">
                    <a16:rowId xmlns:a16="http://schemas.microsoft.com/office/drawing/2014/main" val="548127980"/>
                  </a:ext>
                </a:extLst>
              </a:tr>
              <a:tr h="0">
                <a:tc>
                  <a:txBody>
                    <a:bodyPr/>
                    <a:lstStyle/>
                    <a:p>
                      <a:pPr>
                        <a:lnSpc>
                          <a:spcPct val="200000"/>
                        </a:lnSpc>
                        <a:buNone/>
                      </a:pPr>
                      <a:r>
                        <a:rPr lang="en-IN"/>
                        <a:t>Purpose</a:t>
                      </a:r>
                    </a:p>
                  </a:txBody>
                  <a:tcPr anchor="ctr"/>
                </a:tc>
                <a:tc>
                  <a:txBody>
                    <a:bodyPr/>
                    <a:lstStyle/>
                    <a:p>
                      <a:pPr>
                        <a:lnSpc>
                          <a:spcPct val="200000"/>
                        </a:lnSpc>
                        <a:buNone/>
                      </a:pPr>
                      <a:r>
                        <a:rPr lang="en-IN"/>
                        <a:t>Daily operations</a:t>
                      </a:r>
                    </a:p>
                  </a:txBody>
                  <a:tcPr anchor="ctr"/>
                </a:tc>
                <a:tc>
                  <a:txBody>
                    <a:bodyPr/>
                    <a:lstStyle/>
                    <a:p>
                      <a:pPr>
                        <a:lnSpc>
                          <a:spcPct val="200000"/>
                        </a:lnSpc>
                        <a:buNone/>
                      </a:pPr>
                      <a:r>
                        <a:rPr lang="en-IN"/>
                        <a:t>Analysis &amp; reporting</a:t>
                      </a:r>
                    </a:p>
                  </a:txBody>
                  <a:tcPr anchor="ctr"/>
                </a:tc>
                <a:extLst>
                  <a:ext uri="{0D108BD9-81ED-4DB2-BD59-A6C34878D82A}">
                    <a16:rowId xmlns:a16="http://schemas.microsoft.com/office/drawing/2014/main" val="3253280563"/>
                  </a:ext>
                </a:extLst>
              </a:tr>
              <a:tr h="0">
                <a:tc>
                  <a:txBody>
                    <a:bodyPr/>
                    <a:lstStyle/>
                    <a:p>
                      <a:pPr>
                        <a:lnSpc>
                          <a:spcPct val="200000"/>
                        </a:lnSpc>
                        <a:buNone/>
                      </a:pPr>
                      <a:r>
                        <a:rPr lang="en-IN"/>
                        <a:t>Design</a:t>
                      </a:r>
                    </a:p>
                  </a:txBody>
                  <a:tcPr anchor="ctr"/>
                </a:tc>
                <a:tc>
                  <a:txBody>
                    <a:bodyPr/>
                    <a:lstStyle/>
                    <a:p>
                      <a:pPr>
                        <a:lnSpc>
                          <a:spcPct val="200000"/>
                        </a:lnSpc>
                        <a:buNone/>
                      </a:pPr>
                      <a:r>
                        <a:rPr lang="en-IN"/>
                        <a:t>Many small tables</a:t>
                      </a:r>
                    </a:p>
                  </a:txBody>
                  <a:tcPr anchor="ctr"/>
                </a:tc>
                <a:tc>
                  <a:txBody>
                    <a:bodyPr/>
                    <a:lstStyle/>
                    <a:p>
                      <a:pPr>
                        <a:lnSpc>
                          <a:spcPct val="200000"/>
                        </a:lnSpc>
                        <a:buNone/>
                      </a:pPr>
                      <a:r>
                        <a:rPr lang="en-IN"/>
                        <a:t>Few big tables</a:t>
                      </a:r>
                    </a:p>
                  </a:txBody>
                  <a:tcPr anchor="ctr"/>
                </a:tc>
                <a:extLst>
                  <a:ext uri="{0D108BD9-81ED-4DB2-BD59-A6C34878D82A}">
                    <a16:rowId xmlns:a16="http://schemas.microsoft.com/office/drawing/2014/main" val="1393792991"/>
                  </a:ext>
                </a:extLst>
              </a:tr>
              <a:tr h="0">
                <a:tc>
                  <a:txBody>
                    <a:bodyPr/>
                    <a:lstStyle/>
                    <a:p>
                      <a:pPr>
                        <a:lnSpc>
                          <a:spcPct val="200000"/>
                        </a:lnSpc>
                        <a:buNone/>
                      </a:pPr>
                      <a:r>
                        <a:rPr lang="en-IN" dirty="0"/>
                        <a:t>Joins</a:t>
                      </a:r>
                    </a:p>
                  </a:txBody>
                  <a:tcPr anchor="ctr"/>
                </a:tc>
                <a:tc>
                  <a:txBody>
                    <a:bodyPr/>
                    <a:lstStyle/>
                    <a:p>
                      <a:pPr>
                        <a:lnSpc>
                          <a:spcPct val="200000"/>
                        </a:lnSpc>
                        <a:buNone/>
                      </a:pPr>
                      <a:r>
                        <a:rPr lang="en-IN"/>
                        <a:t>Many joins</a:t>
                      </a:r>
                    </a:p>
                  </a:txBody>
                  <a:tcPr anchor="ctr"/>
                </a:tc>
                <a:tc>
                  <a:txBody>
                    <a:bodyPr/>
                    <a:lstStyle/>
                    <a:p>
                      <a:pPr>
                        <a:lnSpc>
                          <a:spcPct val="200000"/>
                        </a:lnSpc>
                        <a:buNone/>
                      </a:pPr>
                      <a:r>
                        <a:rPr lang="en-IN" dirty="0"/>
                        <a:t>Very few joins</a:t>
                      </a:r>
                    </a:p>
                  </a:txBody>
                  <a:tcPr anchor="ctr"/>
                </a:tc>
                <a:extLst>
                  <a:ext uri="{0D108BD9-81ED-4DB2-BD59-A6C34878D82A}">
                    <a16:rowId xmlns:a16="http://schemas.microsoft.com/office/drawing/2014/main" val="1990560021"/>
                  </a:ext>
                </a:extLst>
              </a:tr>
              <a:tr h="0">
                <a:tc>
                  <a:txBody>
                    <a:bodyPr/>
                    <a:lstStyle/>
                    <a:p>
                      <a:pPr>
                        <a:lnSpc>
                          <a:spcPct val="200000"/>
                        </a:lnSpc>
                        <a:buNone/>
                      </a:pPr>
                      <a:r>
                        <a:rPr lang="en-IN"/>
                        <a:t>Speed for analysis</a:t>
                      </a:r>
                    </a:p>
                  </a:txBody>
                  <a:tcPr anchor="ctr"/>
                </a:tc>
                <a:tc>
                  <a:txBody>
                    <a:bodyPr/>
                    <a:lstStyle/>
                    <a:p>
                      <a:pPr>
                        <a:lnSpc>
                          <a:spcPct val="200000"/>
                        </a:lnSpc>
                        <a:buNone/>
                      </a:pPr>
                      <a:r>
                        <a:rPr lang="en-IN"/>
                        <a:t>Slow</a:t>
                      </a:r>
                    </a:p>
                  </a:txBody>
                  <a:tcPr anchor="ctr"/>
                </a:tc>
                <a:tc>
                  <a:txBody>
                    <a:bodyPr/>
                    <a:lstStyle/>
                    <a:p>
                      <a:pPr>
                        <a:lnSpc>
                          <a:spcPct val="200000"/>
                        </a:lnSpc>
                        <a:buNone/>
                      </a:pPr>
                      <a:r>
                        <a:rPr lang="en-IN"/>
                        <a:t>Fast</a:t>
                      </a:r>
                    </a:p>
                  </a:txBody>
                  <a:tcPr anchor="ctr"/>
                </a:tc>
                <a:extLst>
                  <a:ext uri="{0D108BD9-81ED-4DB2-BD59-A6C34878D82A}">
                    <a16:rowId xmlns:a16="http://schemas.microsoft.com/office/drawing/2014/main" val="44623926"/>
                  </a:ext>
                </a:extLst>
              </a:tr>
              <a:tr h="0">
                <a:tc>
                  <a:txBody>
                    <a:bodyPr/>
                    <a:lstStyle/>
                    <a:p>
                      <a:pPr>
                        <a:lnSpc>
                          <a:spcPct val="200000"/>
                        </a:lnSpc>
                        <a:buNone/>
                      </a:pPr>
                      <a:r>
                        <a:rPr lang="en-IN"/>
                        <a:t>Users</a:t>
                      </a:r>
                    </a:p>
                  </a:txBody>
                  <a:tcPr anchor="ctr"/>
                </a:tc>
                <a:tc>
                  <a:txBody>
                    <a:bodyPr/>
                    <a:lstStyle/>
                    <a:p>
                      <a:pPr>
                        <a:lnSpc>
                          <a:spcPct val="200000"/>
                        </a:lnSpc>
                        <a:buNone/>
                      </a:pPr>
                      <a:r>
                        <a:rPr lang="en-IN"/>
                        <a:t>Clerks, operators</a:t>
                      </a:r>
                    </a:p>
                  </a:txBody>
                  <a:tcPr anchor="ctr"/>
                </a:tc>
                <a:tc>
                  <a:txBody>
                    <a:bodyPr/>
                    <a:lstStyle/>
                    <a:p>
                      <a:pPr>
                        <a:lnSpc>
                          <a:spcPct val="200000"/>
                        </a:lnSpc>
                        <a:buNone/>
                      </a:pPr>
                      <a:r>
                        <a:rPr lang="en-IN" dirty="0"/>
                        <a:t>Managers, analysts</a:t>
                      </a:r>
                    </a:p>
                  </a:txBody>
                  <a:tcPr anchor="ctr"/>
                </a:tc>
                <a:extLst>
                  <a:ext uri="{0D108BD9-81ED-4DB2-BD59-A6C34878D82A}">
                    <a16:rowId xmlns:a16="http://schemas.microsoft.com/office/drawing/2014/main" val="753464021"/>
                  </a:ext>
                </a:extLst>
              </a:tr>
            </a:tbl>
          </a:graphicData>
        </a:graphic>
      </p:graphicFrame>
    </p:spTree>
    <p:extLst>
      <p:ext uri="{BB962C8B-B14F-4D97-AF65-F5344CB8AC3E}">
        <p14:creationId xmlns:p14="http://schemas.microsoft.com/office/powerpoint/2010/main" val="1065940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7C43-52A8-31E8-2181-626BCB4355D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4A60764-0D56-3927-7867-107159AA4630}"/>
              </a:ext>
            </a:extLst>
          </p:cNvPr>
          <p:cNvPicPr>
            <a:picLocks noChangeAspect="1"/>
          </p:cNvPicPr>
          <p:nvPr/>
        </p:nvPicPr>
        <p:blipFill>
          <a:blip r:embed="rId2"/>
          <a:stretch>
            <a:fillRect/>
          </a:stretch>
        </p:blipFill>
        <p:spPr>
          <a:xfrm>
            <a:off x="1024897" y="465883"/>
            <a:ext cx="7430537" cy="5001323"/>
          </a:xfrm>
          <a:prstGeom prst="rect">
            <a:avLst/>
          </a:prstGeom>
        </p:spPr>
      </p:pic>
    </p:spTree>
    <p:extLst>
      <p:ext uri="{BB962C8B-B14F-4D97-AF65-F5344CB8AC3E}">
        <p14:creationId xmlns:p14="http://schemas.microsoft.com/office/powerpoint/2010/main" val="1321390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D06E6-8F4E-A751-298B-ADA28AA8308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0A45AC-6EA9-8256-F801-A8D3695C3666}"/>
              </a:ext>
            </a:extLst>
          </p:cNvPr>
          <p:cNvPicPr>
            <a:picLocks noChangeAspect="1"/>
          </p:cNvPicPr>
          <p:nvPr/>
        </p:nvPicPr>
        <p:blipFill>
          <a:blip r:embed="rId3"/>
          <a:stretch>
            <a:fillRect/>
          </a:stretch>
        </p:blipFill>
        <p:spPr>
          <a:xfrm>
            <a:off x="1179600" y="503361"/>
            <a:ext cx="7373379" cy="4505954"/>
          </a:xfrm>
          <a:prstGeom prst="rect">
            <a:avLst/>
          </a:prstGeom>
        </p:spPr>
      </p:pic>
    </p:spTree>
    <p:extLst>
      <p:ext uri="{BB962C8B-B14F-4D97-AF65-F5344CB8AC3E}">
        <p14:creationId xmlns:p14="http://schemas.microsoft.com/office/powerpoint/2010/main" val="790254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6766C-3611-EE9B-C9F9-DFC6F982E10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2BC8AAB-863A-17AB-1B49-0D3EA3FDC5B3}"/>
              </a:ext>
            </a:extLst>
          </p:cNvPr>
          <p:cNvPicPr>
            <a:picLocks noChangeAspect="1"/>
          </p:cNvPicPr>
          <p:nvPr/>
        </p:nvPicPr>
        <p:blipFill>
          <a:blip r:embed="rId2"/>
          <a:stretch>
            <a:fillRect/>
          </a:stretch>
        </p:blipFill>
        <p:spPr>
          <a:xfrm>
            <a:off x="1172869" y="287363"/>
            <a:ext cx="7344800" cy="5106113"/>
          </a:xfrm>
          <a:prstGeom prst="rect">
            <a:avLst/>
          </a:prstGeom>
        </p:spPr>
      </p:pic>
    </p:spTree>
    <p:extLst>
      <p:ext uri="{BB962C8B-B14F-4D97-AF65-F5344CB8AC3E}">
        <p14:creationId xmlns:p14="http://schemas.microsoft.com/office/powerpoint/2010/main" val="405363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C4A0-9ABD-6C8C-5387-07C55117BB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4E67C8-F175-E9B7-A792-778CA16A925F}"/>
              </a:ext>
            </a:extLst>
          </p:cNvPr>
          <p:cNvPicPr>
            <a:picLocks noChangeAspect="1"/>
          </p:cNvPicPr>
          <p:nvPr/>
        </p:nvPicPr>
        <p:blipFill>
          <a:blip r:embed="rId2"/>
          <a:stretch>
            <a:fillRect/>
          </a:stretch>
        </p:blipFill>
        <p:spPr>
          <a:xfrm>
            <a:off x="979390" y="466354"/>
            <a:ext cx="7668695" cy="5315692"/>
          </a:xfrm>
          <a:prstGeom prst="rect">
            <a:avLst/>
          </a:prstGeom>
        </p:spPr>
      </p:pic>
    </p:spTree>
    <p:extLst>
      <p:ext uri="{BB962C8B-B14F-4D97-AF65-F5344CB8AC3E}">
        <p14:creationId xmlns:p14="http://schemas.microsoft.com/office/powerpoint/2010/main" val="3252673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6E507-542E-C80B-5B2A-B14C7E770B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21D45B-2606-A102-07F1-E1DCBA507929}"/>
              </a:ext>
            </a:extLst>
          </p:cNvPr>
          <p:cNvSpPr txBox="1"/>
          <p:nvPr/>
        </p:nvSpPr>
        <p:spPr>
          <a:xfrm>
            <a:off x="685800" y="210658"/>
            <a:ext cx="10539248" cy="1200329"/>
          </a:xfrm>
          <a:prstGeom prst="rect">
            <a:avLst/>
          </a:prstGeom>
          <a:noFill/>
        </p:spPr>
        <p:txBody>
          <a:bodyPr wrap="square">
            <a:spAutoFit/>
          </a:bodyPr>
          <a:lstStyle/>
          <a:p>
            <a:pPr>
              <a:buNone/>
            </a:pPr>
            <a:r>
              <a:rPr lang="en-IN" b="1" dirty="0">
                <a:solidFill>
                  <a:srgbClr val="FF3300"/>
                </a:solidFill>
              </a:rPr>
              <a:t>Dimension Table 1: Time Dimension</a:t>
            </a:r>
          </a:p>
          <a:p>
            <a:pPr>
              <a:buNone/>
            </a:pPr>
            <a:endParaRPr lang="en-IN" dirty="0"/>
          </a:p>
          <a:p>
            <a:pPr>
              <a:buNone/>
            </a:pPr>
            <a:r>
              <a:rPr lang="en-IN" dirty="0"/>
              <a:t>The </a:t>
            </a:r>
            <a:r>
              <a:rPr lang="en-IN" b="1" dirty="0"/>
              <a:t>Time Dimension</a:t>
            </a:r>
            <a:r>
              <a:rPr lang="en-IN" dirty="0"/>
              <a:t> helps us </a:t>
            </a:r>
            <a:r>
              <a:rPr lang="en-IN" dirty="0" err="1"/>
              <a:t>analyze</a:t>
            </a:r>
            <a:r>
              <a:rPr lang="en-IN" dirty="0"/>
              <a:t> sales based on </a:t>
            </a:r>
            <a:r>
              <a:rPr lang="en-IN" b="1" dirty="0"/>
              <a:t>date, month, quarter, or year</a:t>
            </a:r>
            <a:r>
              <a:rPr lang="en-IN" dirty="0"/>
              <a:t>.</a:t>
            </a:r>
            <a:br>
              <a:rPr lang="en-IN" dirty="0"/>
            </a:br>
            <a:r>
              <a:rPr lang="en-IN" dirty="0"/>
              <a:t>Instead of storing full date details in the fact table, we store only </a:t>
            </a:r>
            <a:r>
              <a:rPr lang="en-IN" b="1" dirty="0"/>
              <a:t>Time ID</a:t>
            </a:r>
            <a:r>
              <a:rPr lang="en-IN" dirty="0"/>
              <a:t>.</a:t>
            </a:r>
          </a:p>
        </p:txBody>
      </p:sp>
      <p:graphicFrame>
        <p:nvGraphicFramePr>
          <p:cNvPr id="4" name="Table 3">
            <a:extLst>
              <a:ext uri="{FF2B5EF4-FFF2-40B4-BE49-F238E27FC236}">
                <a16:creationId xmlns:a16="http://schemas.microsoft.com/office/drawing/2014/main" id="{1F53920D-4CB3-1B0E-01B2-CF55EA6CE8E4}"/>
              </a:ext>
            </a:extLst>
          </p:cNvPr>
          <p:cNvGraphicFramePr>
            <a:graphicFrameLocks noGrp="1"/>
          </p:cNvGraphicFramePr>
          <p:nvPr>
            <p:extLst>
              <p:ext uri="{D42A27DB-BD31-4B8C-83A1-F6EECF244321}">
                <p14:modId xmlns:p14="http://schemas.microsoft.com/office/powerpoint/2010/main" val="3279480132"/>
              </p:ext>
            </p:extLst>
          </p:nvPr>
        </p:nvGraphicFramePr>
        <p:xfrm>
          <a:off x="951131" y="2125192"/>
          <a:ext cx="8596314" cy="2103120"/>
        </p:xfrm>
        <a:graphic>
          <a:graphicData uri="http://schemas.openxmlformats.org/drawingml/2006/table">
            <a:tbl>
              <a:tblPr>
                <a:tableStyleId>{5940675A-B579-460E-94D1-54222C63F5DA}</a:tableStyleId>
              </a:tblPr>
              <a:tblGrid>
                <a:gridCol w="1432719">
                  <a:extLst>
                    <a:ext uri="{9D8B030D-6E8A-4147-A177-3AD203B41FA5}">
                      <a16:colId xmlns:a16="http://schemas.microsoft.com/office/drawing/2014/main" val="241583908"/>
                    </a:ext>
                  </a:extLst>
                </a:gridCol>
                <a:gridCol w="1432719">
                  <a:extLst>
                    <a:ext uri="{9D8B030D-6E8A-4147-A177-3AD203B41FA5}">
                      <a16:colId xmlns:a16="http://schemas.microsoft.com/office/drawing/2014/main" val="336933890"/>
                    </a:ext>
                  </a:extLst>
                </a:gridCol>
                <a:gridCol w="1432719">
                  <a:extLst>
                    <a:ext uri="{9D8B030D-6E8A-4147-A177-3AD203B41FA5}">
                      <a16:colId xmlns:a16="http://schemas.microsoft.com/office/drawing/2014/main" val="3474099611"/>
                    </a:ext>
                  </a:extLst>
                </a:gridCol>
                <a:gridCol w="1432719">
                  <a:extLst>
                    <a:ext uri="{9D8B030D-6E8A-4147-A177-3AD203B41FA5}">
                      <a16:colId xmlns:a16="http://schemas.microsoft.com/office/drawing/2014/main" val="1351716374"/>
                    </a:ext>
                  </a:extLst>
                </a:gridCol>
                <a:gridCol w="1432719">
                  <a:extLst>
                    <a:ext uri="{9D8B030D-6E8A-4147-A177-3AD203B41FA5}">
                      <a16:colId xmlns:a16="http://schemas.microsoft.com/office/drawing/2014/main" val="614789114"/>
                    </a:ext>
                  </a:extLst>
                </a:gridCol>
                <a:gridCol w="1432719">
                  <a:extLst>
                    <a:ext uri="{9D8B030D-6E8A-4147-A177-3AD203B41FA5}">
                      <a16:colId xmlns:a16="http://schemas.microsoft.com/office/drawing/2014/main" val="4190445321"/>
                    </a:ext>
                  </a:extLst>
                </a:gridCol>
              </a:tblGrid>
              <a:tr h="640080">
                <a:tc>
                  <a:txBody>
                    <a:bodyPr/>
                    <a:lstStyle/>
                    <a:p>
                      <a:pPr>
                        <a:buNone/>
                      </a:pPr>
                      <a:r>
                        <a:rPr lang="en-IN" sz="1800" dirty="0"/>
                        <a:t>Time ID (PK)</a:t>
                      </a:r>
                    </a:p>
                  </a:txBody>
                  <a:tcPr anchor="ctr"/>
                </a:tc>
                <a:tc>
                  <a:txBody>
                    <a:bodyPr/>
                    <a:lstStyle/>
                    <a:p>
                      <a:pPr>
                        <a:buNone/>
                      </a:pPr>
                      <a:r>
                        <a:rPr lang="en-IN" sz="1800"/>
                        <a:t>Date</a:t>
                      </a:r>
                    </a:p>
                  </a:txBody>
                  <a:tcPr anchor="ctr"/>
                </a:tc>
                <a:tc>
                  <a:txBody>
                    <a:bodyPr/>
                    <a:lstStyle/>
                    <a:p>
                      <a:pPr>
                        <a:buNone/>
                      </a:pPr>
                      <a:r>
                        <a:rPr lang="en-IN" sz="1800"/>
                        <a:t>Day</a:t>
                      </a:r>
                    </a:p>
                  </a:txBody>
                  <a:tcPr anchor="ctr"/>
                </a:tc>
                <a:tc>
                  <a:txBody>
                    <a:bodyPr/>
                    <a:lstStyle/>
                    <a:p>
                      <a:pPr>
                        <a:buNone/>
                      </a:pPr>
                      <a:r>
                        <a:rPr lang="en-IN" sz="1800"/>
                        <a:t>Month</a:t>
                      </a:r>
                    </a:p>
                  </a:txBody>
                  <a:tcPr anchor="ctr"/>
                </a:tc>
                <a:tc>
                  <a:txBody>
                    <a:bodyPr/>
                    <a:lstStyle/>
                    <a:p>
                      <a:pPr>
                        <a:buNone/>
                      </a:pPr>
                      <a:r>
                        <a:rPr lang="en-IN" sz="1800"/>
                        <a:t>Quarter</a:t>
                      </a:r>
                    </a:p>
                  </a:txBody>
                  <a:tcPr anchor="ctr"/>
                </a:tc>
                <a:tc>
                  <a:txBody>
                    <a:bodyPr/>
                    <a:lstStyle/>
                    <a:p>
                      <a:pPr>
                        <a:buNone/>
                      </a:pPr>
                      <a:r>
                        <a:rPr lang="en-IN" sz="1800"/>
                        <a:t>Year</a:t>
                      </a:r>
                    </a:p>
                  </a:txBody>
                  <a:tcPr anchor="ctr"/>
                </a:tc>
                <a:extLst>
                  <a:ext uri="{0D108BD9-81ED-4DB2-BD59-A6C34878D82A}">
                    <a16:rowId xmlns:a16="http://schemas.microsoft.com/office/drawing/2014/main" val="3554045943"/>
                  </a:ext>
                </a:extLst>
              </a:tr>
              <a:tr h="365760">
                <a:tc>
                  <a:txBody>
                    <a:bodyPr/>
                    <a:lstStyle/>
                    <a:p>
                      <a:pPr>
                        <a:buNone/>
                      </a:pPr>
                      <a:r>
                        <a:rPr lang="en-IN" sz="1800"/>
                        <a:t>3</a:t>
                      </a:r>
                    </a:p>
                  </a:txBody>
                  <a:tcPr anchor="ctr"/>
                </a:tc>
                <a:tc>
                  <a:txBody>
                    <a:bodyPr/>
                    <a:lstStyle/>
                    <a:p>
                      <a:pPr>
                        <a:buNone/>
                      </a:pPr>
                      <a:r>
                        <a:rPr lang="en-IN" sz="1800"/>
                        <a:t>12-03-2024</a:t>
                      </a:r>
                    </a:p>
                  </a:txBody>
                  <a:tcPr anchor="ctr"/>
                </a:tc>
                <a:tc>
                  <a:txBody>
                    <a:bodyPr/>
                    <a:lstStyle/>
                    <a:p>
                      <a:pPr>
                        <a:buNone/>
                      </a:pPr>
                      <a:r>
                        <a:rPr lang="en-IN" sz="1800"/>
                        <a:t>Tuesday</a:t>
                      </a:r>
                    </a:p>
                  </a:txBody>
                  <a:tcPr anchor="ctr"/>
                </a:tc>
                <a:tc>
                  <a:txBody>
                    <a:bodyPr/>
                    <a:lstStyle/>
                    <a:p>
                      <a:pPr>
                        <a:buNone/>
                      </a:pPr>
                      <a:r>
                        <a:rPr lang="en-IN" sz="1800" dirty="0"/>
                        <a:t>March</a:t>
                      </a:r>
                    </a:p>
                  </a:txBody>
                  <a:tcPr anchor="ctr"/>
                </a:tc>
                <a:tc>
                  <a:txBody>
                    <a:bodyPr/>
                    <a:lstStyle/>
                    <a:p>
                      <a:pPr>
                        <a:buNone/>
                      </a:pPr>
                      <a:r>
                        <a:rPr lang="en-IN" sz="1800"/>
                        <a:t>Q1</a:t>
                      </a:r>
                    </a:p>
                  </a:txBody>
                  <a:tcPr anchor="ctr"/>
                </a:tc>
                <a:tc>
                  <a:txBody>
                    <a:bodyPr/>
                    <a:lstStyle/>
                    <a:p>
                      <a:pPr>
                        <a:buNone/>
                      </a:pPr>
                      <a:r>
                        <a:rPr lang="en-IN" sz="1800"/>
                        <a:t>2024</a:t>
                      </a:r>
                    </a:p>
                  </a:txBody>
                  <a:tcPr anchor="ctr"/>
                </a:tc>
                <a:extLst>
                  <a:ext uri="{0D108BD9-81ED-4DB2-BD59-A6C34878D82A}">
                    <a16:rowId xmlns:a16="http://schemas.microsoft.com/office/drawing/2014/main" val="3226122302"/>
                  </a:ext>
                </a:extLst>
              </a:tr>
              <a:tr h="365760">
                <a:tc>
                  <a:txBody>
                    <a:bodyPr/>
                    <a:lstStyle/>
                    <a:p>
                      <a:pPr>
                        <a:buNone/>
                      </a:pPr>
                      <a:r>
                        <a:rPr lang="en-IN" sz="1800" dirty="0"/>
                        <a:t>4</a:t>
                      </a:r>
                    </a:p>
                  </a:txBody>
                  <a:tcPr anchor="ctr"/>
                </a:tc>
                <a:tc>
                  <a:txBody>
                    <a:bodyPr/>
                    <a:lstStyle/>
                    <a:p>
                      <a:pPr>
                        <a:buNone/>
                      </a:pPr>
                      <a:r>
                        <a:rPr lang="en-IN" sz="1800"/>
                        <a:t>15-04-2024</a:t>
                      </a:r>
                    </a:p>
                  </a:txBody>
                  <a:tcPr anchor="ctr"/>
                </a:tc>
                <a:tc>
                  <a:txBody>
                    <a:bodyPr/>
                    <a:lstStyle/>
                    <a:p>
                      <a:pPr>
                        <a:buNone/>
                      </a:pPr>
                      <a:r>
                        <a:rPr lang="en-IN" sz="1800"/>
                        <a:t>Monday</a:t>
                      </a:r>
                    </a:p>
                  </a:txBody>
                  <a:tcPr anchor="ctr"/>
                </a:tc>
                <a:tc>
                  <a:txBody>
                    <a:bodyPr/>
                    <a:lstStyle/>
                    <a:p>
                      <a:pPr>
                        <a:buNone/>
                      </a:pPr>
                      <a:r>
                        <a:rPr lang="en-IN" sz="1800" dirty="0"/>
                        <a:t>April</a:t>
                      </a:r>
                    </a:p>
                  </a:txBody>
                  <a:tcPr anchor="ctr"/>
                </a:tc>
                <a:tc>
                  <a:txBody>
                    <a:bodyPr/>
                    <a:lstStyle/>
                    <a:p>
                      <a:pPr>
                        <a:buNone/>
                      </a:pPr>
                      <a:r>
                        <a:rPr lang="en-IN" sz="1800"/>
                        <a:t>Q2</a:t>
                      </a:r>
                    </a:p>
                  </a:txBody>
                  <a:tcPr anchor="ctr"/>
                </a:tc>
                <a:tc>
                  <a:txBody>
                    <a:bodyPr/>
                    <a:lstStyle/>
                    <a:p>
                      <a:pPr>
                        <a:buNone/>
                      </a:pPr>
                      <a:r>
                        <a:rPr lang="en-IN" sz="1800"/>
                        <a:t>2024</a:t>
                      </a:r>
                    </a:p>
                  </a:txBody>
                  <a:tcPr anchor="ctr"/>
                </a:tc>
                <a:extLst>
                  <a:ext uri="{0D108BD9-81ED-4DB2-BD59-A6C34878D82A}">
                    <a16:rowId xmlns:a16="http://schemas.microsoft.com/office/drawing/2014/main" val="2544900947"/>
                  </a:ext>
                </a:extLst>
              </a:tr>
              <a:tr h="365760">
                <a:tc>
                  <a:txBody>
                    <a:bodyPr/>
                    <a:lstStyle/>
                    <a:p>
                      <a:pPr>
                        <a:buNone/>
                      </a:pPr>
                      <a:r>
                        <a:rPr lang="en-IN" sz="1800"/>
                        <a:t>5</a:t>
                      </a:r>
                    </a:p>
                  </a:txBody>
                  <a:tcPr anchor="ctr"/>
                </a:tc>
                <a:tc>
                  <a:txBody>
                    <a:bodyPr/>
                    <a:lstStyle/>
                    <a:p>
                      <a:pPr>
                        <a:buNone/>
                      </a:pPr>
                      <a:r>
                        <a:rPr lang="en-IN" sz="1800"/>
                        <a:t>18-05-2024</a:t>
                      </a:r>
                    </a:p>
                  </a:txBody>
                  <a:tcPr anchor="ctr"/>
                </a:tc>
                <a:tc>
                  <a:txBody>
                    <a:bodyPr/>
                    <a:lstStyle/>
                    <a:p>
                      <a:pPr>
                        <a:buNone/>
                      </a:pPr>
                      <a:r>
                        <a:rPr lang="en-IN" sz="1800"/>
                        <a:t>Saturday</a:t>
                      </a:r>
                    </a:p>
                  </a:txBody>
                  <a:tcPr anchor="ctr"/>
                </a:tc>
                <a:tc>
                  <a:txBody>
                    <a:bodyPr/>
                    <a:lstStyle/>
                    <a:p>
                      <a:pPr>
                        <a:buNone/>
                      </a:pPr>
                      <a:r>
                        <a:rPr lang="en-IN" sz="1800" dirty="0"/>
                        <a:t>May</a:t>
                      </a:r>
                    </a:p>
                  </a:txBody>
                  <a:tcPr anchor="ctr"/>
                </a:tc>
                <a:tc>
                  <a:txBody>
                    <a:bodyPr/>
                    <a:lstStyle/>
                    <a:p>
                      <a:pPr>
                        <a:buNone/>
                      </a:pPr>
                      <a:r>
                        <a:rPr lang="en-IN" sz="1800"/>
                        <a:t>Q2</a:t>
                      </a:r>
                    </a:p>
                  </a:txBody>
                  <a:tcPr anchor="ctr"/>
                </a:tc>
                <a:tc>
                  <a:txBody>
                    <a:bodyPr/>
                    <a:lstStyle/>
                    <a:p>
                      <a:pPr>
                        <a:buNone/>
                      </a:pPr>
                      <a:r>
                        <a:rPr lang="en-IN" sz="1800"/>
                        <a:t>2024</a:t>
                      </a:r>
                    </a:p>
                  </a:txBody>
                  <a:tcPr anchor="ctr"/>
                </a:tc>
                <a:extLst>
                  <a:ext uri="{0D108BD9-81ED-4DB2-BD59-A6C34878D82A}">
                    <a16:rowId xmlns:a16="http://schemas.microsoft.com/office/drawing/2014/main" val="2126109660"/>
                  </a:ext>
                </a:extLst>
              </a:tr>
              <a:tr h="365760">
                <a:tc>
                  <a:txBody>
                    <a:bodyPr/>
                    <a:lstStyle/>
                    <a:p>
                      <a:pPr>
                        <a:buNone/>
                      </a:pPr>
                      <a:r>
                        <a:rPr lang="en-IN" sz="1800" dirty="0"/>
                        <a:t>8</a:t>
                      </a:r>
                    </a:p>
                  </a:txBody>
                  <a:tcPr anchor="ctr"/>
                </a:tc>
                <a:tc>
                  <a:txBody>
                    <a:bodyPr/>
                    <a:lstStyle/>
                    <a:p>
                      <a:pPr>
                        <a:buNone/>
                      </a:pPr>
                      <a:r>
                        <a:rPr lang="en-IN" sz="1800"/>
                        <a:t>10-08-2024</a:t>
                      </a:r>
                    </a:p>
                  </a:txBody>
                  <a:tcPr anchor="ctr"/>
                </a:tc>
                <a:tc>
                  <a:txBody>
                    <a:bodyPr/>
                    <a:lstStyle/>
                    <a:p>
                      <a:pPr>
                        <a:buNone/>
                      </a:pPr>
                      <a:r>
                        <a:rPr lang="en-IN" sz="1800"/>
                        <a:t>Saturday</a:t>
                      </a:r>
                    </a:p>
                  </a:txBody>
                  <a:tcPr anchor="ctr"/>
                </a:tc>
                <a:tc>
                  <a:txBody>
                    <a:bodyPr/>
                    <a:lstStyle/>
                    <a:p>
                      <a:pPr>
                        <a:buNone/>
                      </a:pPr>
                      <a:r>
                        <a:rPr lang="en-IN" sz="1800" dirty="0"/>
                        <a:t>August</a:t>
                      </a:r>
                    </a:p>
                  </a:txBody>
                  <a:tcPr anchor="ctr"/>
                </a:tc>
                <a:tc>
                  <a:txBody>
                    <a:bodyPr/>
                    <a:lstStyle/>
                    <a:p>
                      <a:pPr>
                        <a:buNone/>
                      </a:pPr>
                      <a:r>
                        <a:rPr lang="en-IN" sz="1800"/>
                        <a:t>Q3</a:t>
                      </a:r>
                    </a:p>
                  </a:txBody>
                  <a:tcPr anchor="ctr"/>
                </a:tc>
                <a:tc>
                  <a:txBody>
                    <a:bodyPr/>
                    <a:lstStyle/>
                    <a:p>
                      <a:pPr>
                        <a:buNone/>
                      </a:pPr>
                      <a:r>
                        <a:rPr lang="en-IN" sz="1800" dirty="0"/>
                        <a:t>2024</a:t>
                      </a:r>
                    </a:p>
                  </a:txBody>
                  <a:tcPr anchor="ctr"/>
                </a:tc>
                <a:extLst>
                  <a:ext uri="{0D108BD9-81ED-4DB2-BD59-A6C34878D82A}">
                    <a16:rowId xmlns:a16="http://schemas.microsoft.com/office/drawing/2014/main" val="482524125"/>
                  </a:ext>
                </a:extLst>
              </a:tr>
            </a:tbl>
          </a:graphicData>
        </a:graphic>
      </p:graphicFrame>
      <p:sp>
        <p:nvSpPr>
          <p:cNvPr id="5" name="Rectangle 1">
            <a:extLst>
              <a:ext uri="{FF2B5EF4-FFF2-40B4-BE49-F238E27FC236}">
                <a16:creationId xmlns:a16="http://schemas.microsoft.com/office/drawing/2014/main" id="{0C0D7920-1A05-48E1-983D-D2961A22FE27}"/>
              </a:ext>
            </a:extLst>
          </p:cNvPr>
          <p:cNvSpPr>
            <a:spLocks noChangeArrowheads="1"/>
          </p:cNvSpPr>
          <p:nvPr/>
        </p:nvSpPr>
        <p:spPr bwMode="auto">
          <a:xfrm>
            <a:off x="772455" y="1555659"/>
            <a:ext cx="354729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Dim_Time</a:t>
            </a:r>
            <a:r>
              <a:rPr kumimoji="0" lang="en-US" altLang="en-US" sz="1600" b="1" i="0" u="none" strike="noStrike" cap="none" normalizeH="0" baseline="0" dirty="0">
                <a:ln>
                  <a:noFill/>
                </a:ln>
                <a:solidFill>
                  <a:schemeClr val="tx1"/>
                </a:solidFill>
                <a:effectLst/>
                <a:latin typeface="Arial" panose="020B0604020202020204" pitchFamily="34" charset="0"/>
              </a:rPr>
              <a:t> Table</a:t>
            </a:r>
          </a:p>
        </p:txBody>
      </p:sp>
      <p:sp>
        <p:nvSpPr>
          <p:cNvPr id="7" name="TextBox 6">
            <a:extLst>
              <a:ext uri="{FF2B5EF4-FFF2-40B4-BE49-F238E27FC236}">
                <a16:creationId xmlns:a16="http://schemas.microsoft.com/office/drawing/2014/main" id="{E3B9D582-33D1-1031-1981-A9FEC162CF08}"/>
              </a:ext>
            </a:extLst>
          </p:cNvPr>
          <p:cNvSpPr txBox="1"/>
          <p:nvPr/>
        </p:nvSpPr>
        <p:spPr>
          <a:xfrm>
            <a:off x="772455" y="4459291"/>
            <a:ext cx="6101254" cy="2031325"/>
          </a:xfrm>
          <a:prstGeom prst="rect">
            <a:avLst/>
          </a:prstGeom>
          <a:noFill/>
        </p:spPr>
        <p:txBody>
          <a:bodyPr wrap="square">
            <a:spAutoFit/>
          </a:bodyPr>
          <a:lstStyle/>
          <a:p>
            <a:pPr>
              <a:buNone/>
            </a:pPr>
            <a:r>
              <a:rPr lang="en-IN" b="1" dirty="0"/>
              <a:t>Explanation</a:t>
            </a:r>
          </a:p>
          <a:p>
            <a:pPr>
              <a:buFont typeface="Arial" panose="020B0604020202020204" pitchFamily="34" charset="0"/>
              <a:buChar char="•"/>
            </a:pPr>
            <a:r>
              <a:rPr lang="en-IN" b="1" dirty="0"/>
              <a:t>Time ID</a:t>
            </a:r>
            <a:r>
              <a:rPr lang="en-IN" dirty="0"/>
              <a:t> is the primary key.</a:t>
            </a:r>
          </a:p>
          <a:p>
            <a:pPr>
              <a:buFont typeface="Arial" panose="020B0604020202020204" pitchFamily="34" charset="0"/>
              <a:buChar char="•"/>
            </a:pPr>
            <a:r>
              <a:rPr lang="en-IN" dirty="0"/>
              <a:t>It connects to the fact table.</a:t>
            </a:r>
          </a:p>
          <a:p>
            <a:pPr>
              <a:buFont typeface="Arial" panose="020B0604020202020204" pitchFamily="34" charset="0"/>
              <a:buChar char="•"/>
            </a:pPr>
            <a:r>
              <a:rPr lang="en-IN" dirty="0"/>
              <a:t>Enables queries like:</a:t>
            </a:r>
          </a:p>
          <a:p>
            <a:pPr marL="742950" lvl="1" indent="-285750">
              <a:buFont typeface="Arial" panose="020B0604020202020204" pitchFamily="34" charset="0"/>
              <a:buChar char="•"/>
            </a:pPr>
            <a:r>
              <a:rPr lang="en-IN" dirty="0"/>
              <a:t>Sales per year</a:t>
            </a:r>
          </a:p>
          <a:p>
            <a:pPr marL="742950" lvl="1" indent="-285750">
              <a:buFont typeface="Arial" panose="020B0604020202020204" pitchFamily="34" charset="0"/>
              <a:buChar char="•"/>
            </a:pPr>
            <a:r>
              <a:rPr lang="en-IN" dirty="0"/>
              <a:t>Sales per month</a:t>
            </a:r>
          </a:p>
          <a:p>
            <a:pPr marL="742950" lvl="1" indent="-285750">
              <a:buFont typeface="Arial" panose="020B0604020202020204" pitchFamily="34" charset="0"/>
              <a:buChar char="•"/>
            </a:pPr>
            <a:r>
              <a:rPr lang="en-IN" dirty="0"/>
              <a:t>Quarterly performance</a:t>
            </a:r>
          </a:p>
        </p:txBody>
      </p:sp>
    </p:spTree>
    <p:extLst>
      <p:ext uri="{BB962C8B-B14F-4D97-AF65-F5344CB8AC3E}">
        <p14:creationId xmlns:p14="http://schemas.microsoft.com/office/powerpoint/2010/main" val="2593105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E1DDE-AA38-FC2D-142E-22F4558EA9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CB16D3D-EEDC-E527-B416-47F323F5EB73}"/>
              </a:ext>
            </a:extLst>
          </p:cNvPr>
          <p:cNvSpPr txBox="1"/>
          <p:nvPr/>
        </p:nvSpPr>
        <p:spPr>
          <a:xfrm>
            <a:off x="704193" y="339661"/>
            <a:ext cx="10226566" cy="5447645"/>
          </a:xfrm>
          <a:prstGeom prst="rect">
            <a:avLst/>
          </a:prstGeom>
          <a:noFill/>
        </p:spPr>
        <p:txBody>
          <a:bodyPr wrap="square">
            <a:spAutoFit/>
          </a:bodyPr>
          <a:lstStyle/>
          <a:p>
            <a:pPr algn="just">
              <a:buNone/>
            </a:pPr>
            <a:r>
              <a:rPr lang="en-IN" sz="2400" b="1" u="sng" dirty="0">
                <a:solidFill>
                  <a:srgbClr val="FF0000"/>
                </a:solidFill>
              </a:rPr>
              <a:t>Why Dimensional Modelling is Used?</a:t>
            </a:r>
          </a:p>
          <a:p>
            <a:pPr algn="just">
              <a:buNone/>
            </a:pPr>
            <a:endParaRPr lang="en-IN" sz="2400" b="1" u="sng" dirty="0">
              <a:solidFill>
                <a:srgbClr val="FF0000"/>
              </a:solidFill>
            </a:endParaRPr>
          </a:p>
          <a:p>
            <a:pPr algn="ctr">
              <a:buNone/>
            </a:pPr>
            <a:r>
              <a:rPr lang="en-IN" sz="2000" b="1" u="sng" dirty="0"/>
              <a:t>1. Easy to Understand</a:t>
            </a:r>
          </a:p>
          <a:p>
            <a:pPr algn="just">
              <a:buNone/>
            </a:pPr>
            <a:r>
              <a:rPr lang="en-IN" sz="2000" dirty="0"/>
              <a:t>Dimensional modelling uses a simple structure with fact and dimension tables.</a:t>
            </a:r>
            <a:br>
              <a:rPr lang="en-IN" sz="2000" dirty="0"/>
            </a:br>
            <a:r>
              <a:rPr lang="en-IN" sz="2000" dirty="0"/>
              <a:t>This makes the data easy to understand even for non-technical business users.</a:t>
            </a:r>
          </a:p>
          <a:p>
            <a:pPr algn="just">
              <a:buNone/>
            </a:pPr>
            <a:endParaRPr lang="en-IN" sz="2000" dirty="0"/>
          </a:p>
          <a:p>
            <a:pPr algn="ctr">
              <a:buNone/>
            </a:pPr>
            <a:r>
              <a:rPr lang="en-IN" sz="2000" b="1" u="sng" dirty="0"/>
              <a:t>2. Faster Query Performance</a:t>
            </a:r>
          </a:p>
          <a:p>
            <a:pPr algn="just">
              <a:buNone/>
            </a:pPr>
            <a:r>
              <a:rPr lang="en-IN" sz="2000" dirty="0"/>
              <a:t>It requires fewer table joins compared to normalized databases.</a:t>
            </a:r>
            <a:br>
              <a:rPr lang="en-IN" sz="2000" dirty="0"/>
            </a:br>
            <a:r>
              <a:rPr lang="en-IN" sz="2000" dirty="0"/>
              <a:t>As a result, analytical queries execute faster and more efficiently.</a:t>
            </a:r>
            <a:br>
              <a:rPr lang="en-IN" sz="2000" dirty="0"/>
            </a:br>
            <a:endParaRPr lang="en-IN" sz="2000" dirty="0"/>
          </a:p>
          <a:p>
            <a:pPr algn="ctr">
              <a:buNone/>
            </a:pPr>
            <a:r>
              <a:rPr lang="en-IN" sz="2000" b="1" u="sng" dirty="0"/>
              <a:t>3. Supports Business Analysis</a:t>
            </a:r>
          </a:p>
          <a:p>
            <a:pPr algn="just">
              <a:buNone/>
            </a:pPr>
            <a:r>
              <a:rPr lang="en-IN" sz="2000" dirty="0"/>
              <a:t>Data is organized in a way that allows analysis from multiple perspectives.</a:t>
            </a:r>
            <a:br>
              <a:rPr lang="en-IN" sz="2000" dirty="0"/>
            </a:br>
            <a:r>
              <a:rPr lang="en-IN" sz="2000" dirty="0"/>
              <a:t>Users can easily </a:t>
            </a:r>
            <a:r>
              <a:rPr lang="en-IN" sz="2000" dirty="0" err="1"/>
              <a:t>analyze</a:t>
            </a:r>
            <a:r>
              <a:rPr lang="en-IN" sz="2000" dirty="0"/>
              <a:t> data by time, product, customer, or location.</a:t>
            </a:r>
          </a:p>
          <a:p>
            <a:pPr algn="just">
              <a:buNone/>
            </a:pPr>
            <a:endParaRPr lang="en-IN" sz="2000" dirty="0"/>
          </a:p>
          <a:p>
            <a:pPr algn="ctr">
              <a:buNone/>
            </a:pPr>
            <a:r>
              <a:rPr lang="en-IN" sz="2000" b="1" u="sng" dirty="0"/>
              <a:t>4. Designed for Decision Making</a:t>
            </a:r>
          </a:p>
          <a:p>
            <a:pPr algn="just">
              <a:buNone/>
            </a:pPr>
            <a:r>
              <a:rPr lang="en-IN" sz="2000" dirty="0"/>
              <a:t>Dimensional models are built specifically for reporting and analysis.</a:t>
            </a:r>
            <a:br>
              <a:rPr lang="en-IN" sz="2000" dirty="0"/>
            </a:br>
            <a:r>
              <a:rPr lang="en-IN" sz="2000" dirty="0"/>
              <a:t>They help management make accurate and data-driven business decisions.</a:t>
            </a:r>
          </a:p>
        </p:txBody>
      </p:sp>
    </p:spTree>
    <p:extLst>
      <p:ext uri="{BB962C8B-B14F-4D97-AF65-F5344CB8AC3E}">
        <p14:creationId xmlns:p14="http://schemas.microsoft.com/office/powerpoint/2010/main" val="169317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0498-740D-21DD-3E7F-B514B536B4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5BCB41-9D84-08DB-6ED7-B57631CF9C45}"/>
              </a:ext>
            </a:extLst>
          </p:cNvPr>
          <p:cNvSpPr txBox="1"/>
          <p:nvPr/>
        </p:nvSpPr>
        <p:spPr>
          <a:xfrm>
            <a:off x="1316420" y="381874"/>
            <a:ext cx="8216463" cy="3323987"/>
          </a:xfrm>
          <a:prstGeom prst="rect">
            <a:avLst/>
          </a:prstGeom>
          <a:noFill/>
        </p:spPr>
        <p:txBody>
          <a:bodyPr wrap="square">
            <a:spAutoFit/>
          </a:bodyPr>
          <a:lstStyle/>
          <a:p>
            <a:pPr>
              <a:buNone/>
            </a:pPr>
            <a:r>
              <a:rPr lang="en-IN" sz="3200" b="1" u="sng" dirty="0">
                <a:solidFill>
                  <a:srgbClr val="FF3300"/>
                </a:solidFill>
              </a:rPr>
              <a:t>Business Requirement</a:t>
            </a:r>
          </a:p>
          <a:p>
            <a:pPr>
              <a:buNone/>
            </a:pPr>
            <a:endParaRPr lang="en-IN" b="1" dirty="0"/>
          </a:p>
          <a:p>
            <a:pPr algn="just">
              <a:buNone/>
            </a:pPr>
            <a:r>
              <a:rPr lang="en-IN" sz="2000" dirty="0"/>
              <a:t>A business requirement is a clear statement that describes what a business needs to achieve, </a:t>
            </a:r>
            <a:r>
              <a:rPr lang="en-IN" sz="2000" dirty="0" err="1"/>
              <a:t>analyze</a:t>
            </a:r>
            <a:r>
              <a:rPr lang="en-IN" sz="2000" dirty="0"/>
              <a:t>, or decide in order to support its goals and decision-making processes.</a:t>
            </a:r>
          </a:p>
          <a:p>
            <a:pPr algn="just">
              <a:buNone/>
            </a:pPr>
            <a:endParaRPr lang="en-IN" sz="2000" dirty="0"/>
          </a:p>
          <a:p>
            <a:pPr algn="just">
              <a:buNone/>
            </a:pPr>
            <a:r>
              <a:rPr lang="en-IN" sz="2000" dirty="0"/>
              <a:t>In the context of data warehousing and dimensional modelling:</a:t>
            </a:r>
          </a:p>
          <a:p>
            <a:pPr algn="just">
              <a:buNone/>
            </a:pPr>
            <a:endParaRPr lang="en-IN" sz="2000" dirty="0"/>
          </a:p>
          <a:p>
            <a:pPr algn="just">
              <a:buNone/>
            </a:pPr>
            <a:r>
              <a:rPr lang="en-IN" sz="2000" dirty="0"/>
              <a:t>Business requirements define the type of information, analysis, and reports that decision makers need from data.</a:t>
            </a:r>
          </a:p>
        </p:txBody>
      </p:sp>
      <p:sp>
        <p:nvSpPr>
          <p:cNvPr id="7" name="TextBox 6">
            <a:extLst>
              <a:ext uri="{FF2B5EF4-FFF2-40B4-BE49-F238E27FC236}">
                <a16:creationId xmlns:a16="http://schemas.microsoft.com/office/drawing/2014/main" id="{CF73E47B-28E7-D274-50E5-6690AA281939}"/>
              </a:ext>
            </a:extLst>
          </p:cNvPr>
          <p:cNvSpPr txBox="1"/>
          <p:nvPr/>
        </p:nvSpPr>
        <p:spPr>
          <a:xfrm>
            <a:off x="1316420" y="4131017"/>
            <a:ext cx="6101254" cy="2031325"/>
          </a:xfrm>
          <a:prstGeom prst="rect">
            <a:avLst/>
          </a:prstGeom>
          <a:noFill/>
        </p:spPr>
        <p:txBody>
          <a:bodyPr wrap="square">
            <a:spAutoFit/>
          </a:bodyPr>
          <a:lstStyle/>
          <a:p>
            <a:pPr>
              <a:buNone/>
            </a:pPr>
            <a:r>
              <a:rPr lang="en-IN" b="1" dirty="0">
                <a:solidFill>
                  <a:srgbClr val="FF3300"/>
                </a:solidFill>
              </a:rPr>
              <a:t>Benefits of Understanding Business Requirements</a:t>
            </a:r>
          </a:p>
          <a:p>
            <a:pPr>
              <a:buNone/>
            </a:pPr>
            <a:endParaRPr lang="en-IN" b="1" dirty="0"/>
          </a:p>
          <a:p>
            <a:pPr>
              <a:buFont typeface="Arial" panose="020B0604020202020204" pitchFamily="34" charset="0"/>
              <a:buChar char="•"/>
            </a:pPr>
            <a:r>
              <a:rPr lang="en-IN" dirty="0"/>
              <a:t>Correct fact tables are identified</a:t>
            </a:r>
          </a:p>
          <a:p>
            <a:pPr>
              <a:buFont typeface="Arial" panose="020B0604020202020204" pitchFamily="34" charset="0"/>
              <a:buChar char="•"/>
            </a:pPr>
            <a:r>
              <a:rPr lang="en-IN" dirty="0"/>
              <a:t>Relevant dimensions are selected</a:t>
            </a:r>
          </a:p>
          <a:p>
            <a:pPr>
              <a:buFont typeface="Arial" panose="020B0604020202020204" pitchFamily="34" charset="0"/>
              <a:buChar char="•"/>
            </a:pPr>
            <a:r>
              <a:rPr lang="en-IN" dirty="0"/>
              <a:t>Unnecessary data is avoided</a:t>
            </a:r>
          </a:p>
          <a:p>
            <a:pPr>
              <a:buFont typeface="Arial" panose="020B0604020202020204" pitchFamily="34" charset="0"/>
              <a:buChar char="•"/>
            </a:pPr>
            <a:r>
              <a:rPr lang="en-IN" dirty="0"/>
              <a:t>Reports are accurate and fast</a:t>
            </a:r>
          </a:p>
          <a:p>
            <a:pPr>
              <a:buFont typeface="Arial" panose="020B0604020202020204" pitchFamily="34" charset="0"/>
              <a:buChar char="•"/>
            </a:pPr>
            <a:r>
              <a:rPr lang="en-IN" dirty="0"/>
              <a:t>Better support for decision making</a:t>
            </a:r>
          </a:p>
        </p:txBody>
      </p:sp>
    </p:spTree>
    <p:extLst>
      <p:ext uri="{BB962C8B-B14F-4D97-AF65-F5344CB8AC3E}">
        <p14:creationId xmlns:p14="http://schemas.microsoft.com/office/powerpoint/2010/main" val="2543068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C4AC1-F3D4-0FC8-A96C-BCE0E380CF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C60DE0-D631-EB65-9F67-43732FB5D44C}"/>
              </a:ext>
            </a:extLst>
          </p:cNvPr>
          <p:cNvSpPr txBox="1"/>
          <p:nvPr/>
        </p:nvSpPr>
        <p:spPr>
          <a:xfrm>
            <a:off x="1211317" y="223960"/>
            <a:ext cx="8384627" cy="4247317"/>
          </a:xfrm>
          <a:prstGeom prst="rect">
            <a:avLst/>
          </a:prstGeom>
          <a:noFill/>
        </p:spPr>
        <p:txBody>
          <a:bodyPr wrap="square">
            <a:spAutoFit/>
          </a:bodyPr>
          <a:lstStyle/>
          <a:p>
            <a:pPr>
              <a:buNone/>
            </a:pPr>
            <a:r>
              <a:rPr lang="en-IN" b="1" dirty="0"/>
              <a:t>Example: Retail Sales Company</a:t>
            </a:r>
          </a:p>
          <a:p>
            <a:pPr>
              <a:buNone/>
            </a:pPr>
            <a:endParaRPr lang="en-IN" b="1" dirty="0"/>
          </a:p>
          <a:p>
            <a:pPr>
              <a:buNone/>
            </a:pPr>
            <a:r>
              <a:rPr lang="en-IN" dirty="0"/>
              <a:t>A retail company wants to improve its sales performance.</a:t>
            </a:r>
          </a:p>
          <a:p>
            <a:pPr>
              <a:buNone/>
            </a:pPr>
            <a:endParaRPr lang="en-IN" dirty="0"/>
          </a:p>
          <a:p>
            <a:pPr>
              <a:buNone/>
            </a:pPr>
            <a:r>
              <a:rPr lang="en-IN" b="1" dirty="0"/>
              <a:t>Business (Managers) Ask:</a:t>
            </a:r>
          </a:p>
          <a:p>
            <a:pPr>
              <a:buNone/>
            </a:pPr>
            <a:endParaRPr lang="en-IN" b="1" dirty="0"/>
          </a:p>
          <a:p>
            <a:pPr>
              <a:buFont typeface="Arial" panose="020B0604020202020204" pitchFamily="34" charset="0"/>
              <a:buChar char="•"/>
            </a:pPr>
            <a:r>
              <a:rPr lang="en-IN" dirty="0"/>
              <a:t>What is the total sales per month?</a:t>
            </a:r>
          </a:p>
          <a:p>
            <a:pPr>
              <a:buFont typeface="Arial" panose="020B0604020202020204" pitchFamily="34" charset="0"/>
              <a:buChar char="•"/>
            </a:pPr>
            <a:r>
              <a:rPr lang="en-IN" dirty="0"/>
              <a:t>Which product categories generate the highest revenue?</a:t>
            </a:r>
          </a:p>
          <a:p>
            <a:pPr>
              <a:buFont typeface="Arial" panose="020B0604020202020204" pitchFamily="34" charset="0"/>
              <a:buChar char="•"/>
            </a:pPr>
            <a:r>
              <a:rPr lang="en-IN" dirty="0"/>
              <a:t>Which regions have low sales?</a:t>
            </a:r>
          </a:p>
          <a:p>
            <a:pPr>
              <a:buFont typeface="Arial" panose="020B0604020202020204" pitchFamily="34" charset="0"/>
              <a:buChar char="•"/>
            </a:pPr>
            <a:r>
              <a:rPr lang="en-IN" dirty="0"/>
              <a:t>Who are the top 10 customers by sales?</a:t>
            </a:r>
          </a:p>
          <a:p>
            <a:pPr>
              <a:buFont typeface="Arial" panose="020B0604020202020204" pitchFamily="34" charset="0"/>
              <a:buChar char="•"/>
            </a:pPr>
            <a:endParaRPr lang="en-IN" dirty="0"/>
          </a:p>
          <a:p>
            <a:pPr>
              <a:buNone/>
            </a:pPr>
            <a:r>
              <a:rPr lang="en-IN" dirty="0"/>
              <a:t>👉 These questions are </a:t>
            </a:r>
            <a:r>
              <a:rPr lang="en-IN" b="1" dirty="0"/>
              <a:t>business requirements</a:t>
            </a:r>
            <a:r>
              <a:rPr lang="en-IN" dirty="0"/>
              <a:t>, because they describe:</a:t>
            </a:r>
          </a:p>
          <a:p>
            <a:pPr>
              <a:buNone/>
            </a:pPr>
            <a:endParaRPr lang="en-IN" dirty="0"/>
          </a:p>
          <a:p>
            <a:pPr>
              <a:buFont typeface="Arial" panose="020B0604020202020204" pitchFamily="34" charset="0"/>
              <a:buChar char="•"/>
            </a:pPr>
            <a:r>
              <a:rPr lang="en-IN" b="1" dirty="0"/>
              <a:t>What analysis is needed</a:t>
            </a:r>
            <a:endParaRPr lang="en-IN" dirty="0"/>
          </a:p>
          <a:p>
            <a:pPr>
              <a:buFont typeface="Arial" panose="020B0604020202020204" pitchFamily="34" charset="0"/>
              <a:buChar char="•"/>
            </a:pPr>
            <a:r>
              <a:rPr lang="en-IN" b="1" dirty="0"/>
              <a:t>What decisions must be supported</a:t>
            </a:r>
            <a:endParaRPr lang="en-IN" dirty="0"/>
          </a:p>
        </p:txBody>
      </p:sp>
    </p:spTree>
    <p:extLst>
      <p:ext uri="{BB962C8B-B14F-4D97-AF65-F5344CB8AC3E}">
        <p14:creationId xmlns:p14="http://schemas.microsoft.com/office/powerpoint/2010/main" val="1801320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8EFE-4E26-E353-D3A9-67FEBE0056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8F0430-0497-D6B7-806F-BA65490BB471}"/>
              </a:ext>
            </a:extLst>
          </p:cNvPr>
          <p:cNvSpPr txBox="1"/>
          <p:nvPr/>
        </p:nvSpPr>
        <p:spPr>
          <a:xfrm>
            <a:off x="896006" y="327458"/>
            <a:ext cx="4884684" cy="4801314"/>
          </a:xfrm>
          <a:prstGeom prst="rect">
            <a:avLst/>
          </a:prstGeom>
          <a:solidFill>
            <a:schemeClr val="bg1"/>
          </a:solidFill>
          <a:ln>
            <a:solidFill>
              <a:schemeClr val="tx1"/>
            </a:solidFill>
          </a:ln>
        </p:spPr>
        <p:txBody>
          <a:bodyPr wrap="square">
            <a:spAutoFit/>
          </a:bodyPr>
          <a:lstStyle/>
          <a:p>
            <a:pPr>
              <a:buNone/>
            </a:pPr>
            <a:r>
              <a:rPr lang="en-IN" dirty="0"/>
              <a:t>Based on the above business requirements:</a:t>
            </a:r>
          </a:p>
          <a:p>
            <a:pPr>
              <a:buNone/>
            </a:pPr>
            <a:endParaRPr lang="en-IN" dirty="0"/>
          </a:p>
          <a:p>
            <a:pPr>
              <a:buNone/>
            </a:pPr>
            <a:r>
              <a:rPr lang="en-IN" b="1" dirty="0">
                <a:solidFill>
                  <a:srgbClr val="FF0000"/>
                </a:solidFill>
              </a:rPr>
              <a:t>Identified Facts:</a:t>
            </a:r>
          </a:p>
          <a:p>
            <a:pPr>
              <a:buNone/>
            </a:pPr>
            <a:endParaRPr lang="en-IN" b="1" dirty="0"/>
          </a:p>
          <a:p>
            <a:pPr>
              <a:buFont typeface="Arial" panose="020B0604020202020204" pitchFamily="34" charset="0"/>
              <a:buChar char="•"/>
            </a:pPr>
            <a:r>
              <a:rPr lang="en-IN" dirty="0"/>
              <a:t>Sales Amount</a:t>
            </a:r>
          </a:p>
          <a:p>
            <a:pPr>
              <a:buFont typeface="Arial" panose="020B0604020202020204" pitchFamily="34" charset="0"/>
              <a:buChar char="•"/>
            </a:pPr>
            <a:r>
              <a:rPr lang="en-IN" dirty="0"/>
              <a:t>Quantity Sold</a:t>
            </a:r>
          </a:p>
          <a:p>
            <a:pPr>
              <a:buFont typeface="Arial" panose="020B0604020202020204" pitchFamily="34" charset="0"/>
              <a:buChar char="•"/>
            </a:pPr>
            <a:endParaRPr lang="en-IN" dirty="0"/>
          </a:p>
          <a:p>
            <a:pPr>
              <a:buNone/>
            </a:pPr>
            <a:r>
              <a:rPr lang="en-IN" b="1" dirty="0">
                <a:solidFill>
                  <a:srgbClr val="FF0000"/>
                </a:solidFill>
              </a:rPr>
              <a:t>Identified Dimensions:</a:t>
            </a:r>
          </a:p>
          <a:p>
            <a:pPr>
              <a:buNone/>
            </a:pPr>
            <a:endParaRPr lang="en-IN" b="1" dirty="0"/>
          </a:p>
          <a:p>
            <a:pPr>
              <a:buFont typeface="Arial" panose="020B0604020202020204" pitchFamily="34" charset="0"/>
              <a:buChar char="•"/>
            </a:pPr>
            <a:r>
              <a:rPr lang="en-IN" dirty="0"/>
              <a:t>Time (Day, Month, Year)</a:t>
            </a:r>
          </a:p>
          <a:p>
            <a:pPr>
              <a:buFont typeface="Arial" panose="020B0604020202020204" pitchFamily="34" charset="0"/>
              <a:buChar char="•"/>
            </a:pPr>
            <a:r>
              <a:rPr lang="en-IN" dirty="0"/>
              <a:t>Product (Category, Subcategory)</a:t>
            </a:r>
          </a:p>
          <a:p>
            <a:pPr>
              <a:buFont typeface="Arial" panose="020B0604020202020204" pitchFamily="34" charset="0"/>
              <a:buChar char="•"/>
            </a:pPr>
            <a:r>
              <a:rPr lang="en-IN" dirty="0"/>
              <a:t>Customer (Name, Region)</a:t>
            </a:r>
          </a:p>
          <a:p>
            <a:pPr>
              <a:buFont typeface="Arial" panose="020B0604020202020204" pitchFamily="34" charset="0"/>
              <a:buChar char="•"/>
            </a:pPr>
            <a:r>
              <a:rPr lang="en-IN" dirty="0"/>
              <a:t>Store / Region</a:t>
            </a:r>
          </a:p>
          <a:p>
            <a:pPr>
              <a:buFont typeface="Arial" panose="020B0604020202020204" pitchFamily="34" charset="0"/>
              <a:buChar char="•"/>
            </a:pPr>
            <a:endParaRPr lang="en-IN" dirty="0"/>
          </a:p>
          <a:p>
            <a:pPr>
              <a:buNone/>
            </a:pPr>
            <a:r>
              <a:rPr lang="en-IN" dirty="0"/>
              <a:t>📌 This shows how </a:t>
            </a:r>
            <a:r>
              <a:rPr lang="en-IN" b="1" dirty="0"/>
              <a:t>business requirements are converted into fact and dimension tables</a:t>
            </a:r>
            <a:r>
              <a:rPr lang="en-IN" dirty="0"/>
              <a:t>.</a:t>
            </a:r>
          </a:p>
        </p:txBody>
      </p:sp>
      <p:sp>
        <p:nvSpPr>
          <p:cNvPr id="2" name="TextBox 1">
            <a:extLst>
              <a:ext uri="{FF2B5EF4-FFF2-40B4-BE49-F238E27FC236}">
                <a16:creationId xmlns:a16="http://schemas.microsoft.com/office/drawing/2014/main" id="{A271C4B5-7532-EEA5-8057-88E527D03E70}"/>
              </a:ext>
            </a:extLst>
          </p:cNvPr>
          <p:cNvSpPr txBox="1"/>
          <p:nvPr/>
        </p:nvSpPr>
        <p:spPr>
          <a:xfrm>
            <a:off x="6096000" y="316671"/>
            <a:ext cx="4361793" cy="5078313"/>
          </a:xfrm>
          <a:prstGeom prst="rect">
            <a:avLst/>
          </a:prstGeom>
          <a:noFill/>
          <a:ln>
            <a:solidFill>
              <a:schemeClr val="tx1"/>
            </a:solidFill>
          </a:ln>
        </p:spPr>
        <p:txBody>
          <a:bodyPr wrap="square">
            <a:spAutoFit/>
          </a:bodyPr>
          <a:lstStyle/>
          <a:p>
            <a:pPr>
              <a:buNone/>
            </a:pPr>
            <a:r>
              <a:rPr lang="en-IN" b="1" dirty="0"/>
              <a:t>Example</a:t>
            </a:r>
          </a:p>
          <a:p>
            <a:pPr>
              <a:buNone/>
            </a:pPr>
            <a:endParaRPr lang="en-IN" b="1" dirty="0"/>
          </a:p>
          <a:p>
            <a:pPr>
              <a:buNone/>
            </a:pPr>
            <a:r>
              <a:rPr lang="en-IN" dirty="0">
                <a:solidFill>
                  <a:srgbClr val="FF0000"/>
                </a:solidFill>
              </a:rPr>
              <a:t>Business requirement:</a:t>
            </a:r>
          </a:p>
          <a:p>
            <a:pPr>
              <a:buFont typeface="Arial" panose="020B0604020202020204" pitchFamily="34" charset="0"/>
              <a:buChar char="•"/>
            </a:pPr>
            <a:r>
              <a:rPr lang="en-IN" dirty="0"/>
              <a:t>“Quarter-wise sales analysis”</a:t>
            </a:r>
          </a:p>
          <a:p>
            <a:pPr>
              <a:buFont typeface="Arial" panose="020B0604020202020204" pitchFamily="34" charset="0"/>
              <a:buChar char="•"/>
            </a:pPr>
            <a:endParaRPr lang="en-IN" dirty="0"/>
          </a:p>
          <a:p>
            <a:pPr>
              <a:buNone/>
            </a:pPr>
            <a:r>
              <a:rPr lang="en-IN" dirty="0">
                <a:solidFill>
                  <a:srgbClr val="FF0000"/>
                </a:solidFill>
              </a:rPr>
              <a:t>Design mistake:</a:t>
            </a:r>
          </a:p>
          <a:p>
            <a:pPr>
              <a:buFont typeface="Arial" panose="020B0604020202020204" pitchFamily="34" charset="0"/>
              <a:buChar char="•"/>
            </a:pPr>
            <a:r>
              <a:rPr lang="en-IN" dirty="0"/>
              <a:t>Time dimension not included in the data model</a:t>
            </a:r>
          </a:p>
          <a:p>
            <a:pPr>
              <a:buFont typeface="Arial" panose="020B0604020202020204" pitchFamily="34" charset="0"/>
              <a:buChar char="•"/>
            </a:pPr>
            <a:endParaRPr lang="en-IN" dirty="0"/>
          </a:p>
          <a:p>
            <a:pPr>
              <a:buNone/>
            </a:pPr>
            <a:r>
              <a:rPr lang="en-IN" dirty="0">
                <a:solidFill>
                  <a:srgbClr val="FF0000"/>
                </a:solidFill>
              </a:rPr>
              <a:t>❌ Result:</a:t>
            </a:r>
          </a:p>
          <a:p>
            <a:pPr>
              <a:buFont typeface="Arial" panose="020B0604020202020204" pitchFamily="34" charset="0"/>
              <a:buChar char="•"/>
            </a:pPr>
            <a:r>
              <a:rPr lang="en-IN" dirty="0"/>
              <a:t>Required report cannot be generated</a:t>
            </a:r>
          </a:p>
          <a:p>
            <a:pPr>
              <a:buFont typeface="Arial" panose="020B0604020202020204" pitchFamily="34" charset="0"/>
              <a:buChar char="•"/>
            </a:pPr>
            <a:endParaRPr lang="en-IN" dirty="0"/>
          </a:p>
          <a:p>
            <a:pPr>
              <a:buNone/>
            </a:pPr>
            <a:r>
              <a:rPr lang="en-IN" dirty="0">
                <a:solidFill>
                  <a:srgbClr val="FF0000"/>
                </a:solidFill>
              </a:rPr>
              <a:t>✔ Correct approach:</a:t>
            </a:r>
          </a:p>
          <a:p>
            <a:pPr>
              <a:buFont typeface="Arial" panose="020B0604020202020204" pitchFamily="34" charset="0"/>
              <a:buChar char="•"/>
            </a:pPr>
            <a:r>
              <a:rPr lang="en-IN" dirty="0"/>
              <a:t>Understand business needs</a:t>
            </a:r>
          </a:p>
          <a:p>
            <a:pPr>
              <a:buFont typeface="Arial" panose="020B0604020202020204" pitchFamily="34" charset="0"/>
              <a:buChar char="•"/>
            </a:pPr>
            <a:r>
              <a:rPr lang="en-IN" dirty="0"/>
              <a:t>Then design fact and dimension tables</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4151777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31DE1-ABC7-5A1C-7AB5-09AC4E6676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87AE3A3-F643-28EF-5CBD-041590869002}"/>
              </a:ext>
            </a:extLst>
          </p:cNvPr>
          <p:cNvSpPr txBox="1"/>
          <p:nvPr/>
        </p:nvSpPr>
        <p:spPr>
          <a:xfrm>
            <a:off x="1242847" y="410355"/>
            <a:ext cx="8111360" cy="2616101"/>
          </a:xfrm>
          <a:prstGeom prst="rect">
            <a:avLst/>
          </a:prstGeom>
          <a:noFill/>
        </p:spPr>
        <p:txBody>
          <a:bodyPr wrap="square">
            <a:spAutoFit/>
          </a:bodyPr>
          <a:lstStyle/>
          <a:p>
            <a:pPr>
              <a:buNone/>
            </a:pPr>
            <a:r>
              <a:rPr lang="en-IN" sz="3200" b="1" u="sng" dirty="0">
                <a:solidFill>
                  <a:srgbClr val="FF3300"/>
                </a:solidFill>
              </a:rPr>
              <a:t>Dimensional Analysis</a:t>
            </a:r>
          </a:p>
          <a:p>
            <a:pPr algn="just">
              <a:buNone/>
            </a:pPr>
            <a:endParaRPr lang="en-IN" sz="2400" b="1" u="sng" dirty="0">
              <a:solidFill>
                <a:srgbClr val="FF0000"/>
              </a:solidFill>
            </a:endParaRPr>
          </a:p>
          <a:p>
            <a:pPr algn="just">
              <a:buNone/>
            </a:pPr>
            <a:r>
              <a:rPr lang="en-IN" dirty="0"/>
              <a:t>Dimensional analysis is a systematic approach used in data warehousing to understand business activities and convert them into a dimensional data model.</a:t>
            </a:r>
          </a:p>
          <a:p>
            <a:pPr algn="just">
              <a:buNone/>
            </a:pPr>
            <a:br>
              <a:rPr lang="en-IN" dirty="0"/>
            </a:br>
            <a:r>
              <a:rPr lang="en-IN" dirty="0"/>
              <a:t>It helps in identifying </a:t>
            </a:r>
            <a:r>
              <a:rPr lang="en-IN" b="1" dirty="0"/>
              <a:t>what data to store</a:t>
            </a:r>
            <a:r>
              <a:rPr lang="en-IN" dirty="0"/>
              <a:t> and </a:t>
            </a:r>
            <a:r>
              <a:rPr lang="en-IN" b="1" dirty="0"/>
              <a:t>how it should be </a:t>
            </a:r>
            <a:r>
              <a:rPr lang="en-IN" b="1" dirty="0" err="1"/>
              <a:t>analyzed</a:t>
            </a:r>
            <a:r>
              <a:rPr lang="en-IN" dirty="0"/>
              <a:t> for decision making.</a:t>
            </a:r>
          </a:p>
        </p:txBody>
      </p:sp>
      <p:sp>
        <p:nvSpPr>
          <p:cNvPr id="7" name="TextBox 6">
            <a:extLst>
              <a:ext uri="{FF2B5EF4-FFF2-40B4-BE49-F238E27FC236}">
                <a16:creationId xmlns:a16="http://schemas.microsoft.com/office/drawing/2014/main" id="{43221E45-8B62-BA00-0431-3E5E1F990ED5}"/>
              </a:ext>
            </a:extLst>
          </p:cNvPr>
          <p:cNvSpPr txBox="1"/>
          <p:nvPr/>
        </p:nvSpPr>
        <p:spPr>
          <a:xfrm>
            <a:off x="1242847" y="3305615"/>
            <a:ext cx="8111360" cy="2862322"/>
          </a:xfrm>
          <a:prstGeom prst="rect">
            <a:avLst/>
          </a:prstGeom>
          <a:noFill/>
        </p:spPr>
        <p:txBody>
          <a:bodyPr wrap="square">
            <a:spAutoFit/>
          </a:bodyPr>
          <a:lstStyle/>
          <a:p>
            <a:pPr algn="just">
              <a:buNone/>
            </a:pPr>
            <a:r>
              <a:rPr lang="en-IN" dirty="0"/>
              <a:t>Dimensional analysis is the process of breaking down a business problem into:</a:t>
            </a:r>
          </a:p>
          <a:p>
            <a:pPr algn="just">
              <a:buNone/>
            </a:pPr>
            <a:endParaRPr lang="en-IN" dirty="0"/>
          </a:p>
          <a:p>
            <a:pPr algn="just">
              <a:buFont typeface="Arial" panose="020B0604020202020204" pitchFamily="34" charset="0"/>
              <a:buChar char="•"/>
            </a:pPr>
            <a:r>
              <a:rPr lang="en-IN" dirty="0"/>
              <a:t>Business processes</a:t>
            </a:r>
          </a:p>
          <a:p>
            <a:pPr algn="just">
              <a:buFont typeface="Arial" panose="020B0604020202020204" pitchFamily="34" charset="0"/>
              <a:buChar char="•"/>
            </a:pPr>
            <a:r>
              <a:rPr lang="en-IN" dirty="0"/>
              <a:t>Measures (facts)</a:t>
            </a:r>
          </a:p>
          <a:p>
            <a:pPr algn="just">
              <a:buFont typeface="Arial" panose="020B0604020202020204" pitchFamily="34" charset="0"/>
              <a:buChar char="•"/>
            </a:pPr>
            <a:r>
              <a:rPr lang="en-IN" dirty="0"/>
              <a:t>Dimensions</a:t>
            </a:r>
          </a:p>
          <a:p>
            <a:pPr algn="just">
              <a:buFont typeface="Arial" panose="020B0604020202020204" pitchFamily="34" charset="0"/>
              <a:buChar char="•"/>
            </a:pPr>
            <a:endParaRPr lang="en-IN" dirty="0"/>
          </a:p>
          <a:p>
            <a:pPr algn="just">
              <a:buNone/>
            </a:pPr>
            <a:r>
              <a:rPr lang="en-IN" dirty="0"/>
              <a:t>The goal of dimensional analysis is to clearly understand </a:t>
            </a:r>
            <a:r>
              <a:rPr lang="en-IN" b="1" dirty="0"/>
              <a:t>what happens in the business</a:t>
            </a:r>
            <a:r>
              <a:rPr lang="en-IN" dirty="0"/>
              <a:t>, </a:t>
            </a:r>
            <a:r>
              <a:rPr lang="en-IN" b="1" dirty="0"/>
              <a:t>what needs to be measured</a:t>
            </a:r>
            <a:r>
              <a:rPr lang="en-IN" dirty="0"/>
              <a:t>, and </a:t>
            </a:r>
            <a:r>
              <a:rPr lang="en-IN" b="1" dirty="0"/>
              <a:t>from which perspectives the data should be </a:t>
            </a:r>
            <a:r>
              <a:rPr lang="en-IN" b="1" dirty="0" err="1"/>
              <a:t>analyzed</a:t>
            </a:r>
            <a:r>
              <a:rPr lang="en-IN" dirty="0"/>
              <a:t>.</a:t>
            </a:r>
          </a:p>
        </p:txBody>
      </p:sp>
    </p:spTree>
    <p:extLst>
      <p:ext uri="{BB962C8B-B14F-4D97-AF65-F5344CB8AC3E}">
        <p14:creationId xmlns:p14="http://schemas.microsoft.com/office/powerpoint/2010/main" val="1910155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AF415-40D6-D903-97E2-DDC6084C10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5F287C-443C-8AB6-59E9-471C002F9579}"/>
              </a:ext>
            </a:extLst>
          </p:cNvPr>
          <p:cNvSpPr txBox="1"/>
          <p:nvPr/>
        </p:nvSpPr>
        <p:spPr>
          <a:xfrm>
            <a:off x="1158766" y="343563"/>
            <a:ext cx="4054365" cy="4247317"/>
          </a:xfrm>
          <a:prstGeom prst="rect">
            <a:avLst/>
          </a:prstGeom>
          <a:noFill/>
          <a:ln>
            <a:solidFill>
              <a:schemeClr val="tx1"/>
            </a:solidFill>
          </a:ln>
        </p:spPr>
        <p:txBody>
          <a:bodyPr wrap="square">
            <a:spAutoFit/>
          </a:bodyPr>
          <a:lstStyle/>
          <a:p>
            <a:pPr algn="just">
              <a:buNone/>
            </a:pPr>
            <a:r>
              <a:rPr lang="en-IN" b="1" dirty="0"/>
              <a:t>Hospital Management Process</a:t>
            </a:r>
          </a:p>
          <a:p>
            <a:pPr algn="just">
              <a:buNone/>
            </a:pPr>
            <a:endParaRPr lang="en-IN" b="1" dirty="0"/>
          </a:p>
          <a:p>
            <a:pPr algn="just">
              <a:buNone/>
            </a:pPr>
            <a:r>
              <a:rPr lang="en-IN" dirty="0"/>
              <a:t>In a hospital:</a:t>
            </a:r>
          </a:p>
          <a:p>
            <a:pPr algn="just">
              <a:buFont typeface="Arial" panose="020B0604020202020204" pitchFamily="34" charset="0"/>
              <a:buChar char="•"/>
            </a:pPr>
            <a:endParaRPr lang="en-IN" b="1" dirty="0"/>
          </a:p>
          <a:p>
            <a:pPr algn="just">
              <a:buFont typeface="Arial" panose="020B0604020202020204" pitchFamily="34" charset="0"/>
              <a:buChar char="•"/>
            </a:pPr>
            <a:r>
              <a:rPr lang="en-IN" b="1" dirty="0"/>
              <a:t>Business process:</a:t>
            </a:r>
            <a:r>
              <a:rPr lang="en-IN" dirty="0"/>
              <a:t> Patient treatment</a:t>
            </a:r>
          </a:p>
          <a:p>
            <a:pPr algn="just">
              <a:buFont typeface="Arial" panose="020B0604020202020204" pitchFamily="34" charset="0"/>
              <a:buChar char="•"/>
            </a:pPr>
            <a:endParaRPr lang="en-IN" b="1" dirty="0"/>
          </a:p>
          <a:p>
            <a:pPr algn="just">
              <a:buFont typeface="Arial" panose="020B0604020202020204" pitchFamily="34" charset="0"/>
              <a:buChar char="•"/>
            </a:pPr>
            <a:r>
              <a:rPr lang="en-IN" b="1" dirty="0"/>
              <a:t>Measures (facts):</a:t>
            </a:r>
            <a:r>
              <a:rPr lang="en-IN" dirty="0"/>
              <a:t> Treatment cost, number of days admitted</a:t>
            </a:r>
          </a:p>
          <a:p>
            <a:pPr algn="just">
              <a:buFont typeface="Arial" panose="020B0604020202020204" pitchFamily="34" charset="0"/>
              <a:buChar char="•"/>
            </a:pPr>
            <a:endParaRPr lang="en-IN" b="1" dirty="0"/>
          </a:p>
          <a:p>
            <a:pPr algn="just">
              <a:buFont typeface="Arial" panose="020B0604020202020204" pitchFamily="34" charset="0"/>
              <a:buChar char="•"/>
            </a:pPr>
            <a:r>
              <a:rPr lang="en-IN" b="1" dirty="0"/>
              <a:t>Dimensions:</a:t>
            </a:r>
            <a:r>
              <a:rPr lang="en-IN" dirty="0"/>
              <a:t> Patient, Doctor, Time, Department</a:t>
            </a:r>
          </a:p>
          <a:p>
            <a:pPr algn="just">
              <a:buNone/>
            </a:pPr>
            <a:endParaRPr lang="en-IN" dirty="0"/>
          </a:p>
          <a:p>
            <a:pPr algn="just">
              <a:buNone/>
            </a:pPr>
            <a:r>
              <a:rPr lang="en-IN" dirty="0"/>
              <a:t>This helps management evaluate hospital performance and resource utilization.</a:t>
            </a:r>
          </a:p>
        </p:txBody>
      </p:sp>
      <p:sp>
        <p:nvSpPr>
          <p:cNvPr id="5" name="TextBox 4">
            <a:extLst>
              <a:ext uri="{FF2B5EF4-FFF2-40B4-BE49-F238E27FC236}">
                <a16:creationId xmlns:a16="http://schemas.microsoft.com/office/drawing/2014/main" id="{963B3402-BE8E-B96F-4EF6-895F40CA88FC}"/>
              </a:ext>
            </a:extLst>
          </p:cNvPr>
          <p:cNvSpPr txBox="1"/>
          <p:nvPr/>
        </p:nvSpPr>
        <p:spPr>
          <a:xfrm>
            <a:off x="5625663" y="343563"/>
            <a:ext cx="4169979" cy="4524315"/>
          </a:xfrm>
          <a:prstGeom prst="rect">
            <a:avLst/>
          </a:prstGeom>
          <a:noFill/>
          <a:ln>
            <a:solidFill>
              <a:schemeClr val="tx1"/>
            </a:solidFill>
          </a:ln>
        </p:spPr>
        <p:txBody>
          <a:bodyPr wrap="square">
            <a:spAutoFit/>
          </a:bodyPr>
          <a:lstStyle/>
          <a:p>
            <a:pPr algn="just">
              <a:buNone/>
            </a:pPr>
            <a:r>
              <a:rPr lang="en-IN" b="1" dirty="0"/>
              <a:t>Sales Business Process</a:t>
            </a:r>
          </a:p>
          <a:p>
            <a:pPr algn="just">
              <a:buNone/>
            </a:pPr>
            <a:endParaRPr lang="en-IN" dirty="0"/>
          </a:p>
          <a:p>
            <a:pPr algn="just">
              <a:buNone/>
            </a:pPr>
            <a:r>
              <a:rPr lang="en-IN" dirty="0"/>
              <a:t>Consider a retail store where products are sold to customers.</a:t>
            </a:r>
          </a:p>
          <a:p>
            <a:pPr algn="just">
              <a:buFont typeface="Arial" panose="020B0604020202020204" pitchFamily="34" charset="0"/>
              <a:buChar char="•"/>
            </a:pPr>
            <a:endParaRPr lang="en-IN" b="1" dirty="0"/>
          </a:p>
          <a:p>
            <a:pPr algn="just">
              <a:buFont typeface="Arial" panose="020B0604020202020204" pitchFamily="34" charset="0"/>
              <a:buChar char="•"/>
            </a:pPr>
            <a:r>
              <a:rPr lang="en-IN" b="1" dirty="0"/>
              <a:t>Business process:</a:t>
            </a:r>
            <a:r>
              <a:rPr lang="en-IN" dirty="0"/>
              <a:t> Sales</a:t>
            </a:r>
          </a:p>
          <a:p>
            <a:pPr algn="just">
              <a:buFont typeface="Arial" panose="020B0604020202020204" pitchFamily="34" charset="0"/>
              <a:buChar char="•"/>
            </a:pPr>
            <a:endParaRPr lang="en-IN" b="1" dirty="0"/>
          </a:p>
          <a:p>
            <a:pPr algn="just">
              <a:buFont typeface="Arial" panose="020B0604020202020204" pitchFamily="34" charset="0"/>
              <a:buChar char="•"/>
            </a:pPr>
            <a:r>
              <a:rPr lang="en-IN" b="1" dirty="0"/>
              <a:t>Measures (facts):</a:t>
            </a:r>
            <a:r>
              <a:rPr lang="en-IN" dirty="0"/>
              <a:t> Sales amount, quantity sold</a:t>
            </a:r>
          </a:p>
          <a:p>
            <a:pPr algn="just">
              <a:buFont typeface="Arial" panose="020B0604020202020204" pitchFamily="34" charset="0"/>
              <a:buChar char="•"/>
            </a:pPr>
            <a:endParaRPr lang="en-IN" b="1" dirty="0"/>
          </a:p>
          <a:p>
            <a:pPr algn="just">
              <a:buFont typeface="Arial" panose="020B0604020202020204" pitchFamily="34" charset="0"/>
              <a:buChar char="•"/>
            </a:pPr>
            <a:r>
              <a:rPr lang="en-IN" b="1" dirty="0"/>
              <a:t>Dimensions:</a:t>
            </a:r>
            <a:r>
              <a:rPr lang="en-IN" dirty="0"/>
              <a:t> Time, Product, Customer, Store</a:t>
            </a:r>
          </a:p>
          <a:p>
            <a:pPr algn="just">
              <a:buNone/>
            </a:pPr>
            <a:endParaRPr lang="en-IN" dirty="0"/>
          </a:p>
          <a:p>
            <a:pPr algn="just">
              <a:buNone/>
            </a:pPr>
            <a:r>
              <a:rPr lang="en-IN" dirty="0"/>
              <a:t>This structure allows the business to </a:t>
            </a:r>
            <a:r>
              <a:rPr lang="en-IN" dirty="0" err="1"/>
              <a:t>analyze</a:t>
            </a:r>
            <a:r>
              <a:rPr lang="en-IN" dirty="0"/>
              <a:t> sales by month, by product category, or by customer.</a:t>
            </a:r>
          </a:p>
        </p:txBody>
      </p:sp>
    </p:spTree>
    <p:extLst>
      <p:ext uri="{BB962C8B-B14F-4D97-AF65-F5344CB8AC3E}">
        <p14:creationId xmlns:p14="http://schemas.microsoft.com/office/powerpoint/2010/main" val="3849648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218C-701B-1A50-2C7D-54553CC886D5}"/>
            </a:ext>
          </a:extLst>
        </p:cNvPr>
        <p:cNvGrpSpPr/>
        <p:nvPr/>
      </p:nvGrpSpPr>
      <p:grpSpPr>
        <a:xfrm>
          <a:off x="0" y="0"/>
          <a:ext cx="0" cy="0"/>
          <a:chOff x="0" y="0"/>
          <a:chExt cx="0" cy="0"/>
        </a:xfrm>
      </p:grpSpPr>
    </p:spTree>
    <p:extLst>
      <p:ext uri="{BB962C8B-B14F-4D97-AF65-F5344CB8AC3E}">
        <p14:creationId xmlns:p14="http://schemas.microsoft.com/office/powerpoint/2010/main" val="3362438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CD895-2B05-287C-F95F-449695769E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3747BA-5849-75BD-9A38-C20106D2AD35}"/>
              </a:ext>
            </a:extLst>
          </p:cNvPr>
          <p:cNvSpPr txBox="1"/>
          <p:nvPr/>
        </p:nvSpPr>
        <p:spPr>
          <a:xfrm>
            <a:off x="864476" y="239645"/>
            <a:ext cx="10118834" cy="6247864"/>
          </a:xfrm>
          <a:prstGeom prst="rect">
            <a:avLst/>
          </a:prstGeom>
          <a:noFill/>
        </p:spPr>
        <p:txBody>
          <a:bodyPr wrap="square">
            <a:spAutoFit/>
          </a:bodyPr>
          <a:lstStyle/>
          <a:p>
            <a:pPr>
              <a:buNone/>
            </a:pPr>
            <a:r>
              <a:rPr lang="en-IN" sz="2400" dirty="0"/>
              <a:t>Imagine a </a:t>
            </a:r>
            <a:r>
              <a:rPr lang="en-IN" sz="2400" b="1" dirty="0"/>
              <a:t>college principal</a:t>
            </a:r>
            <a:r>
              <a:rPr lang="en-IN" sz="2400" dirty="0"/>
              <a:t> asking these questions:</a:t>
            </a:r>
          </a:p>
          <a:p>
            <a:pPr>
              <a:buNone/>
            </a:pPr>
            <a:br>
              <a:rPr lang="en-IN" sz="2400" dirty="0"/>
            </a:br>
            <a:r>
              <a:rPr lang="en-IN" sz="2400" dirty="0"/>
              <a:t>“How many students passed this year?”,</a:t>
            </a:r>
            <a:br>
              <a:rPr lang="en-IN" sz="2400" dirty="0"/>
            </a:br>
            <a:r>
              <a:rPr lang="en-IN" sz="2400" dirty="0"/>
              <a:t>“Which department has the best results?”,</a:t>
            </a:r>
            <a:br>
              <a:rPr lang="en-IN" sz="2400" dirty="0"/>
            </a:br>
            <a:r>
              <a:rPr lang="en-IN" sz="2400" dirty="0"/>
              <a:t>“Which subject has the highest failure rate?”</a:t>
            </a:r>
          </a:p>
          <a:p>
            <a:pPr>
              <a:buNone/>
            </a:pPr>
            <a:endParaRPr lang="en-IN" sz="2400" dirty="0"/>
          </a:p>
          <a:p>
            <a:pPr>
              <a:buNone/>
            </a:pPr>
            <a:r>
              <a:rPr lang="en-IN" sz="2400" dirty="0"/>
              <a:t>Now imagine the IT team directly starts creating tables </a:t>
            </a:r>
            <a:r>
              <a:rPr lang="en-IN" sz="2400" b="1" dirty="0"/>
              <a:t>without clearly understanding these questions</a:t>
            </a:r>
            <a:r>
              <a:rPr lang="en-IN" sz="2400" dirty="0"/>
              <a:t>.</a:t>
            </a:r>
          </a:p>
          <a:p>
            <a:pPr>
              <a:buNone/>
            </a:pPr>
            <a:br>
              <a:rPr lang="en-IN" sz="2400" dirty="0"/>
            </a:br>
            <a:r>
              <a:rPr lang="en-IN" sz="2400" dirty="0"/>
              <a:t>The result will be </a:t>
            </a:r>
            <a:r>
              <a:rPr lang="en-IN" sz="2400" b="1" dirty="0"/>
              <a:t>wrong tables, missing data, and useless reports</a:t>
            </a:r>
            <a:r>
              <a:rPr lang="en-IN" sz="2400" dirty="0"/>
              <a:t>.</a:t>
            </a:r>
          </a:p>
          <a:p>
            <a:pPr>
              <a:buNone/>
            </a:pPr>
            <a:endParaRPr lang="en-IN" sz="2400" dirty="0"/>
          </a:p>
          <a:p>
            <a:pPr>
              <a:buNone/>
            </a:pPr>
            <a:r>
              <a:rPr lang="en-IN" sz="2400" dirty="0"/>
              <a:t>👉 To avoid this confusion, we first need a </a:t>
            </a:r>
            <a:r>
              <a:rPr lang="en-IN" sz="2400" b="1" dirty="0"/>
              <a:t>structured way to understand what information the business really wants</a:t>
            </a:r>
            <a:r>
              <a:rPr lang="en-IN" sz="2400" dirty="0"/>
              <a:t>.</a:t>
            </a:r>
            <a:br>
              <a:rPr lang="en-IN" sz="2400" dirty="0"/>
            </a:br>
            <a:endParaRPr lang="en-IN" sz="2400" dirty="0"/>
          </a:p>
          <a:p>
            <a:pPr>
              <a:buNone/>
            </a:pPr>
            <a:r>
              <a:rPr lang="en-IN" sz="2400" dirty="0"/>
              <a:t>This is where the concept of </a:t>
            </a:r>
            <a:r>
              <a:rPr lang="en-IN" sz="4000" b="1" u="sng" dirty="0">
                <a:solidFill>
                  <a:srgbClr val="FF0000"/>
                </a:solidFill>
              </a:rPr>
              <a:t>Information Package</a:t>
            </a:r>
            <a:r>
              <a:rPr lang="en-IN" sz="4000" u="sng" dirty="0">
                <a:solidFill>
                  <a:srgbClr val="FF0000"/>
                </a:solidFill>
              </a:rPr>
              <a:t> </a:t>
            </a:r>
            <a:r>
              <a:rPr lang="en-IN" sz="2400" dirty="0"/>
              <a:t>comes in.</a:t>
            </a:r>
          </a:p>
        </p:txBody>
      </p:sp>
    </p:spTree>
    <p:extLst>
      <p:ext uri="{BB962C8B-B14F-4D97-AF65-F5344CB8AC3E}">
        <p14:creationId xmlns:p14="http://schemas.microsoft.com/office/powerpoint/2010/main" val="4150094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4FF3C-3578-64AD-AC8C-1246594DA7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482856-6027-11FD-7343-2CC11CBCEE22}"/>
              </a:ext>
            </a:extLst>
          </p:cNvPr>
          <p:cNvSpPr txBox="1"/>
          <p:nvPr/>
        </p:nvSpPr>
        <p:spPr>
          <a:xfrm>
            <a:off x="969579" y="181957"/>
            <a:ext cx="9551275" cy="6494085"/>
          </a:xfrm>
          <a:prstGeom prst="rect">
            <a:avLst/>
          </a:prstGeom>
          <a:noFill/>
        </p:spPr>
        <p:txBody>
          <a:bodyPr wrap="square">
            <a:spAutoFit/>
          </a:bodyPr>
          <a:lstStyle/>
          <a:p>
            <a:pPr>
              <a:buNone/>
            </a:pPr>
            <a:r>
              <a:rPr lang="en-IN" sz="3600" b="1" u="sng" dirty="0">
                <a:solidFill>
                  <a:srgbClr val="FF3300"/>
                </a:solidFill>
              </a:rPr>
              <a:t>What is an Information Package?</a:t>
            </a:r>
          </a:p>
          <a:p>
            <a:pPr algn="just">
              <a:buNone/>
            </a:pPr>
            <a:endParaRPr lang="en-IN" sz="4400" b="1" dirty="0">
              <a:solidFill>
                <a:srgbClr val="FF3300"/>
              </a:solidFill>
            </a:endParaRPr>
          </a:p>
          <a:p>
            <a:pPr algn="just">
              <a:buNone/>
            </a:pPr>
            <a:r>
              <a:rPr lang="en-IN" sz="2400" dirty="0"/>
              <a:t>An </a:t>
            </a:r>
            <a:r>
              <a:rPr lang="en-IN" sz="2400" b="1" dirty="0"/>
              <a:t>Information Package</a:t>
            </a:r>
            <a:r>
              <a:rPr lang="en-IN" sz="2400" dirty="0"/>
              <a:t> is a </a:t>
            </a:r>
            <a:r>
              <a:rPr lang="en-IN" sz="2400" b="1" dirty="0"/>
              <a:t>conceptual representation of business requirements</a:t>
            </a:r>
            <a:r>
              <a:rPr lang="en-IN" sz="2400" dirty="0"/>
              <a:t> used in data warehousing.</a:t>
            </a:r>
            <a:br>
              <a:rPr lang="en-IN" sz="2400" dirty="0"/>
            </a:br>
            <a:endParaRPr lang="en-IN" sz="2400" dirty="0"/>
          </a:p>
          <a:p>
            <a:pPr algn="just">
              <a:buNone/>
            </a:pPr>
            <a:r>
              <a:rPr lang="en-IN" sz="2400" dirty="0"/>
              <a:t>It describes </a:t>
            </a:r>
            <a:r>
              <a:rPr lang="en-IN" sz="2400" b="1" dirty="0"/>
              <a:t>what needs to be </a:t>
            </a:r>
            <a:r>
              <a:rPr lang="en-IN" sz="2400" b="1" dirty="0" err="1"/>
              <a:t>analyzed</a:t>
            </a:r>
            <a:r>
              <a:rPr lang="en-IN" sz="2400" dirty="0"/>
              <a:t>, </a:t>
            </a:r>
            <a:r>
              <a:rPr lang="en-IN" sz="2400" b="1" dirty="0"/>
              <a:t>from which perspectives</a:t>
            </a:r>
            <a:r>
              <a:rPr lang="en-IN" sz="2400" dirty="0"/>
              <a:t>, and </a:t>
            </a:r>
            <a:r>
              <a:rPr lang="en-IN" sz="2400" b="1" dirty="0"/>
              <a:t>using which measurements</a:t>
            </a:r>
            <a:r>
              <a:rPr lang="en-IN" sz="2400" dirty="0"/>
              <a:t>, before any database design begins.</a:t>
            </a:r>
          </a:p>
          <a:p>
            <a:pPr algn="just">
              <a:buNone/>
            </a:pPr>
            <a:endParaRPr lang="en-IN" sz="2400" dirty="0"/>
          </a:p>
          <a:p>
            <a:pPr algn="just">
              <a:buNone/>
            </a:pPr>
            <a:r>
              <a:rPr lang="en-IN" sz="2400" dirty="0"/>
              <a:t>It focuses on </a:t>
            </a:r>
            <a:r>
              <a:rPr lang="en-IN" sz="2400" b="1" dirty="0"/>
              <a:t>business understanding</a:t>
            </a:r>
            <a:r>
              <a:rPr lang="en-IN" sz="2400" dirty="0"/>
              <a:t>, not on tables or schemas.</a:t>
            </a:r>
            <a:br>
              <a:rPr lang="en-IN" sz="2400" dirty="0"/>
            </a:br>
            <a:endParaRPr lang="en-IN" sz="2400" dirty="0"/>
          </a:p>
          <a:p>
            <a:pPr algn="just">
              <a:buNone/>
            </a:pPr>
            <a:r>
              <a:rPr lang="en-IN" sz="2400" dirty="0"/>
              <a:t>In simple words, an information package answers the question:</a:t>
            </a:r>
            <a:br>
              <a:rPr lang="en-IN" sz="2400" dirty="0"/>
            </a:br>
            <a:r>
              <a:rPr lang="en-IN" sz="2400" b="1" dirty="0"/>
              <a:t>“What information does the decision-maker want?”</a:t>
            </a:r>
            <a:endParaRPr lang="en-IN" sz="2400" dirty="0"/>
          </a:p>
          <a:p>
            <a:pPr algn="just">
              <a:buNone/>
            </a:pPr>
            <a:endParaRPr lang="en-IN" sz="2400" dirty="0"/>
          </a:p>
          <a:p>
            <a:pPr algn="just">
              <a:buNone/>
            </a:pPr>
            <a:r>
              <a:rPr lang="en-IN" sz="2400" dirty="0"/>
              <a:t>It acts as a </a:t>
            </a:r>
            <a:r>
              <a:rPr lang="en-IN" sz="2400" b="1" dirty="0"/>
              <a:t>bridge between business users and data warehouse designers</a:t>
            </a:r>
            <a:r>
              <a:rPr lang="en-IN" sz="2400" dirty="0"/>
              <a:t>.</a:t>
            </a:r>
          </a:p>
        </p:txBody>
      </p:sp>
    </p:spTree>
    <p:extLst>
      <p:ext uri="{BB962C8B-B14F-4D97-AF65-F5344CB8AC3E}">
        <p14:creationId xmlns:p14="http://schemas.microsoft.com/office/powerpoint/2010/main" val="2413191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80A32-3F5B-7B5E-774A-02E680B24B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1D33AE-1919-FFE2-FAEE-455FDA118FC8}"/>
              </a:ext>
            </a:extLst>
          </p:cNvPr>
          <p:cNvSpPr txBox="1"/>
          <p:nvPr/>
        </p:nvSpPr>
        <p:spPr>
          <a:xfrm>
            <a:off x="884183" y="54631"/>
            <a:ext cx="10108323" cy="6740307"/>
          </a:xfrm>
          <a:prstGeom prst="rect">
            <a:avLst/>
          </a:prstGeom>
          <a:noFill/>
        </p:spPr>
        <p:txBody>
          <a:bodyPr wrap="square">
            <a:spAutoFit/>
          </a:bodyPr>
          <a:lstStyle/>
          <a:p>
            <a:pPr>
              <a:buNone/>
            </a:pPr>
            <a:r>
              <a:rPr lang="en-IN" sz="3600" b="1" u="sng" dirty="0">
                <a:solidFill>
                  <a:srgbClr val="FF3300"/>
                </a:solidFill>
              </a:rPr>
              <a:t>Why Information Package is Needed</a:t>
            </a:r>
          </a:p>
          <a:p>
            <a:pPr>
              <a:buNone/>
            </a:pPr>
            <a:endParaRPr lang="en-IN" sz="3600" b="1" u="sng" dirty="0">
              <a:solidFill>
                <a:srgbClr val="FF3300"/>
              </a:solidFill>
            </a:endParaRPr>
          </a:p>
          <a:p>
            <a:pPr>
              <a:buNone/>
            </a:pPr>
            <a:r>
              <a:rPr lang="en-IN" sz="2400" dirty="0"/>
              <a:t>In traditional systems, data is stored for </a:t>
            </a:r>
            <a:r>
              <a:rPr lang="en-IN" sz="2400" b="1" dirty="0"/>
              <a:t>day-to-day operations</a:t>
            </a:r>
            <a:r>
              <a:rPr lang="en-IN" sz="2400" dirty="0"/>
              <a:t>, not for analysis.</a:t>
            </a:r>
            <a:br>
              <a:rPr lang="en-IN" sz="2400" dirty="0"/>
            </a:br>
            <a:endParaRPr lang="en-IN" sz="2400" dirty="0"/>
          </a:p>
          <a:p>
            <a:pPr>
              <a:buNone/>
            </a:pPr>
            <a:r>
              <a:rPr lang="en-IN" sz="2400" dirty="0"/>
              <a:t>However, decision-making requires:</a:t>
            </a:r>
          </a:p>
          <a:p>
            <a:pPr>
              <a:buFont typeface="Arial" panose="020B0604020202020204" pitchFamily="34" charset="0"/>
              <a:buChar char="•"/>
            </a:pPr>
            <a:r>
              <a:rPr lang="en-IN" sz="2400" dirty="0"/>
              <a:t>Summarized data</a:t>
            </a:r>
          </a:p>
          <a:p>
            <a:pPr>
              <a:buFont typeface="Arial" panose="020B0604020202020204" pitchFamily="34" charset="0"/>
              <a:buChar char="•"/>
            </a:pPr>
            <a:r>
              <a:rPr lang="en-IN" sz="2400" dirty="0"/>
              <a:t>Historical trends</a:t>
            </a:r>
          </a:p>
          <a:p>
            <a:pPr>
              <a:buFont typeface="Arial" panose="020B0604020202020204" pitchFamily="34" charset="0"/>
              <a:buChar char="•"/>
            </a:pPr>
            <a:r>
              <a:rPr lang="en-IN" sz="2400" dirty="0"/>
              <a:t>Multiple perspectives</a:t>
            </a:r>
          </a:p>
          <a:p>
            <a:pPr>
              <a:buNone/>
            </a:pPr>
            <a:endParaRPr lang="en-IN" sz="2400" dirty="0"/>
          </a:p>
          <a:p>
            <a:pPr>
              <a:buNone/>
            </a:pPr>
            <a:r>
              <a:rPr lang="en-IN" sz="2400" dirty="0"/>
              <a:t>The information package helps:</a:t>
            </a:r>
          </a:p>
          <a:p>
            <a:pPr>
              <a:buFont typeface="Arial" panose="020B0604020202020204" pitchFamily="34" charset="0"/>
              <a:buChar char="•"/>
            </a:pPr>
            <a:r>
              <a:rPr lang="en-IN" sz="2400" dirty="0"/>
              <a:t>Capture business needs clearly</a:t>
            </a:r>
          </a:p>
          <a:p>
            <a:pPr>
              <a:buFont typeface="Arial" panose="020B0604020202020204" pitchFamily="34" charset="0"/>
              <a:buChar char="•"/>
            </a:pPr>
            <a:r>
              <a:rPr lang="en-IN" sz="2400" dirty="0"/>
              <a:t>Identify facts and dimensions correctly</a:t>
            </a:r>
          </a:p>
          <a:p>
            <a:pPr>
              <a:buFont typeface="Arial" panose="020B0604020202020204" pitchFamily="34" charset="0"/>
              <a:buChar char="•"/>
            </a:pPr>
            <a:r>
              <a:rPr lang="en-IN" sz="2400" dirty="0"/>
              <a:t>Avoid unnecessary or missing data</a:t>
            </a:r>
          </a:p>
          <a:p>
            <a:pPr>
              <a:buNone/>
            </a:pPr>
            <a:endParaRPr lang="en-IN" sz="2400" dirty="0"/>
          </a:p>
          <a:p>
            <a:pPr>
              <a:buNone/>
            </a:pPr>
            <a:r>
              <a:rPr lang="en-IN" sz="2400" dirty="0"/>
              <a:t>Thus, it ensures that the final data warehouse supports </a:t>
            </a:r>
            <a:r>
              <a:rPr lang="en-IN" sz="2400" b="1" dirty="0"/>
              <a:t>analysis and decision making</a:t>
            </a:r>
            <a:r>
              <a:rPr lang="en-IN" sz="2400" dirty="0"/>
              <a:t>, not just data storage.</a:t>
            </a:r>
          </a:p>
        </p:txBody>
      </p:sp>
    </p:spTree>
    <p:extLst>
      <p:ext uri="{BB962C8B-B14F-4D97-AF65-F5344CB8AC3E}">
        <p14:creationId xmlns:p14="http://schemas.microsoft.com/office/powerpoint/2010/main" val="2299102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20BF-2578-3E82-F369-95E8F3DE92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1D5894-8335-2432-9BE7-3050148B2E0B}"/>
              </a:ext>
            </a:extLst>
          </p:cNvPr>
          <p:cNvSpPr txBox="1"/>
          <p:nvPr/>
        </p:nvSpPr>
        <p:spPr>
          <a:xfrm>
            <a:off x="1158766" y="173533"/>
            <a:ext cx="8153400" cy="5693866"/>
          </a:xfrm>
          <a:prstGeom prst="rect">
            <a:avLst/>
          </a:prstGeom>
          <a:noFill/>
        </p:spPr>
        <p:txBody>
          <a:bodyPr wrap="square">
            <a:spAutoFit/>
          </a:bodyPr>
          <a:lstStyle/>
          <a:p>
            <a:pPr>
              <a:buNone/>
            </a:pPr>
            <a:r>
              <a:rPr lang="en-IN" sz="2800" b="1" u="sng" dirty="0">
                <a:solidFill>
                  <a:srgbClr val="FF3300"/>
                </a:solidFill>
              </a:rPr>
              <a:t>Components of an Information Package – Overview</a:t>
            </a:r>
          </a:p>
          <a:p>
            <a:pPr>
              <a:buNone/>
            </a:pPr>
            <a:endParaRPr lang="en-IN" sz="2800" b="1" u="sng" dirty="0">
              <a:solidFill>
                <a:srgbClr val="FF3300"/>
              </a:solidFill>
            </a:endParaRPr>
          </a:p>
          <a:p>
            <a:pPr>
              <a:buNone/>
            </a:pPr>
            <a:r>
              <a:rPr lang="en-IN" sz="2800" dirty="0"/>
              <a:t>An information package is built using </a:t>
            </a:r>
            <a:r>
              <a:rPr lang="en-IN" sz="2800" b="1" dirty="0"/>
              <a:t>four core </a:t>
            </a:r>
          </a:p>
          <a:p>
            <a:pPr>
              <a:buNone/>
            </a:pPr>
            <a:r>
              <a:rPr lang="en-IN" sz="2800" b="1" dirty="0"/>
              <a:t>components</a:t>
            </a:r>
            <a:r>
              <a:rPr lang="en-IN" sz="2800" dirty="0"/>
              <a:t>:</a:t>
            </a:r>
          </a:p>
          <a:p>
            <a:pPr>
              <a:buFont typeface="+mj-lt"/>
              <a:buAutoNum type="arabicPeriod"/>
            </a:pPr>
            <a:endParaRPr lang="en-IN" sz="2800" dirty="0"/>
          </a:p>
          <a:p>
            <a:pPr>
              <a:buFont typeface="+mj-lt"/>
              <a:buAutoNum type="arabicPeriod"/>
            </a:pPr>
            <a:r>
              <a:rPr lang="en-IN" sz="2800" dirty="0"/>
              <a:t>Business Process</a:t>
            </a:r>
          </a:p>
          <a:p>
            <a:pPr>
              <a:buFont typeface="+mj-lt"/>
              <a:buAutoNum type="arabicPeriod"/>
            </a:pPr>
            <a:r>
              <a:rPr lang="en-IN" sz="2800" dirty="0"/>
              <a:t>Measures</a:t>
            </a:r>
          </a:p>
          <a:p>
            <a:pPr>
              <a:buFont typeface="+mj-lt"/>
              <a:buAutoNum type="arabicPeriod"/>
            </a:pPr>
            <a:r>
              <a:rPr lang="en-IN" sz="2800" dirty="0"/>
              <a:t>Dimensions</a:t>
            </a:r>
          </a:p>
          <a:p>
            <a:pPr>
              <a:buFont typeface="+mj-lt"/>
              <a:buAutoNum type="arabicPeriod"/>
            </a:pPr>
            <a:r>
              <a:rPr lang="en-IN" sz="2800" dirty="0"/>
              <a:t>Attributes</a:t>
            </a:r>
          </a:p>
          <a:p>
            <a:pPr>
              <a:buNone/>
            </a:pPr>
            <a:endParaRPr lang="en-IN" sz="2800" dirty="0"/>
          </a:p>
          <a:p>
            <a:pPr>
              <a:buNone/>
            </a:pPr>
            <a:r>
              <a:rPr lang="en-IN" sz="2800" dirty="0"/>
              <a:t>Each component plays a specific role in defining </a:t>
            </a:r>
            <a:r>
              <a:rPr lang="en-IN" sz="2800" b="1" dirty="0"/>
              <a:t>what to </a:t>
            </a:r>
            <a:r>
              <a:rPr lang="en-IN" sz="2800" b="1" dirty="0" err="1"/>
              <a:t>analyze</a:t>
            </a:r>
            <a:r>
              <a:rPr lang="en-IN" sz="2800" b="1" dirty="0"/>
              <a:t> and how to </a:t>
            </a:r>
            <a:r>
              <a:rPr lang="en-IN" sz="2800" b="1" dirty="0" err="1"/>
              <a:t>analyze</a:t>
            </a:r>
            <a:r>
              <a:rPr lang="en-IN" sz="2800" b="1" dirty="0"/>
              <a:t> it</a:t>
            </a:r>
            <a:r>
              <a:rPr lang="en-IN" sz="2800" dirty="0"/>
              <a:t>.</a:t>
            </a:r>
          </a:p>
        </p:txBody>
      </p:sp>
    </p:spTree>
    <p:extLst>
      <p:ext uri="{BB962C8B-B14F-4D97-AF65-F5344CB8AC3E}">
        <p14:creationId xmlns:p14="http://schemas.microsoft.com/office/powerpoint/2010/main" val="3437709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671B-567F-3CC6-09FD-6C12EC5536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FDB45B-040A-C5DE-52E4-929E70D5E65F}"/>
              </a:ext>
            </a:extLst>
          </p:cNvPr>
          <p:cNvSpPr txBox="1"/>
          <p:nvPr/>
        </p:nvSpPr>
        <p:spPr>
          <a:xfrm>
            <a:off x="769884" y="244560"/>
            <a:ext cx="5010806" cy="6247864"/>
          </a:xfrm>
          <a:prstGeom prst="rect">
            <a:avLst/>
          </a:prstGeom>
          <a:noFill/>
          <a:ln w="38100">
            <a:solidFill>
              <a:schemeClr val="tx1"/>
            </a:solidFill>
          </a:ln>
        </p:spPr>
        <p:txBody>
          <a:bodyPr wrap="square">
            <a:spAutoFit/>
          </a:bodyPr>
          <a:lstStyle/>
          <a:p>
            <a:pPr>
              <a:buNone/>
            </a:pPr>
            <a:r>
              <a:rPr lang="en-IN" sz="2000" b="1" u="sng" dirty="0">
                <a:solidFill>
                  <a:srgbClr val="FF0000"/>
                </a:solidFill>
              </a:rPr>
              <a:t>Business Process</a:t>
            </a:r>
          </a:p>
          <a:p>
            <a:pPr>
              <a:buNone/>
            </a:pPr>
            <a:endParaRPr lang="en-IN" sz="2000" b="1" u="sng" dirty="0">
              <a:solidFill>
                <a:srgbClr val="FF0000"/>
              </a:solidFill>
            </a:endParaRPr>
          </a:p>
          <a:p>
            <a:pPr>
              <a:buNone/>
            </a:pPr>
            <a:r>
              <a:rPr lang="en-IN" dirty="0"/>
              <a:t>A </a:t>
            </a:r>
            <a:r>
              <a:rPr lang="en-IN" b="1" dirty="0"/>
              <a:t>business process</a:t>
            </a:r>
            <a:r>
              <a:rPr lang="en-IN" dirty="0"/>
              <a:t> represents the </a:t>
            </a:r>
            <a:r>
              <a:rPr lang="en-IN" b="1" dirty="0"/>
              <a:t>main activity of the organization</a:t>
            </a:r>
            <a:r>
              <a:rPr lang="en-IN" dirty="0"/>
              <a:t> that needs to be </a:t>
            </a:r>
            <a:r>
              <a:rPr lang="en-IN" dirty="0" err="1"/>
              <a:t>analyzed</a:t>
            </a:r>
            <a:r>
              <a:rPr lang="en-IN" dirty="0"/>
              <a:t>.</a:t>
            </a:r>
          </a:p>
          <a:p>
            <a:pPr>
              <a:buNone/>
            </a:pPr>
            <a:endParaRPr lang="en-IN" dirty="0"/>
          </a:p>
          <a:p>
            <a:pPr>
              <a:buNone/>
            </a:pPr>
            <a:r>
              <a:rPr lang="en-IN" dirty="0"/>
              <a:t>It answers the question:</a:t>
            </a:r>
            <a:br>
              <a:rPr lang="en-IN" dirty="0"/>
            </a:br>
            <a:r>
              <a:rPr lang="en-IN" b="1" dirty="0"/>
              <a:t>“Which activity are we </a:t>
            </a:r>
            <a:r>
              <a:rPr lang="en-IN" b="1" dirty="0" err="1"/>
              <a:t>analyzing</a:t>
            </a:r>
            <a:r>
              <a:rPr lang="en-IN" b="1" dirty="0"/>
              <a:t>?”</a:t>
            </a:r>
            <a:endParaRPr lang="en-IN" dirty="0"/>
          </a:p>
          <a:p>
            <a:pPr>
              <a:buNone/>
            </a:pPr>
            <a:endParaRPr lang="en-IN" dirty="0"/>
          </a:p>
          <a:p>
            <a:pPr>
              <a:buNone/>
            </a:pPr>
            <a:r>
              <a:rPr lang="en-IN" dirty="0"/>
              <a:t>Examples of business processes:</a:t>
            </a:r>
          </a:p>
          <a:p>
            <a:pPr>
              <a:buFont typeface="Arial" panose="020B0604020202020204" pitchFamily="34" charset="0"/>
              <a:buChar char="•"/>
            </a:pPr>
            <a:endParaRPr lang="en-IN" dirty="0"/>
          </a:p>
          <a:p>
            <a:pPr>
              <a:buFont typeface="Arial" panose="020B0604020202020204" pitchFamily="34" charset="0"/>
              <a:buChar char="•"/>
            </a:pPr>
            <a:r>
              <a:rPr lang="en-IN" dirty="0"/>
              <a:t>Sales in a retail company</a:t>
            </a:r>
          </a:p>
          <a:p>
            <a:pPr>
              <a:buFont typeface="Arial" panose="020B0604020202020204" pitchFamily="34" charset="0"/>
              <a:buChar char="•"/>
            </a:pPr>
            <a:r>
              <a:rPr lang="en-IN" dirty="0"/>
              <a:t>Student performance in a university</a:t>
            </a:r>
          </a:p>
          <a:p>
            <a:pPr>
              <a:buFont typeface="Arial" panose="020B0604020202020204" pitchFamily="34" charset="0"/>
              <a:buChar char="•"/>
            </a:pPr>
            <a:r>
              <a:rPr lang="en-IN" dirty="0"/>
              <a:t>Patient treatment in a hospital</a:t>
            </a:r>
          </a:p>
          <a:p>
            <a:pPr>
              <a:buNone/>
            </a:pPr>
            <a:endParaRPr lang="en-IN" dirty="0"/>
          </a:p>
          <a:p>
            <a:pPr>
              <a:buNone/>
            </a:pPr>
            <a:r>
              <a:rPr lang="en-IN" dirty="0"/>
              <a:t>For example, in a </a:t>
            </a:r>
            <a:r>
              <a:rPr lang="en-IN" b="1" dirty="0"/>
              <a:t>sales system</a:t>
            </a:r>
            <a:r>
              <a:rPr lang="en-IN" dirty="0"/>
              <a:t>, the business process is </a:t>
            </a:r>
            <a:r>
              <a:rPr lang="en-IN" b="1" dirty="0"/>
              <a:t>selling products to customers</a:t>
            </a:r>
            <a:r>
              <a:rPr lang="en-IN" dirty="0"/>
              <a:t>.</a:t>
            </a:r>
            <a:br>
              <a:rPr lang="en-IN" dirty="0"/>
            </a:br>
            <a:endParaRPr lang="en-IN" dirty="0"/>
          </a:p>
          <a:p>
            <a:pPr>
              <a:buNone/>
            </a:pPr>
            <a:r>
              <a:rPr lang="en-IN" dirty="0"/>
              <a:t>All analysis will revolve around this process.</a:t>
            </a:r>
          </a:p>
          <a:p>
            <a:pPr>
              <a:buNone/>
            </a:pPr>
            <a:endParaRPr lang="en-IN" dirty="0"/>
          </a:p>
          <a:p>
            <a:pPr>
              <a:buNone/>
            </a:pPr>
            <a:endParaRPr lang="en-IN" dirty="0"/>
          </a:p>
          <a:p>
            <a:pPr>
              <a:buNone/>
            </a:pPr>
            <a:endParaRPr lang="en-IN" dirty="0"/>
          </a:p>
        </p:txBody>
      </p:sp>
      <p:sp>
        <p:nvSpPr>
          <p:cNvPr id="5" name="TextBox 4">
            <a:extLst>
              <a:ext uri="{FF2B5EF4-FFF2-40B4-BE49-F238E27FC236}">
                <a16:creationId xmlns:a16="http://schemas.microsoft.com/office/drawing/2014/main" id="{F390FEA8-2C48-629E-B365-9E6693A13332}"/>
              </a:ext>
            </a:extLst>
          </p:cNvPr>
          <p:cNvSpPr txBox="1"/>
          <p:nvPr/>
        </p:nvSpPr>
        <p:spPr>
          <a:xfrm>
            <a:off x="6096000" y="244560"/>
            <a:ext cx="5010806" cy="6217087"/>
          </a:xfrm>
          <a:prstGeom prst="rect">
            <a:avLst/>
          </a:prstGeom>
          <a:noFill/>
          <a:ln w="38100">
            <a:solidFill>
              <a:schemeClr val="tx1"/>
            </a:solidFill>
          </a:ln>
        </p:spPr>
        <p:txBody>
          <a:bodyPr wrap="square">
            <a:spAutoFit/>
          </a:bodyPr>
          <a:lstStyle/>
          <a:p>
            <a:pPr>
              <a:buNone/>
            </a:pPr>
            <a:r>
              <a:rPr lang="en-IN" sz="2000" b="1" u="sng" dirty="0">
                <a:solidFill>
                  <a:srgbClr val="FF0000"/>
                </a:solidFill>
              </a:rPr>
              <a:t>Measures (Facts)</a:t>
            </a:r>
          </a:p>
          <a:p>
            <a:pPr>
              <a:buNone/>
            </a:pPr>
            <a:endParaRPr lang="en-IN" dirty="0"/>
          </a:p>
          <a:p>
            <a:pPr>
              <a:buNone/>
            </a:pPr>
            <a:r>
              <a:rPr lang="en-IN" dirty="0"/>
              <a:t>Measures are </a:t>
            </a:r>
            <a:r>
              <a:rPr lang="en-IN" b="1" dirty="0"/>
              <a:t>quantitative values</a:t>
            </a:r>
            <a:r>
              <a:rPr lang="en-IN" dirty="0"/>
              <a:t> that represent </a:t>
            </a:r>
            <a:r>
              <a:rPr lang="en-IN" b="1" dirty="0"/>
              <a:t>what is being measured</a:t>
            </a:r>
            <a:r>
              <a:rPr lang="en-IN" dirty="0"/>
              <a:t> in the business process.</a:t>
            </a:r>
            <a:br>
              <a:rPr lang="en-IN" dirty="0"/>
            </a:br>
            <a:endParaRPr lang="en-IN" dirty="0"/>
          </a:p>
          <a:p>
            <a:pPr>
              <a:buNone/>
            </a:pPr>
            <a:r>
              <a:rPr lang="en-IN" dirty="0"/>
              <a:t>They are usually </a:t>
            </a:r>
            <a:r>
              <a:rPr lang="en-IN" b="1" dirty="0"/>
              <a:t>numeric</a:t>
            </a:r>
            <a:r>
              <a:rPr lang="en-IN" dirty="0"/>
              <a:t> and used for calculations and analysis.</a:t>
            </a:r>
          </a:p>
          <a:p>
            <a:pPr>
              <a:buNone/>
            </a:pPr>
            <a:endParaRPr lang="en-IN" dirty="0"/>
          </a:p>
          <a:p>
            <a:pPr>
              <a:buNone/>
            </a:pPr>
            <a:r>
              <a:rPr lang="en-IN" dirty="0"/>
              <a:t>Measures answer questions like:</a:t>
            </a:r>
          </a:p>
          <a:p>
            <a:pPr>
              <a:buFont typeface="Arial" panose="020B0604020202020204" pitchFamily="34" charset="0"/>
              <a:buChar char="•"/>
            </a:pPr>
            <a:r>
              <a:rPr lang="en-IN" dirty="0"/>
              <a:t>How much?</a:t>
            </a:r>
          </a:p>
          <a:p>
            <a:pPr>
              <a:buFont typeface="Arial" panose="020B0604020202020204" pitchFamily="34" charset="0"/>
              <a:buChar char="•"/>
            </a:pPr>
            <a:r>
              <a:rPr lang="en-IN" dirty="0"/>
              <a:t>How many?</a:t>
            </a:r>
          </a:p>
          <a:p>
            <a:pPr>
              <a:buFont typeface="Arial" panose="020B0604020202020204" pitchFamily="34" charset="0"/>
              <a:buChar char="•"/>
            </a:pPr>
            <a:r>
              <a:rPr lang="en-IN" dirty="0"/>
              <a:t>What is the total or average?</a:t>
            </a:r>
          </a:p>
          <a:p>
            <a:pPr>
              <a:buNone/>
            </a:pPr>
            <a:endParaRPr lang="en-IN" dirty="0"/>
          </a:p>
          <a:p>
            <a:pPr>
              <a:buNone/>
            </a:pPr>
            <a:r>
              <a:rPr lang="en-IN" dirty="0"/>
              <a:t>Examples:</a:t>
            </a:r>
          </a:p>
          <a:p>
            <a:pPr>
              <a:buFont typeface="Arial" panose="020B0604020202020204" pitchFamily="34" charset="0"/>
              <a:buChar char="•"/>
            </a:pPr>
            <a:r>
              <a:rPr lang="en-IN" dirty="0"/>
              <a:t>Sales amount</a:t>
            </a:r>
          </a:p>
          <a:p>
            <a:pPr>
              <a:buFont typeface="Arial" panose="020B0604020202020204" pitchFamily="34" charset="0"/>
              <a:buChar char="•"/>
            </a:pPr>
            <a:r>
              <a:rPr lang="en-IN" dirty="0"/>
              <a:t>Units sold</a:t>
            </a:r>
          </a:p>
          <a:p>
            <a:pPr>
              <a:buFont typeface="Arial" panose="020B0604020202020204" pitchFamily="34" charset="0"/>
              <a:buChar char="•"/>
            </a:pPr>
            <a:r>
              <a:rPr lang="en-IN" dirty="0"/>
              <a:t>Marks obtained</a:t>
            </a:r>
          </a:p>
          <a:p>
            <a:pPr>
              <a:buFont typeface="Arial" panose="020B0604020202020204" pitchFamily="34" charset="0"/>
              <a:buChar char="•"/>
            </a:pPr>
            <a:r>
              <a:rPr lang="en-IN" dirty="0"/>
              <a:t>Treatment cost</a:t>
            </a:r>
          </a:p>
          <a:p>
            <a:pPr>
              <a:buNone/>
            </a:pPr>
            <a:endParaRPr lang="en-IN" dirty="0"/>
          </a:p>
          <a:p>
            <a:pPr>
              <a:buNone/>
            </a:pPr>
            <a:r>
              <a:rPr lang="en-IN" dirty="0"/>
              <a:t>In a sales system, </a:t>
            </a:r>
            <a:r>
              <a:rPr lang="en-IN" b="1" dirty="0"/>
              <a:t>sales amount and quantity sold</a:t>
            </a:r>
            <a:r>
              <a:rPr lang="en-IN" dirty="0"/>
              <a:t> are typical measures.</a:t>
            </a:r>
          </a:p>
        </p:txBody>
      </p:sp>
    </p:spTree>
    <p:extLst>
      <p:ext uri="{BB962C8B-B14F-4D97-AF65-F5344CB8AC3E}">
        <p14:creationId xmlns:p14="http://schemas.microsoft.com/office/powerpoint/2010/main" val="2333525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03D90-14FA-FE5C-BFA1-87E20AB587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42852C-916E-D7EE-0027-37A9A941DB43}"/>
              </a:ext>
            </a:extLst>
          </p:cNvPr>
          <p:cNvSpPr txBox="1"/>
          <p:nvPr/>
        </p:nvSpPr>
        <p:spPr>
          <a:xfrm>
            <a:off x="675290" y="200654"/>
            <a:ext cx="4737538" cy="6217087"/>
          </a:xfrm>
          <a:prstGeom prst="rect">
            <a:avLst/>
          </a:prstGeom>
          <a:noFill/>
          <a:ln w="38100">
            <a:solidFill>
              <a:schemeClr val="tx1"/>
            </a:solidFill>
          </a:ln>
        </p:spPr>
        <p:txBody>
          <a:bodyPr wrap="square">
            <a:spAutoFit/>
          </a:bodyPr>
          <a:lstStyle/>
          <a:p>
            <a:pPr>
              <a:buNone/>
            </a:pPr>
            <a:r>
              <a:rPr lang="en-IN" sz="2000" b="1" u="sng" dirty="0">
                <a:solidFill>
                  <a:srgbClr val="FF0000"/>
                </a:solidFill>
              </a:rPr>
              <a:t>Dimensions</a:t>
            </a:r>
          </a:p>
          <a:p>
            <a:pPr>
              <a:buNone/>
            </a:pPr>
            <a:endParaRPr lang="en-IN" dirty="0"/>
          </a:p>
          <a:p>
            <a:pPr>
              <a:buNone/>
            </a:pPr>
            <a:r>
              <a:rPr lang="en-IN" dirty="0"/>
              <a:t>Dimensions represent the </a:t>
            </a:r>
            <a:r>
              <a:rPr lang="en-IN" b="1" dirty="0"/>
              <a:t>perspectives or angles</a:t>
            </a:r>
            <a:r>
              <a:rPr lang="en-IN" dirty="0"/>
              <a:t> from which the business wants to </a:t>
            </a:r>
            <a:r>
              <a:rPr lang="en-IN" dirty="0" err="1"/>
              <a:t>analyze</a:t>
            </a:r>
            <a:r>
              <a:rPr lang="en-IN" dirty="0"/>
              <a:t> the measures.</a:t>
            </a:r>
          </a:p>
          <a:p>
            <a:pPr>
              <a:buNone/>
            </a:pPr>
            <a:endParaRPr lang="en-IN" dirty="0"/>
          </a:p>
          <a:p>
            <a:pPr>
              <a:buNone/>
            </a:pPr>
            <a:r>
              <a:rPr lang="en-IN" dirty="0"/>
              <a:t>They answer questions like:</a:t>
            </a:r>
          </a:p>
          <a:p>
            <a:pPr>
              <a:buFont typeface="Arial" panose="020B0604020202020204" pitchFamily="34" charset="0"/>
              <a:buChar char="•"/>
            </a:pPr>
            <a:r>
              <a:rPr lang="en-IN" dirty="0"/>
              <a:t>By whom?</a:t>
            </a:r>
          </a:p>
          <a:p>
            <a:pPr>
              <a:buFont typeface="Arial" panose="020B0604020202020204" pitchFamily="34" charset="0"/>
              <a:buChar char="•"/>
            </a:pPr>
            <a:r>
              <a:rPr lang="en-IN" dirty="0"/>
              <a:t>When?</a:t>
            </a:r>
          </a:p>
          <a:p>
            <a:pPr>
              <a:buFont typeface="Arial" panose="020B0604020202020204" pitchFamily="34" charset="0"/>
              <a:buChar char="•"/>
            </a:pPr>
            <a:r>
              <a:rPr lang="en-IN" dirty="0"/>
              <a:t>Where?</a:t>
            </a:r>
          </a:p>
          <a:p>
            <a:pPr>
              <a:buFont typeface="Arial" panose="020B0604020202020204" pitchFamily="34" charset="0"/>
              <a:buChar char="•"/>
            </a:pPr>
            <a:r>
              <a:rPr lang="en-IN" dirty="0"/>
              <a:t>What type?</a:t>
            </a:r>
          </a:p>
          <a:p>
            <a:pPr>
              <a:buNone/>
            </a:pPr>
            <a:endParaRPr lang="en-IN" dirty="0"/>
          </a:p>
          <a:p>
            <a:pPr>
              <a:buNone/>
            </a:pPr>
            <a:r>
              <a:rPr lang="en-IN" dirty="0"/>
              <a:t>Common dimensions include:</a:t>
            </a:r>
          </a:p>
          <a:p>
            <a:pPr>
              <a:buFont typeface="Arial" panose="020B0604020202020204" pitchFamily="34" charset="0"/>
              <a:buChar char="•"/>
            </a:pPr>
            <a:r>
              <a:rPr lang="en-IN" dirty="0"/>
              <a:t>Time</a:t>
            </a:r>
          </a:p>
          <a:p>
            <a:pPr>
              <a:buFont typeface="Arial" panose="020B0604020202020204" pitchFamily="34" charset="0"/>
              <a:buChar char="•"/>
            </a:pPr>
            <a:r>
              <a:rPr lang="en-IN" dirty="0"/>
              <a:t>Customer</a:t>
            </a:r>
          </a:p>
          <a:p>
            <a:pPr>
              <a:buFont typeface="Arial" panose="020B0604020202020204" pitchFamily="34" charset="0"/>
              <a:buChar char="•"/>
            </a:pPr>
            <a:r>
              <a:rPr lang="en-IN" dirty="0"/>
              <a:t>Product</a:t>
            </a:r>
          </a:p>
          <a:p>
            <a:pPr>
              <a:buFont typeface="Arial" panose="020B0604020202020204" pitchFamily="34" charset="0"/>
              <a:buChar char="•"/>
            </a:pPr>
            <a:r>
              <a:rPr lang="en-IN" dirty="0"/>
              <a:t>Department</a:t>
            </a:r>
          </a:p>
          <a:p>
            <a:pPr>
              <a:buNone/>
            </a:pPr>
            <a:endParaRPr lang="en-IN" dirty="0"/>
          </a:p>
          <a:p>
            <a:pPr>
              <a:buNone/>
            </a:pPr>
            <a:r>
              <a:rPr lang="en-IN" dirty="0"/>
              <a:t>For example, sales can be </a:t>
            </a:r>
            <a:r>
              <a:rPr lang="en-IN" dirty="0" err="1"/>
              <a:t>analyzed</a:t>
            </a:r>
            <a:r>
              <a:rPr lang="en-IN" dirty="0"/>
              <a:t>:</a:t>
            </a:r>
          </a:p>
          <a:p>
            <a:pPr>
              <a:buFont typeface="Arial" panose="020B0604020202020204" pitchFamily="34" charset="0"/>
              <a:buChar char="•"/>
            </a:pPr>
            <a:r>
              <a:rPr lang="en-IN" dirty="0"/>
              <a:t>By year (Time dimension)</a:t>
            </a:r>
          </a:p>
          <a:p>
            <a:pPr>
              <a:buFont typeface="Arial" panose="020B0604020202020204" pitchFamily="34" charset="0"/>
              <a:buChar char="•"/>
            </a:pPr>
            <a:r>
              <a:rPr lang="en-IN" dirty="0"/>
              <a:t>By product (Product dimension)</a:t>
            </a:r>
          </a:p>
          <a:p>
            <a:pPr>
              <a:buFont typeface="Arial" panose="020B0604020202020204" pitchFamily="34" charset="0"/>
              <a:buChar char="•"/>
            </a:pPr>
            <a:r>
              <a:rPr lang="en-IN" dirty="0"/>
              <a:t>By customer (Customer dimension)</a:t>
            </a:r>
          </a:p>
        </p:txBody>
      </p:sp>
      <p:sp>
        <p:nvSpPr>
          <p:cNvPr id="5" name="TextBox 4">
            <a:extLst>
              <a:ext uri="{FF2B5EF4-FFF2-40B4-BE49-F238E27FC236}">
                <a16:creationId xmlns:a16="http://schemas.microsoft.com/office/drawing/2014/main" id="{31819C66-BA82-4EE6-A7E1-0D211B25D3EF}"/>
              </a:ext>
            </a:extLst>
          </p:cNvPr>
          <p:cNvSpPr txBox="1"/>
          <p:nvPr/>
        </p:nvSpPr>
        <p:spPr>
          <a:xfrm>
            <a:off x="5919953" y="200654"/>
            <a:ext cx="4285592" cy="6217087"/>
          </a:xfrm>
          <a:prstGeom prst="rect">
            <a:avLst/>
          </a:prstGeom>
          <a:noFill/>
          <a:ln w="38100">
            <a:solidFill>
              <a:schemeClr val="tx1"/>
            </a:solidFill>
          </a:ln>
        </p:spPr>
        <p:txBody>
          <a:bodyPr wrap="square">
            <a:spAutoFit/>
          </a:bodyPr>
          <a:lstStyle/>
          <a:p>
            <a:pPr>
              <a:buNone/>
            </a:pPr>
            <a:r>
              <a:rPr lang="en-IN" sz="2000" b="1" u="sng" dirty="0">
                <a:solidFill>
                  <a:srgbClr val="FF0000"/>
                </a:solidFill>
              </a:rPr>
              <a:t>Attributes</a:t>
            </a:r>
          </a:p>
          <a:p>
            <a:pPr>
              <a:buNone/>
            </a:pPr>
            <a:endParaRPr lang="en-IN" dirty="0"/>
          </a:p>
          <a:p>
            <a:pPr>
              <a:buNone/>
            </a:pPr>
            <a:r>
              <a:rPr lang="en-IN" dirty="0"/>
              <a:t>Attributes are </a:t>
            </a:r>
            <a:r>
              <a:rPr lang="en-IN" b="1" dirty="0"/>
              <a:t>descriptive properties of dimensions</a:t>
            </a:r>
            <a:r>
              <a:rPr lang="en-IN" dirty="0"/>
              <a:t>.</a:t>
            </a:r>
            <a:br>
              <a:rPr lang="en-IN" dirty="0"/>
            </a:br>
            <a:endParaRPr lang="en-IN" dirty="0"/>
          </a:p>
          <a:p>
            <a:pPr>
              <a:buNone/>
            </a:pPr>
            <a:r>
              <a:rPr lang="en-IN" dirty="0"/>
              <a:t>They provide </a:t>
            </a:r>
            <a:r>
              <a:rPr lang="en-IN" b="1" dirty="0"/>
              <a:t>more detail</a:t>
            </a:r>
            <a:r>
              <a:rPr lang="en-IN" dirty="0"/>
              <a:t> about each dimension.</a:t>
            </a:r>
          </a:p>
          <a:p>
            <a:pPr>
              <a:buNone/>
            </a:pPr>
            <a:endParaRPr lang="en-IN" dirty="0"/>
          </a:p>
          <a:p>
            <a:pPr>
              <a:buNone/>
            </a:pPr>
            <a:r>
              <a:rPr lang="en-IN" dirty="0"/>
              <a:t>For example:</a:t>
            </a:r>
          </a:p>
          <a:p>
            <a:pPr>
              <a:buNone/>
            </a:pPr>
            <a:endParaRPr lang="en-IN" dirty="0"/>
          </a:p>
          <a:p>
            <a:pPr>
              <a:buFont typeface="Arial" panose="020B0604020202020204" pitchFamily="34" charset="0"/>
              <a:buChar char="•"/>
            </a:pPr>
            <a:r>
              <a:rPr lang="en-IN" dirty="0"/>
              <a:t>Time dimension → year, month, quarter</a:t>
            </a:r>
          </a:p>
          <a:p>
            <a:pPr>
              <a:buFont typeface="Arial" panose="020B0604020202020204" pitchFamily="34" charset="0"/>
              <a:buChar char="•"/>
            </a:pPr>
            <a:r>
              <a:rPr lang="en-IN" dirty="0"/>
              <a:t>Student dimension → name, gender, department</a:t>
            </a:r>
          </a:p>
          <a:p>
            <a:pPr>
              <a:buFont typeface="Arial" panose="020B0604020202020204" pitchFamily="34" charset="0"/>
              <a:buChar char="•"/>
            </a:pPr>
            <a:r>
              <a:rPr lang="en-IN" dirty="0"/>
              <a:t>Product dimension → category, brand, size</a:t>
            </a:r>
          </a:p>
          <a:p>
            <a:pPr>
              <a:buNone/>
            </a:pPr>
            <a:endParaRPr lang="en-IN" dirty="0"/>
          </a:p>
          <a:p>
            <a:pPr>
              <a:buNone/>
            </a:pPr>
            <a:r>
              <a:rPr lang="en-IN" dirty="0"/>
              <a:t>Attributes help users </a:t>
            </a:r>
            <a:r>
              <a:rPr lang="en-IN" b="1" dirty="0"/>
              <a:t>filter, group, and drill down</a:t>
            </a:r>
            <a:r>
              <a:rPr lang="en-IN" dirty="0"/>
              <a:t> data during analysis.</a:t>
            </a:r>
          </a:p>
          <a:p>
            <a:pPr>
              <a:buNone/>
            </a:pPr>
            <a:endParaRPr lang="en-IN" dirty="0"/>
          </a:p>
          <a:p>
            <a:pPr>
              <a:buNone/>
            </a:pPr>
            <a:endParaRPr lang="en-IN" dirty="0"/>
          </a:p>
          <a:p>
            <a:pPr>
              <a:buNone/>
            </a:pPr>
            <a:endParaRPr lang="en-IN" dirty="0"/>
          </a:p>
        </p:txBody>
      </p:sp>
    </p:spTree>
    <p:extLst>
      <p:ext uri="{BB962C8B-B14F-4D97-AF65-F5344CB8AC3E}">
        <p14:creationId xmlns:p14="http://schemas.microsoft.com/office/powerpoint/2010/main" val="1241626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BF90-0F7A-44AA-391B-A32C40BCC8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DBF8F4-C285-18AD-ACBA-C03CD3E1D730}"/>
              </a:ext>
            </a:extLst>
          </p:cNvPr>
          <p:cNvSpPr txBox="1"/>
          <p:nvPr/>
        </p:nvSpPr>
        <p:spPr>
          <a:xfrm>
            <a:off x="1152197" y="176583"/>
            <a:ext cx="9887606" cy="6463308"/>
          </a:xfrm>
          <a:prstGeom prst="rect">
            <a:avLst/>
          </a:prstGeom>
          <a:noFill/>
        </p:spPr>
        <p:txBody>
          <a:bodyPr wrap="square">
            <a:spAutoFit/>
          </a:bodyPr>
          <a:lstStyle/>
          <a:p>
            <a:pPr>
              <a:buNone/>
            </a:pPr>
            <a:r>
              <a:rPr lang="en-IN" sz="3600" b="1" u="sng" dirty="0">
                <a:solidFill>
                  <a:srgbClr val="FF3300"/>
                </a:solidFill>
              </a:rPr>
              <a:t>Information Package vs ER Model</a:t>
            </a:r>
          </a:p>
          <a:p>
            <a:pPr>
              <a:buNone/>
            </a:pPr>
            <a:endParaRPr lang="en-IN" dirty="0"/>
          </a:p>
          <a:p>
            <a:pPr>
              <a:buNone/>
            </a:pPr>
            <a:r>
              <a:rPr lang="en-IN" sz="2400" dirty="0"/>
              <a:t>An </a:t>
            </a:r>
            <a:r>
              <a:rPr lang="en-IN" sz="2400" b="1" dirty="0"/>
              <a:t>Information Package</a:t>
            </a:r>
            <a:r>
              <a:rPr lang="en-IN" sz="2400" dirty="0"/>
              <a:t> focuses on:</a:t>
            </a:r>
          </a:p>
          <a:p>
            <a:pPr>
              <a:buFont typeface="Arial" panose="020B0604020202020204" pitchFamily="34" charset="0"/>
              <a:buChar char="•"/>
            </a:pPr>
            <a:r>
              <a:rPr lang="en-IN" sz="2400" dirty="0"/>
              <a:t>Business questions</a:t>
            </a:r>
          </a:p>
          <a:p>
            <a:pPr>
              <a:buFont typeface="Arial" panose="020B0604020202020204" pitchFamily="34" charset="0"/>
              <a:buChar char="•"/>
            </a:pPr>
            <a:r>
              <a:rPr lang="en-IN" sz="2400" dirty="0"/>
              <a:t>Analysis requirements</a:t>
            </a:r>
          </a:p>
          <a:p>
            <a:pPr>
              <a:buFont typeface="Arial" panose="020B0604020202020204" pitchFamily="34" charset="0"/>
              <a:buChar char="•"/>
            </a:pPr>
            <a:r>
              <a:rPr lang="en-IN" sz="2400" dirty="0"/>
              <a:t>Decision support</a:t>
            </a:r>
          </a:p>
          <a:p>
            <a:pPr>
              <a:buNone/>
            </a:pPr>
            <a:endParaRPr lang="en-IN" sz="2400" dirty="0"/>
          </a:p>
          <a:p>
            <a:pPr>
              <a:buNone/>
            </a:pPr>
            <a:r>
              <a:rPr lang="en-IN" sz="2400" dirty="0"/>
              <a:t>An </a:t>
            </a:r>
            <a:r>
              <a:rPr lang="en-IN" sz="2400" b="1" dirty="0"/>
              <a:t>ER Model</a:t>
            </a:r>
            <a:r>
              <a:rPr lang="en-IN" sz="2400" dirty="0"/>
              <a:t> focuses on:</a:t>
            </a:r>
          </a:p>
          <a:p>
            <a:pPr>
              <a:buFont typeface="Arial" panose="020B0604020202020204" pitchFamily="34" charset="0"/>
              <a:buChar char="•"/>
            </a:pPr>
            <a:r>
              <a:rPr lang="en-IN" sz="2400" dirty="0"/>
              <a:t>Data storage</a:t>
            </a:r>
          </a:p>
          <a:p>
            <a:pPr>
              <a:buFont typeface="Arial" panose="020B0604020202020204" pitchFamily="34" charset="0"/>
              <a:buChar char="•"/>
            </a:pPr>
            <a:r>
              <a:rPr lang="en-IN" sz="2400" dirty="0"/>
              <a:t>Relationships between entities</a:t>
            </a:r>
          </a:p>
          <a:p>
            <a:pPr>
              <a:buFont typeface="Arial" panose="020B0604020202020204" pitchFamily="34" charset="0"/>
              <a:buChar char="•"/>
            </a:pPr>
            <a:r>
              <a:rPr lang="en-IN" sz="2400" dirty="0"/>
              <a:t>Operational systems</a:t>
            </a:r>
          </a:p>
          <a:p>
            <a:pPr>
              <a:buNone/>
            </a:pPr>
            <a:endParaRPr lang="en-IN" sz="2400" dirty="0"/>
          </a:p>
          <a:p>
            <a:pPr>
              <a:buNone/>
            </a:pPr>
            <a:r>
              <a:rPr lang="en-IN" sz="2400" dirty="0"/>
              <a:t>Information packages are </a:t>
            </a:r>
            <a:r>
              <a:rPr lang="en-IN" sz="2400" b="1" dirty="0"/>
              <a:t>analysis-oriented</a:t>
            </a:r>
            <a:r>
              <a:rPr lang="en-IN" sz="2400" dirty="0"/>
              <a:t>, while ER models are </a:t>
            </a:r>
            <a:r>
              <a:rPr lang="en-IN" sz="2400" b="1" dirty="0"/>
              <a:t>transaction-oriented</a:t>
            </a:r>
            <a:r>
              <a:rPr lang="en-IN" sz="2400" dirty="0"/>
              <a:t>.</a:t>
            </a:r>
            <a:br>
              <a:rPr lang="en-IN" sz="2400" dirty="0"/>
            </a:br>
            <a:endParaRPr lang="en-IN" sz="2400" dirty="0"/>
          </a:p>
          <a:p>
            <a:pPr>
              <a:buNone/>
            </a:pPr>
            <a:r>
              <a:rPr lang="en-IN" sz="2400" dirty="0"/>
              <a:t>That is why information packages are used </a:t>
            </a:r>
            <a:r>
              <a:rPr lang="en-IN" sz="2400" b="1" dirty="0"/>
              <a:t>before dimensional modelling</a:t>
            </a:r>
            <a:r>
              <a:rPr lang="en-IN" sz="2400" dirty="0"/>
              <a:t>, not ER models.</a:t>
            </a:r>
          </a:p>
        </p:txBody>
      </p:sp>
    </p:spTree>
    <p:extLst>
      <p:ext uri="{BB962C8B-B14F-4D97-AF65-F5344CB8AC3E}">
        <p14:creationId xmlns:p14="http://schemas.microsoft.com/office/powerpoint/2010/main" val="1106731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1C711-7C25-ADBE-A837-FAE92E3DF6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4567D2-13DF-3640-613A-2E8E92F0A522}"/>
              </a:ext>
            </a:extLst>
          </p:cNvPr>
          <p:cNvSpPr txBox="1"/>
          <p:nvPr/>
        </p:nvSpPr>
        <p:spPr>
          <a:xfrm>
            <a:off x="1116725" y="148471"/>
            <a:ext cx="9761482" cy="6340197"/>
          </a:xfrm>
          <a:prstGeom prst="rect">
            <a:avLst/>
          </a:prstGeom>
          <a:noFill/>
        </p:spPr>
        <p:txBody>
          <a:bodyPr wrap="square">
            <a:spAutoFit/>
          </a:bodyPr>
          <a:lstStyle/>
          <a:p>
            <a:pPr>
              <a:buNone/>
            </a:pPr>
            <a:r>
              <a:rPr lang="en-IN" sz="2800" b="1" u="sng" dirty="0">
                <a:solidFill>
                  <a:srgbClr val="C00000"/>
                </a:solidFill>
              </a:rPr>
              <a:t>Example Information Package – Sales Analysis</a:t>
            </a:r>
          </a:p>
          <a:p>
            <a:pPr>
              <a:buNone/>
            </a:pPr>
            <a:endParaRPr lang="en-IN" dirty="0"/>
          </a:p>
          <a:p>
            <a:pPr>
              <a:buNone/>
            </a:pPr>
            <a:r>
              <a:rPr lang="en-IN" sz="2400" dirty="0"/>
              <a:t>Consider a </a:t>
            </a:r>
            <a:r>
              <a:rPr lang="en-IN" sz="2400" b="1" dirty="0"/>
              <a:t>Sales Analysis Information Package</a:t>
            </a:r>
            <a:r>
              <a:rPr lang="en-IN" sz="2400" dirty="0"/>
              <a:t>:</a:t>
            </a:r>
          </a:p>
          <a:p>
            <a:pPr>
              <a:buNone/>
            </a:pPr>
            <a:endParaRPr lang="en-IN" sz="2400" dirty="0"/>
          </a:p>
          <a:p>
            <a:pPr>
              <a:buNone/>
            </a:pPr>
            <a:r>
              <a:rPr lang="en-IN" sz="2400" dirty="0"/>
              <a:t>The business wants to </a:t>
            </a:r>
            <a:r>
              <a:rPr lang="en-IN" sz="2400" dirty="0" err="1"/>
              <a:t>analyze</a:t>
            </a:r>
            <a:r>
              <a:rPr lang="en-IN" sz="2400" dirty="0"/>
              <a:t> </a:t>
            </a:r>
            <a:r>
              <a:rPr lang="en-IN" sz="2400" b="1" dirty="0"/>
              <a:t>sales performance</a:t>
            </a:r>
            <a:r>
              <a:rPr lang="en-IN" sz="2400" dirty="0"/>
              <a:t>.</a:t>
            </a:r>
          </a:p>
          <a:p>
            <a:pPr>
              <a:buFont typeface="Arial" panose="020B0604020202020204" pitchFamily="34" charset="0"/>
              <a:buChar char="•"/>
            </a:pPr>
            <a:endParaRPr lang="en-IN" sz="2400" b="1" dirty="0"/>
          </a:p>
          <a:p>
            <a:pPr>
              <a:buFont typeface="Arial" panose="020B0604020202020204" pitchFamily="34" charset="0"/>
              <a:buChar char="•"/>
            </a:pPr>
            <a:r>
              <a:rPr lang="en-IN" sz="2400" b="1" dirty="0"/>
              <a:t>Business Process</a:t>
            </a:r>
            <a:r>
              <a:rPr lang="en-IN" sz="2400" dirty="0"/>
              <a:t>: Sales</a:t>
            </a:r>
          </a:p>
          <a:p>
            <a:pPr>
              <a:buFont typeface="Arial" panose="020B0604020202020204" pitchFamily="34" charset="0"/>
              <a:buChar char="•"/>
            </a:pPr>
            <a:r>
              <a:rPr lang="en-IN" sz="2400" b="1" dirty="0"/>
              <a:t>Measures</a:t>
            </a:r>
            <a:r>
              <a:rPr lang="en-IN" sz="2400" dirty="0"/>
              <a:t>: Sales amount, units sold</a:t>
            </a:r>
          </a:p>
          <a:p>
            <a:pPr>
              <a:buFont typeface="Arial" panose="020B0604020202020204" pitchFamily="34" charset="0"/>
              <a:buChar char="•"/>
            </a:pPr>
            <a:r>
              <a:rPr lang="en-IN" sz="2400" b="1" dirty="0"/>
              <a:t>Dimensions</a:t>
            </a:r>
            <a:r>
              <a:rPr lang="en-IN" sz="2400" dirty="0"/>
              <a:t>: Time, Product, Customer, Location</a:t>
            </a:r>
          </a:p>
          <a:p>
            <a:pPr>
              <a:buFont typeface="Arial" panose="020B0604020202020204" pitchFamily="34" charset="0"/>
              <a:buChar char="•"/>
            </a:pPr>
            <a:r>
              <a:rPr lang="en-IN" sz="2400" b="1" dirty="0"/>
              <a:t>Attributes</a:t>
            </a:r>
            <a:r>
              <a:rPr lang="en-IN" sz="2400" dirty="0"/>
              <a:t>:</a:t>
            </a:r>
          </a:p>
          <a:p>
            <a:pPr marL="742950" lvl="1" indent="-285750">
              <a:buFont typeface="Arial" panose="020B0604020202020204" pitchFamily="34" charset="0"/>
              <a:buChar char="•"/>
            </a:pPr>
            <a:r>
              <a:rPr lang="en-IN" sz="2400" dirty="0"/>
              <a:t>Time → year, month</a:t>
            </a:r>
          </a:p>
          <a:p>
            <a:pPr marL="742950" lvl="1" indent="-285750">
              <a:buFont typeface="Arial" panose="020B0604020202020204" pitchFamily="34" charset="0"/>
              <a:buChar char="•"/>
            </a:pPr>
            <a:r>
              <a:rPr lang="en-IN" sz="2400" dirty="0"/>
              <a:t>Product → category, brand</a:t>
            </a:r>
          </a:p>
          <a:p>
            <a:pPr marL="742950" lvl="1" indent="-285750">
              <a:buFont typeface="Arial" panose="020B0604020202020204" pitchFamily="34" charset="0"/>
              <a:buChar char="•"/>
            </a:pPr>
            <a:r>
              <a:rPr lang="en-IN" sz="2400" dirty="0"/>
              <a:t>Customer → city, gender</a:t>
            </a:r>
          </a:p>
          <a:p>
            <a:pPr>
              <a:buNone/>
            </a:pPr>
            <a:endParaRPr lang="en-IN" sz="2400" dirty="0"/>
          </a:p>
          <a:p>
            <a:pPr>
              <a:buNone/>
            </a:pPr>
            <a:r>
              <a:rPr lang="en-IN" sz="2400" dirty="0"/>
              <a:t>This information package later helps design:</a:t>
            </a:r>
          </a:p>
          <a:p>
            <a:pPr>
              <a:buFont typeface="Arial" panose="020B0604020202020204" pitchFamily="34" charset="0"/>
              <a:buChar char="•"/>
            </a:pPr>
            <a:r>
              <a:rPr lang="en-IN" sz="2400" dirty="0"/>
              <a:t>One </a:t>
            </a:r>
            <a:r>
              <a:rPr lang="en-IN" sz="2400" b="1" dirty="0"/>
              <a:t>fact table</a:t>
            </a:r>
            <a:r>
              <a:rPr lang="en-IN" sz="2400" dirty="0"/>
              <a:t> (Sales)</a:t>
            </a:r>
          </a:p>
          <a:p>
            <a:pPr>
              <a:buFont typeface="Arial" panose="020B0604020202020204" pitchFamily="34" charset="0"/>
              <a:buChar char="•"/>
            </a:pPr>
            <a:r>
              <a:rPr lang="en-IN" sz="2400" dirty="0"/>
              <a:t>Multiple </a:t>
            </a:r>
            <a:r>
              <a:rPr lang="en-IN" sz="2400" b="1" dirty="0"/>
              <a:t>dimension tables</a:t>
            </a:r>
            <a:r>
              <a:rPr lang="en-IN" sz="2400" dirty="0"/>
              <a:t> (Time, Product, Customer)</a:t>
            </a:r>
          </a:p>
        </p:txBody>
      </p:sp>
    </p:spTree>
    <p:extLst>
      <p:ext uri="{BB962C8B-B14F-4D97-AF65-F5344CB8AC3E}">
        <p14:creationId xmlns:p14="http://schemas.microsoft.com/office/powerpoint/2010/main" val="3463337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F1391-2732-6C09-6D6F-95324EBDE2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8D30D1-15CA-B369-B5B2-164FE39A25F2}"/>
              </a:ext>
            </a:extLst>
          </p:cNvPr>
          <p:cNvSpPr txBox="1"/>
          <p:nvPr/>
        </p:nvSpPr>
        <p:spPr>
          <a:xfrm>
            <a:off x="990600" y="310167"/>
            <a:ext cx="9130861" cy="5386090"/>
          </a:xfrm>
          <a:prstGeom prst="rect">
            <a:avLst/>
          </a:prstGeom>
          <a:noFill/>
        </p:spPr>
        <p:txBody>
          <a:bodyPr wrap="square">
            <a:spAutoFit/>
          </a:bodyPr>
          <a:lstStyle/>
          <a:p>
            <a:pPr>
              <a:buNone/>
            </a:pPr>
            <a:r>
              <a:rPr lang="en-IN" sz="3200" b="1" u="sng" dirty="0">
                <a:solidFill>
                  <a:srgbClr val="FF3300"/>
                </a:solidFill>
              </a:rPr>
              <a:t>Requirements Gathering Methods</a:t>
            </a:r>
          </a:p>
          <a:p>
            <a:pPr>
              <a:buNone/>
            </a:pPr>
            <a:endParaRPr lang="en-IN" sz="3200" b="1" u="sng" dirty="0">
              <a:solidFill>
                <a:srgbClr val="FF3300"/>
              </a:solidFill>
            </a:endParaRPr>
          </a:p>
          <a:p>
            <a:pPr algn="just">
              <a:buNone/>
            </a:pPr>
            <a:r>
              <a:rPr lang="en-IN" sz="2800" dirty="0"/>
              <a:t>Requirements gathering is the process of </a:t>
            </a:r>
            <a:r>
              <a:rPr lang="en-IN" sz="2800" b="1" dirty="0"/>
              <a:t>collecting, understanding, and documenting user needs</a:t>
            </a:r>
            <a:r>
              <a:rPr lang="en-IN" sz="2800" dirty="0"/>
              <a:t> before designing an information package or data warehouse. </a:t>
            </a:r>
          </a:p>
          <a:p>
            <a:pPr algn="just">
              <a:buNone/>
            </a:pPr>
            <a:endParaRPr lang="en-IN" sz="2800" dirty="0"/>
          </a:p>
          <a:p>
            <a:pPr algn="just">
              <a:buNone/>
            </a:pPr>
            <a:r>
              <a:rPr lang="en-IN" sz="2800" dirty="0"/>
              <a:t>It helps analysts clearly identify </a:t>
            </a:r>
            <a:r>
              <a:rPr lang="en-IN" sz="2800" b="1" dirty="0"/>
              <a:t>what data is required, why it is required, and how it will be used</a:t>
            </a:r>
            <a:r>
              <a:rPr lang="en-IN" sz="2800" dirty="0"/>
              <a:t>. </a:t>
            </a:r>
          </a:p>
          <a:p>
            <a:pPr algn="just">
              <a:buNone/>
            </a:pPr>
            <a:endParaRPr lang="en-IN" sz="2800" dirty="0"/>
          </a:p>
          <a:p>
            <a:pPr algn="just">
              <a:buNone/>
            </a:pPr>
            <a:r>
              <a:rPr lang="en-IN" sz="2800" dirty="0"/>
              <a:t>Various methods are used to gather accurate and complete requirements, depending on the system, users, and business environment.</a:t>
            </a:r>
          </a:p>
        </p:txBody>
      </p:sp>
    </p:spTree>
    <p:extLst>
      <p:ext uri="{BB962C8B-B14F-4D97-AF65-F5344CB8AC3E}">
        <p14:creationId xmlns:p14="http://schemas.microsoft.com/office/powerpoint/2010/main" val="2182782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2DBE9-4412-FE54-51F2-85757FF6F1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6D50C3-6517-3C35-C08B-26658718C7E0}"/>
              </a:ext>
            </a:extLst>
          </p:cNvPr>
          <p:cNvSpPr txBox="1"/>
          <p:nvPr/>
        </p:nvSpPr>
        <p:spPr>
          <a:xfrm>
            <a:off x="1001110" y="357123"/>
            <a:ext cx="3949262" cy="5724644"/>
          </a:xfrm>
          <a:prstGeom prst="rect">
            <a:avLst/>
          </a:prstGeom>
          <a:noFill/>
          <a:ln w="38100">
            <a:solidFill>
              <a:schemeClr val="tx1"/>
            </a:solidFill>
          </a:ln>
        </p:spPr>
        <p:txBody>
          <a:bodyPr wrap="square">
            <a:spAutoFit/>
          </a:bodyPr>
          <a:lstStyle/>
          <a:p>
            <a:pPr algn="ctr">
              <a:buNone/>
            </a:pPr>
            <a:r>
              <a:rPr lang="en-IN" sz="2400" b="1" u="sng" dirty="0">
                <a:solidFill>
                  <a:srgbClr val="FF3300"/>
                </a:solidFill>
              </a:rPr>
              <a:t>Interviews</a:t>
            </a:r>
          </a:p>
          <a:p>
            <a:pPr>
              <a:buNone/>
            </a:pPr>
            <a:endParaRPr lang="en-IN" b="1" dirty="0"/>
          </a:p>
          <a:p>
            <a:pPr algn="just">
              <a:buNone/>
            </a:pPr>
            <a:r>
              <a:rPr lang="en-IN" dirty="0"/>
              <a:t>Interviews involve </a:t>
            </a:r>
            <a:r>
              <a:rPr lang="en-IN" b="1" dirty="0"/>
              <a:t>direct discussion with users or stakeholders</a:t>
            </a:r>
            <a:r>
              <a:rPr lang="en-IN" dirty="0"/>
              <a:t> to understand their needs clearly. This method is useful when detailed and accurate information is required. The analyst can ask follow-up questions and clarify doubts immediately.</a:t>
            </a:r>
          </a:p>
          <a:p>
            <a:pPr algn="just">
              <a:buNone/>
            </a:pPr>
            <a:endParaRPr lang="en-IN" b="1" dirty="0"/>
          </a:p>
          <a:p>
            <a:pPr algn="just">
              <a:buNone/>
            </a:pPr>
            <a:r>
              <a:rPr lang="en-IN" b="1" dirty="0"/>
              <a:t>Example:</a:t>
            </a:r>
            <a:br>
              <a:rPr lang="en-IN" dirty="0"/>
            </a:br>
            <a:r>
              <a:rPr lang="en-IN" dirty="0"/>
              <a:t>In a university system, the analyst interviews the Dean and faculty members to understand what kind of performance reports they need. From interviews, the analyst learns that management wants </a:t>
            </a:r>
            <a:r>
              <a:rPr lang="en-IN" b="1" dirty="0"/>
              <a:t>student-wise results and subject-wise pass percentage</a:t>
            </a:r>
            <a:r>
              <a:rPr lang="en-IN" dirty="0"/>
              <a:t>.</a:t>
            </a:r>
          </a:p>
        </p:txBody>
      </p:sp>
      <p:sp>
        <p:nvSpPr>
          <p:cNvPr id="7" name="TextBox 6">
            <a:extLst>
              <a:ext uri="{FF2B5EF4-FFF2-40B4-BE49-F238E27FC236}">
                <a16:creationId xmlns:a16="http://schemas.microsoft.com/office/drawing/2014/main" id="{6AF8E4DB-42C3-7632-13A4-A31F9D8616F6}"/>
              </a:ext>
            </a:extLst>
          </p:cNvPr>
          <p:cNvSpPr txBox="1"/>
          <p:nvPr/>
        </p:nvSpPr>
        <p:spPr>
          <a:xfrm>
            <a:off x="6096000" y="357123"/>
            <a:ext cx="3949262" cy="5663089"/>
          </a:xfrm>
          <a:prstGeom prst="rect">
            <a:avLst/>
          </a:prstGeom>
          <a:noFill/>
          <a:ln w="38100">
            <a:solidFill>
              <a:schemeClr val="tx1"/>
            </a:solidFill>
          </a:ln>
        </p:spPr>
        <p:txBody>
          <a:bodyPr wrap="square">
            <a:spAutoFit/>
          </a:bodyPr>
          <a:lstStyle/>
          <a:p>
            <a:pPr algn="ctr">
              <a:buNone/>
            </a:pPr>
            <a:r>
              <a:rPr lang="en-IN" sz="2000" b="1" u="sng" dirty="0">
                <a:solidFill>
                  <a:srgbClr val="FF3300"/>
                </a:solidFill>
              </a:rPr>
              <a:t>Questionnaires</a:t>
            </a:r>
          </a:p>
          <a:p>
            <a:pPr>
              <a:buNone/>
            </a:pPr>
            <a:endParaRPr lang="en-IN" b="1" dirty="0"/>
          </a:p>
          <a:p>
            <a:pPr algn="just">
              <a:buNone/>
            </a:pPr>
            <a:r>
              <a:rPr lang="en-IN" dirty="0"/>
              <a:t>Questionnaires are a </a:t>
            </a:r>
            <a:r>
              <a:rPr lang="en-IN" b="1" dirty="0"/>
              <a:t>set of written questions</a:t>
            </a:r>
            <a:r>
              <a:rPr lang="en-IN" dirty="0"/>
              <a:t> distributed to many users at the same time. This method is useful when users are many and located at different places. It helps in collecting common requirements in a structured way.</a:t>
            </a:r>
          </a:p>
          <a:p>
            <a:pPr algn="just">
              <a:buNone/>
            </a:pPr>
            <a:endParaRPr lang="en-IN" dirty="0"/>
          </a:p>
          <a:p>
            <a:pPr algn="just">
              <a:buNone/>
            </a:pPr>
            <a:r>
              <a:rPr lang="en-IN" b="1" dirty="0"/>
              <a:t>Example:</a:t>
            </a:r>
            <a:br>
              <a:rPr lang="en-IN" dirty="0"/>
            </a:br>
            <a:r>
              <a:rPr lang="en-IN" dirty="0"/>
              <a:t>In a hospital system, questionnaires are given to doctors asking what reports they use frequently. Responses show that doctors need </a:t>
            </a:r>
            <a:r>
              <a:rPr lang="en-IN" b="1" dirty="0"/>
              <a:t>disease-wise patient count and monthly reports</a:t>
            </a:r>
            <a:r>
              <a:rPr lang="en-IN" dirty="0"/>
              <a:t>, which helps define analysis requirements.</a:t>
            </a:r>
          </a:p>
          <a:p>
            <a:pPr algn="just">
              <a:buNone/>
            </a:pPr>
            <a:endParaRPr lang="en-IN" dirty="0"/>
          </a:p>
          <a:p>
            <a:pPr algn="just">
              <a:buNone/>
            </a:pPr>
            <a:endParaRPr lang="en-IN" dirty="0"/>
          </a:p>
        </p:txBody>
      </p:sp>
    </p:spTree>
    <p:extLst>
      <p:ext uri="{BB962C8B-B14F-4D97-AF65-F5344CB8AC3E}">
        <p14:creationId xmlns:p14="http://schemas.microsoft.com/office/powerpoint/2010/main" val="3969400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C2235-5A1F-D97A-EBFA-1AD1A35781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6C7E23-4CB3-B40F-ADFD-45529BE4CC95}"/>
              </a:ext>
            </a:extLst>
          </p:cNvPr>
          <p:cNvSpPr txBox="1"/>
          <p:nvPr/>
        </p:nvSpPr>
        <p:spPr>
          <a:xfrm>
            <a:off x="1095703" y="381874"/>
            <a:ext cx="4275082" cy="4893647"/>
          </a:xfrm>
          <a:prstGeom prst="rect">
            <a:avLst/>
          </a:prstGeom>
          <a:noFill/>
          <a:ln w="38100">
            <a:solidFill>
              <a:schemeClr val="tx1"/>
            </a:solidFill>
          </a:ln>
        </p:spPr>
        <p:txBody>
          <a:bodyPr wrap="square">
            <a:spAutoFit/>
          </a:bodyPr>
          <a:lstStyle/>
          <a:p>
            <a:pPr algn="ctr">
              <a:buNone/>
            </a:pPr>
            <a:r>
              <a:rPr lang="en-IN" sz="2400" b="1" u="sng" dirty="0">
                <a:solidFill>
                  <a:srgbClr val="FF3300"/>
                </a:solidFill>
              </a:rPr>
              <a:t>Observation</a:t>
            </a:r>
          </a:p>
          <a:p>
            <a:pPr>
              <a:buNone/>
            </a:pPr>
            <a:endParaRPr lang="en-IN" b="1" dirty="0"/>
          </a:p>
          <a:p>
            <a:pPr algn="just">
              <a:buNone/>
            </a:pPr>
            <a:r>
              <a:rPr lang="en-IN" dirty="0"/>
              <a:t>Observation means the analyst </a:t>
            </a:r>
            <a:r>
              <a:rPr lang="en-IN" b="1" dirty="0"/>
              <a:t>watches users while they perform their daily work</a:t>
            </a:r>
            <a:r>
              <a:rPr lang="en-IN" dirty="0"/>
              <a:t>. This helps understand actual processes and identify requirements that users may not mention directly.</a:t>
            </a:r>
          </a:p>
          <a:p>
            <a:pPr algn="just">
              <a:buNone/>
            </a:pPr>
            <a:endParaRPr lang="en-IN" dirty="0"/>
          </a:p>
          <a:p>
            <a:pPr algn="just">
              <a:buNone/>
            </a:pPr>
            <a:r>
              <a:rPr lang="en-IN" b="1" dirty="0"/>
              <a:t>Example:</a:t>
            </a:r>
          </a:p>
          <a:p>
            <a:pPr algn="just">
              <a:buNone/>
            </a:pPr>
            <a:br>
              <a:rPr lang="en-IN" dirty="0"/>
            </a:br>
            <a:r>
              <a:rPr lang="en-IN" dirty="0"/>
              <a:t>In a sales system, by observing sales staff, the analyst notices that sales are manually summarized every month. This reveals the need for </a:t>
            </a:r>
            <a:r>
              <a:rPr lang="en-IN" b="1" dirty="0"/>
              <a:t>automatic monthly and yearly sales analysis</a:t>
            </a:r>
            <a:r>
              <a:rPr lang="en-IN" dirty="0"/>
              <a:t>.</a:t>
            </a:r>
          </a:p>
          <a:p>
            <a:pPr algn="just">
              <a:buNone/>
            </a:pPr>
            <a:endParaRPr lang="en-IN" dirty="0"/>
          </a:p>
        </p:txBody>
      </p:sp>
      <p:sp>
        <p:nvSpPr>
          <p:cNvPr id="5" name="TextBox 4">
            <a:extLst>
              <a:ext uri="{FF2B5EF4-FFF2-40B4-BE49-F238E27FC236}">
                <a16:creationId xmlns:a16="http://schemas.microsoft.com/office/drawing/2014/main" id="{184F29D2-5385-9C57-CF06-C57252E7E043}"/>
              </a:ext>
            </a:extLst>
          </p:cNvPr>
          <p:cNvSpPr txBox="1"/>
          <p:nvPr/>
        </p:nvSpPr>
        <p:spPr>
          <a:xfrm>
            <a:off x="6821217" y="381874"/>
            <a:ext cx="4180489" cy="4801314"/>
          </a:xfrm>
          <a:prstGeom prst="rect">
            <a:avLst/>
          </a:prstGeom>
          <a:noFill/>
          <a:ln w="38100">
            <a:solidFill>
              <a:schemeClr val="tx1"/>
            </a:solidFill>
          </a:ln>
        </p:spPr>
        <p:txBody>
          <a:bodyPr wrap="square">
            <a:spAutoFit/>
          </a:bodyPr>
          <a:lstStyle/>
          <a:p>
            <a:pPr algn="ctr">
              <a:buNone/>
            </a:pPr>
            <a:r>
              <a:rPr lang="en-IN" sz="2400" b="1" u="sng" dirty="0">
                <a:solidFill>
                  <a:srgbClr val="FF3300"/>
                </a:solidFill>
              </a:rPr>
              <a:t>Existing Reports and Documents</a:t>
            </a:r>
          </a:p>
          <a:p>
            <a:pPr algn="just">
              <a:buNone/>
            </a:pPr>
            <a:endParaRPr lang="en-IN" sz="2400" b="1" u="sng" dirty="0">
              <a:solidFill>
                <a:srgbClr val="FF3300"/>
              </a:solidFill>
            </a:endParaRPr>
          </a:p>
          <a:p>
            <a:pPr algn="just">
              <a:buNone/>
            </a:pPr>
            <a:r>
              <a:rPr lang="en-IN" dirty="0"/>
              <a:t>Existing reports and documents show </a:t>
            </a:r>
            <a:r>
              <a:rPr lang="en-IN" b="1" dirty="0"/>
              <a:t>what information is already important</a:t>
            </a:r>
            <a:r>
              <a:rPr lang="en-IN" dirty="0"/>
              <a:t> to the organization. Studying them helps identify commonly used measures and dimensions.</a:t>
            </a:r>
          </a:p>
          <a:p>
            <a:pPr algn="just">
              <a:buNone/>
            </a:pPr>
            <a:r>
              <a:rPr lang="en-IN" b="1" dirty="0"/>
              <a:t>Example:</a:t>
            </a:r>
            <a:br>
              <a:rPr lang="en-IN" dirty="0"/>
            </a:br>
            <a:r>
              <a:rPr lang="en-IN" dirty="0"/>
              <a:t>In a university, </a:t>
            </a:r>
            <a:r>
              <a:rPr lang="en-IN" dirty="0" err="1"/>
              <a:t>analyzing</a:t>
            </a:r>
            <a:r>
              <a:rPr lang="en-IN" dirty="0"/>
              <a:t> previous result sheets and academic reports helps identify requirements like </a:t>
            </a:r>
            <a:r>
              <a:rPr lang="en-IN" b="1" dirty="0"/>
              <a:t>semester-wise results, average marks, and year-wise performance trends</a:t>
            </a:r>
            <a:r>
              <a:rPr lang="en-IN" dirty="0"/>
              <a:t>.</a:t>
            </a:r>
          </a:p>
        </p:txBody>
      </p:sp>
    </p:spTree>
    <p:extLst>
      <p:ext uri="{BB962C8B-B14F-4D97-AF65-F5344CB8AC3E}">
        <p14:creationId xmlns:p14="http://schemas.microsoft.com/office/powerpoint/2010/main" val="41722261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F0A70-3732-4E88-72CA-689958C375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614381-4F02-AF3C-A093-9C4013B33F18}"/>
              </a:ext>
            </a:extLst>
          </p:cNvPr>
          <p:cNvSpPr txBox="1"/>
          <p:nvPr/>
        </p:nvSpPr>
        <p:spPr>
          <a:xfrm>
            <a:off x="930165" y="222180"/>
            <a:ext cx="10331669" cy="5570756"/>
          </a:xfrm>
          <a:prstGeom prst="rect">
            <a:avLst/>
          </a:prstGeom>
          <a:noFill/>
        </p:spPr>
        <p:txBody>
          <a:bodyPr wrap="square">
            <a:spAutoFit/>
          </a:bodyPr>
          <a:lstStyle/>
          <a:p>
            <a:pPr algn="just">
              <a:buNone/>
            </a:pPr>
            <a:r>
              <a:rPr lang="en-IN" sz="2000" b="1" dirty="0">
                <a:solidFill>
                  <a:srgbClr val="FF0000"/>
                </a:solidFill>
              </a:rPr>
              <a:t>Case Study Question</a:t>
            </a:r>
          </a:p>
          <a:p>
            <a:pPr algn="just">
              <a:buNone/>
            </a:pPr>
            <a:endParaRPr lang="en-IN" sz="2000" b="1" dirty="0">
              <a:solidFill>
                <a:srgbClr val="FF0000"/>
              </a:solidFill>
            </a:endParaRPr>
          </a:p>
          <a:p>
            <a:pPr algn="just">
              <a:buNone/>
            </a:pPr>
            <a:r>
              <a:rPr lang="en-IN" sz="2000" dirty="0">
                <a:solidFill>
                  <a:srgbClr val="FF0000"/>
                </a:solidFill>
              </a:rPr>
              <a:t>A university wants to improve academic decision-making. The management wants to </a:t>
            </a:r>
            <a:r>
              <a:rPr lang="en-IN" sz="2000" dirty="0" err="1">
                <a:solidFill>
                  <a:srgbClr val="FF0000"/>
                </a:solidFill>
              </a:rPr>
              <a:t>analyze</a:t>
            </a:r>
            <a:r>
              <a:rPr lang="en-IN" sz="2000" dirty="0">
                <a:solidFill>
                  <a:srgbClr val="FF0000"/>
                </a:solidFill>
              </a:rPr>
              <a:t> </a:t>
            </a:r>
            <a:r>
              <a:rPr lang="en-IN" sz="2000" b="1" dirty="0">
                <a:solidFill>
                  <a:srgbClr val="FF0000"/>
                </a:solidFill>
              </a:rPr>
              <a:t>student performance over different years</a:t>
            </a:r>
            <a:r>
              <a:rPr lang="en-IN" sz="2000" dirty="0">
                <a:solidFill>
                  <a:srgbClr val="FF0000"/>
                </a:solidFill>
              </a:rPr>
              <a:t>, </a:t>
            </a:r>
            <a:r>
              <a:rPr lang="en-IN" sz="2000" b="1" dirty="0">
                <a:solidFill>
                  <a:srgbClr val="FF0000"/>
                </a:solidFill>
              </a:rPr>
              <a:t>subject-wise results</a:t>
            </a:r>
            <a:r>
              <a:rPr lang="en-IN" sz="2000" dirty="0">
                <a:solidFill>
                  <a:srgbClr val="FF0000"/>
                </a:solidFill>
              </a:rPr>
              <a:t>, and </a:t>
            </a:r>
            <a:r>
              <a:rPr lang="en-IN" sz="2000" b="1" dirty="0">
                <a:solidFill>
                  <a:srgbClr val="FF0000"/>
                </a:solidFill>
              </a:rPr>
              <a:t>department-wise trends</a:t>
            </a:r>
            <a:r>
              <a:rPr lang="en-IN" sz="2000" dirty="0">
                <a:solidFill>
                  <a:srgbClr val="FF0000"/>
                </a:solidFill>
              </a:rPr>
              <a:t>.</a:t>
            </a:r>
            <a:br>
              <a:rPr lang="en-IN" sz="2000" dirty="0">
                <a:solidFill>
                  <a:srgbClr val="FF0000"/>
                </a:solidFill>
              </a:rPr>
            </a:br>
            <a:r>
              <a:rPr lang="en-IN" sz="2000" dirty="0">
                <a:solidFill>
                  <a:srgbClr val="FF0000"/>
                </a:solidFill>
              </a:rPr>
              <a:t>As a data analyst, you are asked to create an </a:t>
            </a:r>
            <a:r>
              <a:rPr lang="en-IN" sz="2000" b="1" dirty="0">
                <a:solidFill>
                  <a:srgbClr val="FF0000"/>
                </a:solidFill>
              </a:rPr>
              <a:t>information package</a:t>
            </a:r>
            <a:r>
              <a:rPr lang="en-IN" sz="2000" dirty="0">
                <a:solidFill>
                  <a:srgbClr val="FF0000"/>
                </a:solidFill>
              </a:rPr>
              <a:t> to support this analysis.</a:t>
            </a:r>
          </a:p>
          <a:p>
            <a:pPr>
              <a:buNone/>
            </a:pPr>
            <a:br>
              <a:rPr lang="en-IN" dirty="0"/>
            </a:br>
            <a:endParaRPr lang="en-IN" dirty="0"/>
          </a:p>
          <a:p>
            <a:pPr algn="just">
              <a:buNone/>
            </a:pPr>
            <a:r>
              <a:rPr lang="en-IN" sz="2000" b="1" dirty="0"/>
              <a:t>Solution: Information Package for University System</a:t>
            </a:r>
          </a:p>
          <a:p>
            <a:pPr algn="just">
              <a:buNone/>
            </a:pPr>
            <a:endParaRPr lang="en-IN" sz="2000" b="1" dirty="0"/>
          </a:p>
          <a:p>
            <a:pPr algn="just">
              <a:buNone/>
            </a:pPr>
            <a:r>
              <a:rPr lang="en-IN" sz="2000" dirty="0"/>
              <a:t>To support decision-making, an information package is created by clearly defining the </a:t>
            </a:r>
            <a:r>
              <a:rPr lang="en-IN" sz="2000" b="1" dirty="0"/>
              <a:t>business process, measures, dimensions, and attributes</a:t>
            </a:r>
            <a:r>
              <a:rPr lang="en-IN" sz="2000" dirty="0"/>
              <a:t>.</a:t>
            </a:r>
          </a:p>
          <a:p>
            <a:pPr algn="just">
              <a:buNone/>
            </a:pPr>
            <a:endParaRPr lang="en-IN" sz="2000" dirty="0"/>
          </a:p>
          <a:p>
            <a:pPr algn="just">
              <a:buNone/>
            </a:pPr>
            <a:r>
              <a:rPr lang="en-IN" sz="2000" dirty="0"/>
              <a:t>The </a:t>
            </a:r>
            <a:r>
              <a:rPr lang="en-IN" sz="2000" b="1" dirty="0"/>
              <a:t>business process</a:t>
            </a:r>
            <a:r>
              <a:rPr lang="en-IN" sz="2000" dirty="0"/>
              <a:t> in this case is </a:t>
            </a:r>
            <a:r>
              <a:rPr lang="en-IN" sz="2000" b="1" dirty="0"/>
              <a:t>Student Academic Performance Evaluation</a:t>
            </a:r>
            <a:r>
              <a:rPr lang="en-IN" sz="2000" dirty="0"/>
              <a:t>. This process focuses on </a:t>
            </a:r>
            <a:r>
              <a:rPr lang="en-IN" sz="2000" dirty="0" err="1"/>
              <a:t>analyzing</a:t>
            </a:r>
            <a:r>
              <a:rPr lang="en-IN" sz="2000" dirty="0"/>
              <a:t> how students perform in different subjects, semesters, and academic years.</a:t>
            </a:r>
          </a:p>
          <a:p>
            <a:pPr algn="just">
              <a:buNone/>
            </a:pPr>
            <a:endParaRPr lang="en-IN" sz="2000" dirty="0"/>
          </a:p>
        </p:txBody>
      </p:sp>
    </p:spTree>
    <p:extLst>
      <p:ext uri="{BB962C8B-B14F-4D97-AF65-F5344CB8AC3E}">
        <p14:creationId xmlns:p14="http://schemas.microsoft.com/office/powerpoint/2010/main" val="761816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5ABE5-8B4C-8876-4F3E-223CC50069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3A37CC-3735-C980-5260-9FC237BF1B67}"/>
              </a:ext>
            </a:extLst>
          </p:cNvPr>
          <p:cNvSpPr txBox="1"/>
          <p:nvPr/>
        </p:nvSpPr>
        <p:spPr>
          <a:xfrm>
            <a:off x="924909" y="562921"/>
            <a:ext cx="9186042" cy="5016758"/>
          </a:xfrm>
          <a:prstGeom prst="rect">
            <a:avLst/>
          </a:prstGeom>
          <a:noFill/>
        </p:spPr>
        <p:txBody>
          <a:bodyPr wrap="square">
            <a:spAutoFit/>
          </a:bodyPr>
          <a:lstStyle/>
          <a:p>
            <a:pPr algn="just">
              <a:buNone/>
            </a:pPr>
            <a:r>
              <a:rPr lang="en-IN" sz="2000" dirty="0"/>
              <a:t>The </a:t>
            </a:r>
            <a:r>
              <a:rPr lang="en-IN" sz="2000" b="1" dirty="0"/>
              <a:t>measures</a:t>
            </a:r>
            <a:r>
              <a:rPr lang="en-IN" sz="2000" dirty="0"/>
              <a:t> represent numerical values used for analysis. In the university system, important measures include </a:t>
            </a:r>
            <a:r>
              <a:rPr lang="en-IN" sz="2000" b="1" dirty="0"/>
              <a:t>marks obtained</a:t>
            </a:r>
            <a:r>
              <a:rPr lang="en-IN" sz="2000" dirty="0"/>
              <a:t>, </a:t>
            </a:r>
            <a:r>
              <a:rPr lang="en-IN" sz="2000" b="1" dirty="0"/>
              <a:t>total marks</a:t>
            </a:r>
            <a:r>
              <a:rPr lang="en-IN" sz="2000" dirty="0"/>
              <a:t>, </a:t>
            </a:r>
            <a:r>
              <a:rPr lang="en-IN" sz="2000" b="1" dirty="0"/>
              <a:t>pass/fail count</a:t>
            </a:r>
            <a:r>
              <a:rPr lang="en-IN" sz="2000" dirty="0"/>
              <a:t>, and </a:t>
            </a:r>
            <a:r>
              <a:rPr lang="en-IN" sz="2000" b="1" dirty="0"/>
              <a:t>average marks</a:t>
            </a:r>
            <a:r>
              <a:rPr lang="en-IN" sz="2000" dirty="0"/>
              <a:t>. These measures help management compare performance across time and departments.</a:t>
            </a:r>
          </a:p>
          <a:p>
            <a:pPr algn="just">
              <a:buNone/>
            </a:pPr>
            <a:endParaRPr lang="en-IN" sz="2000" dirty="0"/>
          </a:p>
          <a:p>
            <a:pPr algn="just">
              <a:buNone/>
            </a:pPr>
            <a:r>
              <a:rPr lang="en-IN" sz="2000" dirty="0"/>
              <a:t>The </a:t>
            </a:r>
            <a:r>
              <a:rPr lang="en-IN" sz="2000" b="1" dirty="0"/>
              <a:t>dimensions</a:t>
            </a:r>
            <a:r>
              <a:rPr lang="en-IN" sz="2000" dirty="0"/>
              <a:t> provide different perspectives for </a:t>
            </a:r>
            <a:r>
              <a:rPr lang="en-IN" sz="2000" dirty="0" err="1"/>
              <a:t>analyzing</a:t>
            </a:r>
            <a:r>
              <a:rPr lang="en-IN" sz="2000" dirty="0"/>
              <a:t> the measures. Common dimensions in this case are </a:t>
            </a:r>
            <a:r>
              <a:rPr lang="en-IN" sz="2000" b="1" dirty="0"/>
              <a:t>Student</a:t>
            </a:r>
            <a:r>
              <a:rPr lang="en-IN" sz="2000" dirty="0"/>
              <a:t>, </a:t>
            </a:r>
            <a:r>
              <a:rPr lang="en-IN" sz="2000" b="1" dirty="0"/>
              <a:t>Subject</a:t>
            </a:r>
            <a:r>
              <a:rPr lang="en-IN" sz="2000" dirty="0"/>
              <a:t>, </a:t>
            </a:r>
            <a:r>
              <a:rPr lang="en-IN" sz="2000" b="1" dirty="0"/>
              <a:t>Department</a:t>
            </a:r>
            <a:r>
              <a:rPr lang="en-IN" sz="2000" dirty="0"/>
              <a:t>, </a:t>
            </a:r>
            <a:r>
              <a:rPr lang="en-IN" sz="2000" b="1" dirty="0"/>
              <a:t>Semester</a:t>
            </a:r>
            <a:r>
              <a:rPr lang="en-IN" sz="2000" dirty="0"/>
              <a:t>, and </a:t>
            </a:r>
            <a:r>
              <a:rPr lang="en-IN" sz="2000" b="1" dirty="0"/>
              <a:t>Academic Year</a:t>
            </a:r>
            <a:r>
              <a:rPr lang="en-IN" sz="2000" dirty="0"/>
              <a:t>. Using these dimensions, performance can be </a:t>
            </a:r>
            <a:r>
              <a:rPr lang="en-IN" sz="2000" dirty="0" err="1"/>
              <a:t>analyzed</a:t>
            </a:r>
            <a:r>
              <a:rPr lang="en-IN" sz="2000" dirty="0"/>
              <a:t> student-wise, subject-wise, or year-wise.</a:t>
            </a:r>
          </a:p>
          <a:p>
            <a:pPr algn="just">
              <a:buNone/>
            </a:pPr>
            <a:endParaRPr lang="en-IN" sz="2000" dirty="0"/>
          </a:p>
          <a:p>
            <a:pPr algn="just">
              <a:buNone/>
            </a:pPr>
            <a:r>
              <a:rPr lang="en-IN" sz="2000" dirty="0"/>
              <a:t>Each dimension contains </a:t>
            </a:r>
            <a:r>
              <a:rPr lang="en-IN" sz="2000" b="1" dirty="0"/>
              <a:t>attributes</a:t>
            </a:r>
            <a:r>
              <a:rPr lang="en-IN" sz="2000" dirty="0"/>
              <a:t> that give more descriptive information.</a:t>
            </a:r>
            <a:br>
              <a:rPr lang="en-IN" sz="2000" dirty="0"/>
            </a:br>
            <a:r>
              <a:rPr lang="en-IN" sz="2000" dirty="0"/>
              <a:t>For example:</a:t>
            </a:r>
          </a:p>
          <a:p>
            <a:pPr algn="just">
              <a:buFont typeface="Arial" panose="020B0604020202020204" pitchFamily="34" charset="0"/>
              <a:buChar char="•"/>
            </a:pPr>
            <a:r>
              <a:rPr lang="en-IN" sz="2000" dirty="0"/>
              <a:t>The </a:t>
            </a:r>
            <a:r>
              <a:rPr lang="en-IN" sz="2000" b="1" dirty="0"/>
              <a:t>Student</a:t>
            </a:r>
            <a:r>
              <a:rPr lang="en-IN" sz="2000" dirty="0"/>
              <a:t> dimension includes student ID, name, gender, and </a:t>
            </a:r>
            <a:r>
              <a:rPr lang="en-IN" sz="2000" dirty="0" err="1"/>
              <a:t>enrollment</a:t>
            </a:r>
            <a:r>
              <a:rPr lang="en-IN" sz="2000" dirty="0"/>
              <a:t> year.</a:t>
            </a:r>
          </a:p>
          <a:p>
            <a:pPr algn="just">
              <a:buFont typeface="Arial" panose="020B0604020202020204" pitchFamily="34" charset="0"/>
              <a:buChar char="•"/>
            </a:pPr>
            <a:r>
              <a:rPr lang="en-IN" sz="2000" dirty="0"/>
              <a:t>The </a:t>
            </a:r>
            <a:r>
              <a:rPr lang="en-IN" sz="2000" b="1" dirty="0"/>
              <a:t>Subject</a:t>
            </a:r>
            <a:r>
              <a:rPr lang="en-IN" sz="2000" dirty="0"/>
              <a:t> dimension includes subject code, subject name, and credits.</a:t>
            </a:r>
          </a:p>
          <a:p>
            <a:pPr algn="just">
              <a:buFont typeface="Arial" panose="020B0604020202020204" pitchFamily="34" charset="0"/>
              <a:buChar char="•"/>
            </a:pPr>
            <a:r>
              <a:rPr lang="en-IN" sz="2000" dirty="0"/>
              <a:t>The </a:t>
            </a:r>
            <a:r>
              <a:rPr lang="en-IN" sz="2000" b="1" dirty="0"/>
              <a:t>Time</a:t>
            </a:r>
            <a:r>
              <a:rPr lang="en-IN" sz="2000" dirty="0"/>
              <a:t> dimension includes semester and academic year.</a:t>
            </a:r>
          </a:p>
        </p:txBody>
      </p:sp>
    </p:spTree>
    <p:extLst>
      <p:ext uri="{BB962C8B-B14F-4D97-AF65-F5344CB8AC3E}">
        <p14:creationId xmlns:p14="http://schemas.microsoft.com/office/powerpoint/2010/main" val="1573686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8C186-9474-4259-A994-8FA8D093F0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6E0E95-1D1C-BD57-3DE9-A24D082DDFF9}"/>
              </a:ext>
            </a:extLst>
          </p:cNvPr>
          <p:cNvSpPr txBox="1"/>
          <p:nvPr/>
        </p:nvSpPr>
        <p:spPr>
          <a:xfrm>
            <a:off x="1305910" y="404760"/>
            <a:ext cx="8195441" cy="3785652"/>
          </a:xfrm>
          <a:prstGeom prst="rect">
            <a:avLst/>
          </a:prstGeom>
          <a:noFill/>
        </p:spPr>
        <p:txBody>
          <a:bodyPr wrap="square">
            <a:spAutoFit/>
          </a:bodyPr>
          <a:lstStyle/>
          <a:p>
            <a:pPr>
              <a:buNone/>
            </a:pPr>
            <a:r>
              <a:rPr lang="en-IN" sz="2000" b="1" dirty="0"/>
              <a:t>Final Outcome</a:t>
            </a:r>
          </a:p>
          <a:p>
            <a:pPr>
              <a:buNone/>
            </a:pPr>
            <a:endParaRPr lang="en-IN" sz="2000" b="1" dirty="0"/>
          </a:p>
          <a:p>
            <a:pPr algn="just">
              <a:buNone/>
            </a:pPr>
            <a:r>
              <a:rPr lang="en-IN" sz="2000" dirty="0"/>
              <a:t>This information package helps the university answer important questions such as:</a:t>
            </a:r>
          </a:p>
          <a:p>
            <a:pPr algn="just">
              <a:buNone/>
            </a:pPr>
            <a:endParaRPr lang="en-IN" sz="2000" dirty="0"/>
          </a:p>
          <a:p>
            <a:pPr algn="just">
              <a:buFont typeface="Arial" panose="020B0604020202020204" pitchFamily="34" charset="0"/>
              <a:buChar char="•"/>
            </a:pPr>
            <a:r>
              <a:rPr lang="en-IN" sz="2000" dirty="0"/>
              <a:t>Which subjects have low pass percentages?</a:t>
            </a:r>
          </a:p>
          <a:p>
            <a:pPr algn="just">
              <a:buFont typeface="Arial" panose="020B0604020202020204" pitchFamily="34" charset="0"/>
              <a:buChar char="•"/>
            </a:pPr>
            <a:r>
              <a:rPr lang="en-IN" sz="2000" dirty="0"/>
              <a:t>How is student performance changing year by year?</a:t>
            </a:r>
          </a:p>
          <a:p>
            <a:pPr algn="just">
              <a:buFont typeface="Arial" panose="020B0604020202020204" pitchFamily="34" charset="0"/>
              <a:buChar char="•"/>
            </a:pPr>
            <a:r>
              <a:rPr lang="en-IN" sz="2000" dirty="0"/>
              <a:t>Which departments need academic improvement?</a:t>
            </a:r>
          </a:p>
          <a:p>
            <a:pPr algn="just">
              <a:buNone/>
            </a:pPr>
            <a:endParaRPr lang="en-IN" sz="2000" dirty="0"/>
          </a:p>
          <a:p>
            <a:pPr algn="just">
              <a:buNone/>
            </a:pPr>
            <a:r>
              <a:rPr lang="en-IN" sz="2000" dirty="0"/>
              <a:t>By structuring requirements using an information package, the university can design an effective </a:t>
            </a:r>
            <a:r>
              <a:rPr lang="en-IN" sz="2000" b="1" dirty="0"/>
              <a:t>data warehouse or decision support system</a:t>
            </a:r>
            <a:r>
              <a:rPr lang="en-IN" sz="2000" dirty="0"/>
              <a:t>.</a:t>
            </a:r>
          </a:p>
        </p:txBody>
      </p:sp>
    </p:spTree>
    <p:extLst>
      <p:ext uri="{BB962C8B-B14F-4D97-AF65-F5344CB8AC3E}">
        <p14:creationId xmlns:p14="http://schemas.microsoft.com/office/powerpoint/2010/main" val="120122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59B5-0902-71ED-D38C-12D5DF69B0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0FD126-709E-806C-B6B8-7AE6B9A76A59}"/>
              </a:ext>
            </a:extLst>
          </p:cNvPr>
          <p:cNvSpPr txBox="1"/>
          <p:nvPr/>
        </p:nvSpPr>
        <p:spPr>
          <a:xfrm>
            <a:off x="903889" y="366955"/>
            <a:ext cx="10068911" cy="5324535"/>
          </a:xfrm>
          <a:prstGeom prst="rect">
            <a:avLst/>
          </a:prstGeom>
          <a:noFill/>
        </p:spPr>
        <p:txBody>
          <a:bodyPr wrap="square">
            <a:spAutoFit/>
          </a:bodyPr>
          <a:lstStyle/>
          <a:p>
            <a:pPr>
              <a:buNone/>
            </a:pPr>
            <a:r>
              <a:rPr lang="en-IN" sz="2000" b="1" dirty="0">
                <a:solidFill>
                  <a:srgbClr val="FF0000"/>
                </a:solidFill>
              </a:rPr>
              <a:t>Case Study</a:t>
            </a:r>
          </a:p>
          <a:p>
            <a:pPr>
              <a:buNone/>
            </a:pPr>
            <a:endParaRPr lang="en-IN" sz="2000" dirty="0">
              <a:solidFill>
                <a:srgbClr val="FF0000"/>
              </a:solidFill>
            </a:endParaRPr>
          </a:p>
          <a:p>
            <a:pPr algn="just">
              <a:buNone/>
            </a:pPr>
            <a:r>
              <a:rPr lang="en-IN" sz="2000" dirty="0">
                <a:solidFill>
                  <a:srgbClr val="FF0000"/>
                </a:solidFill>
              </a:rPr>
              <a:t>A retail company sells various products to customers across different cities and stores. Management wants to </a:t>
            </a:r>
            <a:r>
              <a:rPr lang="en-IN" sz="2000" dirty="0" err="1">
                <a:solidFill>
                  <a:srgbClr val="FF0000"/>
                </a:solidFill>
              </a:rPr>
              <a:t>analyze</a:t>
            </a:r>
            <a:r>
              <a:rPr lang="en-IN" sz="2000" dirty="0">
                <a:solidFill>
                  <a:srgbClr val="FF0000"/>
                </a:solidFill>
              </a:rPr>
              <a:t> sales performance to support decision making. They are interested in knowing total sales, number of units sold, and profit generated over time. They also want to </a:t>
            </a:r>
            <a:r>
              <a:rPr lang="en-IN" sz="2000" dirty="0" err="1">
                <a:solidFill>
                  <a:srgbClr val="FF0000"/>
                </a:solidFill>
              </a:rPr>
              <a:t>analyze</a:t>
            </a:r>
            <a:r>
              <a:rPr lang="en-IN" sz="2000" dirty="0">
                <a:solidFill>
                  <a:srgbClr val="FF0000"/>
                </a:solidFill>
              </a:rPr>
              <a:t> sales based on product category, customer type, and location.</a:t>
            </a:r>
          </a:p>
          <a:p>
            <a:pPr>
              <a:buNone/>
            </a:pPr>
            <a:endParaRPr lang="en-IN" sz="2000" dirty="0">
              <a:solidFill>
                <a:srgbClr val="FF0000"/>
              </a:solidFill>
            </a:endParaRPr>
          </a:p>
          <a:p>
            <a:pPr>
              <a:buNone/>
            </a:pPr>
            <a:r>
              <a:rPr lang="en-IN" sz="2000" dirty="0">
                <a:solidFill>
                  <a:srgbClr val="FF0000"/>
                </a:solidFill>
              </a:rPr>
              <a:t>Based on the above case study:</a:t>
            </a:r>
          </a:p>
          <a:p>
            <a:pPr>
              <a:buFont typeface="+mj-lt"/>
              <a:buAutoNum type="arabicPeriod"/>
            </a:pPr>
            <a:endParaRPr lang="en-IN" sz="2000" dirty="0">
              <a:solidFill>
                <a:srgbClr val="FF0000"/>
              </a:solidFill>
            </a:endParaRPr>
          </a:p>
          <a:p>
            <a:pPr>
              <a:buFont typeface="+mj-lt"/>
              <a:buAutoNum type="arabicPeriod"/>
            </a:pPr>
            <a:r>
              <a:rPr lang="en-IN" sz="2000" dirty="0">
                <a:solidFill>
                  <a:srgbClr val="FF0000"/>
                </a:solidFill>
              </a:rPr>
              <a:t>Identify the </a:t>
            </a:r>
            <a:r>
              <a:rPr lang="en-IN" sz="2000" b="1" dirty="0">
                <a:solidFill>
                  <a:srgbClr val="FF0000"/>
                </a:solidFill>
              </a:rPr>
              <a:t>business process</a:t>
            </a:r>
            <a:r>
              <a:rPr lang="en-IN" sz="2000" dirty="0">
                <a:solidFill>
                  <a:srgbClr val="FF0000"/>
                </a:solidFill>
              </a:rPr>
              <a:t> for analysis.</a:t>
            </a:r>
          </a:p>
          <a:p>
            <a:pPr algn="just">
              <a:buFont typeface="+mj-lt"/>
              <a:buAutoNum type="arabicPeriod"/>
            </a:pPr>
            <a:r>
              <a:rPr lang="en-IN" sz="2000" dirty="0">
                <a:solidFill>
                  <a:srgbClr val="FF0000"/>
                </a:solidFill>
              </a:rPr>
              <a:t>List the </a:t>
            </a:r>
            <a:r>
              <a:rPr lang="en-IN" sz="2000" b="1" dirty="0">
                <a:solidFill>
                  <a:srgbClr val="FF0000"/>
                </a:solidFill>
              </a:rPr>
              <a:t>measures (facts)</a:t>
            </a:r>
            <a:r>
              <a:rPr lang="en-IN" sz="2000" dirty="0">
                <a:solidFill>
                  <a:srgbClr val="FF0000"/>
                </a:solidFill>
              </a:rPr>
              <a:t> required for the sales system and explain why they are important.</a:t>
            </a:r>
          </a:p>
          <a:p>
            <a:pPr>
              <a:buFont typeface="+mj-lt"/>
              <a:buAutoNum type="arabicPeriod"/>
            </a:pPr>
            <a:r>
              <a:rPr lang="en-IN" sz="2000" dirty="0">
                <a:solidFill>
                  <a:srgbClr val="FF0000"/>
                </a:solidFill>
              </a:rPr>
              <a:t>Identify the </a:t>
            </a:r>
            <a:r>
              <a:rPr lang="en-IN" sz="2000" b="1" dirty="0">
                <a:solidFill>
                  <a:srgbClr val="FF0000"/>
                </a:solidFill>
              </a:rPr>
              <a:t>dimensions</a:t>
            </a:r>
            <a:r>
              <a:rPr lang="en-IN" sz="2000" dirty="0">
                <a:solidFill>
                  <a:srgbClr val="FF0000"/>
                </a:solidFill>
              </a:rPr>
              <a:t> used to </a:t>
            </a:r>
            <a:r>
              <a:rPr lang="en-IN" sz="2000" dirty="0" err="1">
                <a:solidFill>
                  <a:srgbClr val="FF0000"/>
                </a:solidFill>
              </a:rPr>
              <a:t>analyze</a:t>
            </a:r>
            <a:r>
              <a:rPr lang="en-IN" sz="2000" dirty="0">
                <a:solidFill>
                  <a:srgbClr val="FF0000"/>
                </a:solidFill>
              </a:rPr>
              <a:t> sales data.</a:t>
            </a:r>
          </a:p>
          <a:p>
            <a:pPr>
              <a:buFont typeface="+mj-lt"/>
              <a:buAutoNum type="arabicPeriod"/>
            </a:pPr>
            <a:r>
              <a:rPr lang="en-IN" sz="2000" dirty="0">
                <a:solidFill>
                  <a:srgbClr val="FF0000"/>
                </a:solidFill>
              </a:rPr>
              <a:t>For each dimension, list suitable </a:t>
            </a:r>
            <a:r>
              <a:rPr lang="en-IN" sz="2000" b="1" dirty="0">
                <a:solidFill>
                  <a:srgbClr val="FF0000"/>
                </a:solidFill>
              </a:rPr>
              <a:t>attributes</a:t>
            </a:r>
            <a:r>
              <a:rPr lang="en-IN" sz="2000" dirty="0">
                <a:solidFill>
                  <a:srgbClr val="FF0000"/>
                </a:solidFill>
              </a:rPr>
              <a:t>.</a:t>
            </a:r>
          </a:p>
          <a:p>
            <a:pPr>
              <a:buFont typeface="+mj-lt"/>
              <a:buAutoNum type="arabicPeriod"/>
            </a:pPr>
            <a:r>
              <a:rPr lang="en-IN" sz="2000" dirty="0">
                <a:solidFill>
                  <a:srgbClr val="FF0000"/>
                </a:solidFill>
              </a:rPr>
              <a:t>Draw a </a:t>
            </a:r>
            <a:r>
              <a:rPr lang="en-IN" sz="2000" b="1" dirty="0">
                <a:solidFill>
                  <a:srgbClr val="FF0000"/>
                </a:solidFill>
              </a:rPr>
              <a:t>diagram-based Information Package</a:t>
            </a:r>
            <a:r>
              <a:rPr lang="en-IN" sz="2000" dirty="0">
                <a:solidFill>
                  <a:srgbClr val="FF0000"/>
                </a:solidFill>
              </a:rPr>
              <a:t> for the Sales System.</a:t>
            </a:r>
          </a:p>
          <a:p>
            <a:pPr>
              <a:buFont typeface="+mj-lt"/>
              <a:buAutoNum type="arabicPeriod"/>
            </a:pPr>
            <a:r>
              <a:rPr lang="en-IN" sz="2000" dirty="0">
                <a:solidFill>
                  <a:srgbClr val="FF0000"/>
                </a:solidFill>
              </a:rPr>
              <a:t>Explain how this information package helps management in </a:t>
            </a:r>
            <a:r>
              <a:rPr lang="en-IN" sz="2000" b="1" dirty="0">
                <a:solidFill>
                  <a:srgbClr val="FF0000"/>
                </a:solidFill>
              </a:rPr>
              <a:t>decision making</a:t>
            </a:r>
            <a:endParaRPr lang="en-IN" sz="2000" dirty="0">
              <a:solidFill>
                <a:srgbClr val="FF0000"/>
              </a:solidFill>
            </a:endParaRPr>
          </a:p>
        </p:txBody>
      </p:sp>
    </p:spTree>
    <p:extLst>
      <p:ext uri="{BB962C8B-B14F-4D97-AF65-F5344CB8AC3E}">
        <p14:creationId xmlns:p14="http://schemas.microsoft.com/office/powerpoint/2010/main" val="53274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F4F1E-438F-78DE-23C8-A5BE32090209}"/>
            </a:ext>
          </a:extLst>
        </p:cNvPr>
        <p:cNvGrpSpPr/>
        <p:nvPr/>
      </p:nvGrpSpPr>
      <p:grpSpPr>
        <a:xfrm>
          <a:off x="0" y="0"/>
          <a:ext cx="0" cy="0"/>
          <a:chOff x="0" y="0"/>
          <a:chExt cx="0" cy="0"/>
        </a:xfrm>
      </p:grpSpPr>
    </p:spTree>
    <p:extLst>
      <p:ext uri="{BB962C8B-B14F-4D97-AF65-F5344CB8AC3E}">
        <p14:creationId xmlns:p14="http://schemas.microsoft.com/office/powerpoint/2010/main" val="1333064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D0497-99A6-36F6-003E-3FDE211C6B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09C503-2B48-A5FB-E060-18EAE6CA8034}"/>
              </a:ext>
            </a:extLst>
          </p:cNvPr>
          <p:cNvSpPr txBox="1"/>
          <p:nvPr/>
        </p:nvSpPr>
        <p:spPr>
          <a:xfrm>
            <a:off x="790903" y="241510"/>
            <a:ext cx="10076794" cy="6001643"/>
          </a:xfrm>
          <a:prstGeom prst="rect">
            <a:avLst/>
          </a:prstGeom>
          <a:noFill/>
        </p:spPr>
        <p:txBody>
          <a:bodyPr wrap="square">
            <a:spAutoFit/>
          </a:bodyPr>
          <a:lstStyle/>
          <a:p>
            <a:pPr>
              <a:buNone/>
            </a:pPr>
            <a:r>
              <a:rPr lang="en-IN" sz="3600" b="1" u="sng" dirty="0">
                <a:solidFill>
                  <a:srgbClr val="0070C0"/>
                </a:solidFill>
              </a:rPr>
              <a:t>Requirements Definition – Introduction</a:t>
            </a:r>
          </a:p>
          <a:p>
            <a:pPr>
              <a:buNone/>
            </a:pPr>
            <a:endParaRPr lang="en-IN" sz="3600" b="1" u="sng" dirty="0">
              <a:solidFill>
                <a:srgbClr val="0070C0"/>
              </a:solidFill>
            </a:endParaRPr>
          </a:p>
          <a:p>
            <a:pPr algn="just">
              <a:buNone/>
            </a:pPr>
            <a:r>
              <a:rPr lang="en-IN" sz="2400" dirty="0"/>
              <a:t>Before creating a dimensional model, it is very important to clearly define the requirements.</a:t>
            </a:r>
          </a:p>
          <a:p>
            <a:pPr algn="just">
              <a:buNone/>
            </a:pPr>
            <a:br>
              <a:rPr lang="en-IN" sz="2400" dirty="0"/>
            </a:br>
            <a:r>
              <a:rPr lang="en-IN" sz="2400" dirty="0"/>
              <a:t>Requirements definition means understanding </a:t>
            </a:r>
            <a:r>
              <a:rPr lang="en-IN" sz="2400" b="1" dirty="0"/>
              <a:t>what the business wants to </a:t>
            </a:r>
            <a:r>
              <a:rPr lang="en-IN" sz="2400" b="1" dirty="0" err="1"/>
              <a:t>analyze</a:t>
            </a:r>
            <a:r>
              <a:rPr lang="en-IN" sz="2400" dirty="0"/>
              <a:t>, </a:t>
            </a:r>
            <a:r>
              <a:rPr lang="en-IN" sz="2400" b="1" dirty="0"/>
              <a:t>what data is needed</a:t>
            </a:r>
            <a:r>
              <a:rPr lang="en-IN" sz="2400" dirty="0"/>
              <a:t>, and </a:t>
            </a:r>
            <a:r>
              <a:rPr lang="en-IN" sz="2400" b="1" dirty="0"/>
              <a:t>what data is not needed</a:t>
            </a:r>
            <a:r>
              <a:rPr lang="en-IN" sz="2400" dirty="0"/>
              <a:t>.</a:t>
            </a:r>
            <a:br>
              <a:rPr lang="en-IN" sz="2400" dirty="0"/>
            </a:br>
            <a:endParaRPr lang="en-IN" sz="2400" dirty="0"/>
          </a:p>
          <a:p>
            <a:pPr algn="just">
              <a:buNone/>
            </a:pPr>
            <a:r>
              <a:rPr lang="en-IN" sz="2400" dirty="0"/>
              <a:t>A well-defined requirement avoids confusion, reduces rework, and ensures the data warehouse supports correct business decisions.</a:t>
            </a:r>
          </a:p>
          <a:p>
            <a:pPr>
              <a:buNone/>
            </a:pPr>
            <a:endParaRPr lang="en-IN" sz="2400" b="1" dirty="0"/>
          </a:p>
          <a:p>
            <a:pPr>
              <a:buNone/>
            </a:pPr>
            <a:r>
              <a:rPr lang="en-IN" sz="2400" b="1" dirty="0"/>
              <a:t>Example Context:</a:t>
            </a:r>
            <a:br>
              <a:rPr lang="en-IN" sz="2400" dirty="0"/>
            </a:br>
            <a:endParaRPr lang="en-IN" sz="2400" dirty="0"/>
          </a:p>
          <a:p>
            <a:pPr algn="just">
              <a:buNone/>
            </a:pPr>
            <a:r>
              <a:rPr lang="en-IN" sz="2400" dirty="0"/>
              <a:t>We consider a </a:t>
            </a:r>
            <a:r>
              <a:rPr lang="en-IN" sz="2400" b="1" dirty="0"/>
              <a:t>Retail Sales System</a:t>
            </a:r>
            <a:r>
              <a:rPr lang="en-IN" sz="2400" dirty="0"/>
              <a:t> where management wants to </a:t>
            </a:r>
            <a:r>
              <a:rPr lang="en-IN" sz="2400" dirty="0" err="1"/>
              <a:t>analyze</a:t>
            </a:r>
            <a:r>
              <a:rPr lang="en-IN" sz="2400" dirty="0"/>
              <a:t> sales performance.</a:t>
            </a:r>
          </a:p>
        </p:txBody>
      </p:sp>
    </p:spTree>
    <p:extLst>
      <p:ext uri="{BB962C8B-B14F-4D97-AF65-F5344CB8AC3E}">
        <p14:creationId xmlns:p14="http://schemas.microsoft.com/office/powerpoint/2010/main" val="1117914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ED047-E1AD-7868-44A3-4F22D65021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D0F197-9525-F513-BE5D-1E16C6591108}"/>
              </a:ext>
            </a:extLst>
          </p:cNvPr>
          <p:cNvSpPr txBox="1"/>
          <p:nvPr/>
        </p:nvSpPr>
        <p:spPr>
          <a:xfrm>
            <a:off x="993229" y="244559"/>
            <a:ext cx="4485289" cy="6186309"/>
          </a:xfrm>
          <a:prstGeom prst="rect">
            <a:avLst/>
          </a:prstGeom>
          <a:noFill/>
          <a:ln w="38100">
            <a:solidFill>
              <a:schemeClr val="tx1"/>
            </a:solidFill>
          </a:ln>
        </p:spPr>
        <p:txBody>
          <a:bodyPr wrap="square">
            <a:spAutoFit/>
          </a:bodyPr>
          <a:lstStyle/>
          <a:p>
            <a:pPr>
              <a:buNone/>
            </a:pPr>
            <a:r>
              <a:rPr lang="en-IN" sz="2000" b="1" u="sng" dirty="0">
                <a:solidFill>
                  <a:srgbClr val="0070C0"/>
                </a:solidFill>
              </a:rPr>
              <a:t>Defining Scope – What is Included?</a:t>
            </a:r>
          </a:p>
          <a:p>
            <a:pPr>
              <a:buNone/>
            </a:pPr>
            <a:endParaRPr lang="en-IN" b="1" dirty="0"/>
          </a:p>
          <a:p>
            <a:pPr>
              <a:buNone/>
            </a:pPr>
            <a:r>
              <a:rPr lang="en-IN" dirty="0"/>
              <a:t>Defining scope means deciding </a:t>
            </a:r>
            <a:r>
              <a:rPr lang="en-IN" b="1" dirty="0"/>
              <a:t>what business areas and analysis are part of the data warehouse</a:t>
            </a:r>
            <a:r>
              <a:rPr lang="en-IN" dirty="0"/>
              <a:t>.</a:t>
            </a:r>
          </a:p>
          <a:p>
            <a:pPr>
              <a:buNone/>
            </a:pPr>
            <a:endParaRPr lang="en-IN" dirty="0"/>
          </a:p>
          <a:p>
            <a:pPr>
              <a:buNone/>
            </a:pPr>
            <a:r>
              <a:rPr lang="en-IN" dirty="0"/>
              <a:t>In a sales system, included scope may cover:</a:t>
            </a:r>
          </a:p>
          <a:p>
            <a:pPr>
              <a:buFont typeface="Arial" panose="020B0604020202020204" pitchFamily="34" charset="0"/>
              <a:buChar char="•"/>
            </a:pPr>
            <a:r>
              <a:rPr lang="en-IN" dirty="0"/>
              <a:t>Sales transactions</a:t>
            </a:r>
          </a:p>
          <a:p>
            <a:pPr>
              <a:buFont typeface="Arial" panose="020B0604020202020204" pitchFamily="34" charset="0"/>
              <a:buChar char="•"/>
            </a:pPr>
            <a:r>
              <a:rPr lang="en-IN" dirty="0"/>
              <a:t>Products sold</a:t>
            </a:r>
          </a:p>
          <a:p>
            <a:pPr>
              <a:buFont typeface="Arial" panose="020B0604020202020204" pitchFamily="34" charset="0"/>
              <a:buChar char="•"/>
            </a:pPr>
            <a:r>
              <a:rPr lang="en-IN" dirty="0"/>
              <a:t>Customers</a:t>
            </a:r>
          </a:p>
          <a:p>
            <a:pPr>
              <a:buFont typeface="Arial" panose="020B0604020202020204" pitchFamily="34" charset="0"/>
              <a:buChar char="•"/>
            </a:pPr>
            <a:r>
              <a:rPr lang="en-IN" dirty="0"/>
              <a:t>Time period (daily, monthly, yearly)</a:t>
            </a:r>
          </a:p>
          <a:p>
            <a:pPr>
              <a:buFont typeface="Arial" panose="020B0604020202020204" pitchFamily="34" charset="0"/>
              <a:buChar char="•"/>
            </a:pPr>
            <a:r>
              <a:rPr lang="en-IN" dirty="0"/>
              <a:t>Store or region-wise sales</a:t>
            </a:r>
          </a:p>
          <a:p>
            <a:pPr>
              <a:buNone/>
            </a:pPr>
            <a:endParaRPr lang="en-IN" b="1" dirty="0"/>
          </a:p>
          <a:p>
            <a:pPr>
              <a:buNone/>
            </a:pPr>
            <a:r>
              <a:rPr lang="en-IN" b="1" dirty="0"/>
              <a:t>Example:</a:t>
            </a:r>
            <a:br>
              <a:rPr lang="en-IN" dirty="0"/>
            </a:br>
            <a:r>
              <a:rPr lang="en-IN" dirty="0"/>
              <a:t>The scope includes </a:t>
            </a:r>
            <a:r>
              <a:rPr lang="en-IN" dirty="0" err="1"/>
              <a:t>analyzing</a:t>
            </a:r>
            <a:r>
              <a:rPr lang="en-IN" dirty="0"/>
              <a:t>:</a:t>
            </a:r>
          </a:p>
          <a:p>
            <a:pPr>
              <a:buFont typeface="Arial" panose="020B0604020202020204" pitchFamily="34" charset="0"/>
              <a:buChar char="•"/>
            </a:pPr>
            <a:r>
              <a:rPr lang="en-IN" dirty="0"/>
              <a:t>Total sales per month</a:t>
            </a:r>
          </a:p>
          <a:p>
            <a:pPr>
              <a:buFont typeface="Arial" panose="020B0604020202020204" pitchFamily="34" charset="0"/>
              <a:buChar char="•"/>
            </a:pPr>
            <a:r>
              <a:rPr lang="en-IN" dirty="0"/>
              <a:t>Product-wise and region-wise sales</a:t>
            </a:r>
          </a:p>
          <a:p>
            <a:pPr>
              <a:buFont typeface="Arial" panose="020B0604020202020204" pitchFamily="34" charset="0"/>
              <a:buChar char="•"/>
            </a:pPr>
            <a:r>
              <a:rPr lang="en-IN" dirty="0"/>
              <a:t>Customer purchase </a:t>
            </a:r>
            <a:r>
              <a:rPr lang="en-IN" dirty="0" err="1"/>
              <a:t>behavior</a:t>
            </a:r>
            <a:endParaRPr lang="en-IN" dirty="0"/>
          </a:p>
          <a:p>
            <a:pPr>
              <a:buNone/>
            </a:pPr>
            <a:endParaRPr lang="en-IN" dirty="0"/>
          </a:p>
          <a:p>
            <a:pPr>
              <a:buNone/>
            </a:pPr>
            <a:r>
              <a:rPr lang="en-IN" dirty="0"/>
              <a:t>This ensures the model focuses only on </a:t>
            </a:r>
            <a:r>
              <a:rPr lang="en-IN" b="1" dirty="0"/>
              <a:t>decision-support needs</a:t>
            </a:r>
            <a:r>
              <a:rPr lang="en-IN" dirty="0"/>
              <a:t>.</a:t>
            </a:r>
          </a:p>
        </p:txBody>
      </p:sp>
      <p:sp>
        <p:nvSpPr>
          <p:cNvPr id="5" name="TextBox 4">
            <a:extLst>
              <a:ext uri="{FF2B5EF4-FFF2-40B4-BE49-F238E27FC236}">
                <a16:creationId xmlns:a16="http://schemas.microsoft.com/office/drawing/2014/main" id="{D4F38C86-00A4-B9BA-E299-99FF5F9985FC}"/>
              </a:ext>
            </a:extLst>
          </p:cNvPr>
          <p:cNvSpPr txBox="1"/>
          <p:nvPr/>
        </p:nvSpPr>
        <p:spPr>
          <a:xfrm>
            <a:off x="6096000" y="213781"/>
            <a:ext cx="4409088" cy="6217087"/>
          </a:xfrm>
          <a:prstGeom prst="rect">
            <a:avLst/>
          </a:prstGeom>
          <a:noFill/>
          <a:ln w="38100">
            <a:solidFill>
              <a:schemeClr val="tx1"/>
            </a:solidFill>
          </a:ln>
        </p:spPr>
        <p:txBody>
          <a:bodyPr wrap="square">
            <a:spAutoFit/>
          </a:bodyPr>
          <a:lstStyle/>
          <a:p>
            <a:pPr>
              <a:buNone/>
            </a:pPr>
            <a:r>
              <a:rPr lang="en-IN" sz="2000" b="1" u="sng" dirty="0">
                <a:solidFill>
                  <a:srgbClr val="0070C0"/>
                </a:solidFill>
              </a:rPr>
              <a:t>Defining Scope – What is Excluded?</a:t>
            </a:r>
          </a:p>
          <a:p>
            <a:pPr>
              <a:buNone/>
            </a:pPr>
            <a:endParaRPr lang="en-IN" dirty="0"/>
          </a:p>
          <a:p>
            <a:pPr>
              <a:buNone/>
            </a:pPr>
            <a:r>
              <a:rPr lang="en-IN" dirty="0"/>
              <a:t>Equally important is defining </a:t>
            </a:r>
            <a:r>
              <a:rPr lang="en-IN" b="1" dirty="0"/>
              <a:t>what is NOT included</a:t>
            </a:r>
            <a:r>
              <a:rPr lang="en-IN" dirty="0"/>
              <a:t> in the system.</a:t>
            </a:r>
            <a:br>
              <a:rPr lang="en-IN" dirty="0"/>
            </a:br>
            <a:endParaRPr lang="en-IN" dirty="0"/>
          </a:p>
          <a:p>
            <a:pPr>
              <a:buNone/>
            </a:pPr>
            <a:r>
              <a:rPr lang="en-IN" dirty="0"/>
              <a:t>This helps avoid unnecessary data and complexity.</a:t>
            </a:r>
          </a:p>
          <a:p>
            <a:pPr>
              <a:buNone/>
            </a:pPr>
            <a:endParaRPr lang="en-IN" dirty="0"/>
          </a:p>
          <a:p>
            <a:pPr>
              <a:buNone/>
            </a:pPr>
            <a:r>
              <a:rPr lang="en-IN" dirty="0"/>
              <a:t>In a sales system, excluded scope may include:</a:t>
            </a:r>
          </a:p>
          <a:p>
            <a:pPr>
              <a:buFont typeface="Arial" panose="020B0604020202020204" pitchFamily="34" charset="0"/>
              <a:buChar char="•"/>
            </a:pPr>
            <a:r>
              <a:rPr lang="en-IN" dirty="0"/>
              <a:t>Employee salary details</a:t>
            </a:r>
          </a:p>
          <a:p>
            <a:pPr>
              <a:buFont typeface="Arial" panose="020B0604020202020204" pitchFamily="34" charset="0"/>
              <a:buChar char="•"/>
            </a:pPr>
            <a:r>
              <a:rPr lang="en-IN" dirty="0"/>
              <a:t>Supplier payment processing</a:t>
            </a:r>
          </a:p>
          <a:p>
            <a:pPr>
              <a:buFont typeface="Arial" panose="020B0604020202020204" pitchFamily="34" charset="0"/>
              <a:buChar char="•"/>
            </a:pPr>
            <a:r>
              <a:rPr lang="en-IN" dirty="0"/>
              <a:t>Inventory reorder operations</a:t>
            </a:r>
          </a:p>
          <a:p>
            <a:pPr>
              <a:buNone/>
            </a:pPr>
            <a:endParaRPr lang="en-IN" b="1" dirty="0"/>
          </a:p>
          <a:p>
            <a:pPr>
              <a:buNone/>
            </a:pPr>
            <a:r>
              <a:rPr lang="en-IN" b="1" dirty="0"/>
              <a:t>Example:</a:t>
            </a:r>
            <a:br>
              <a:rPr lang="en-IN" dirty="0"/>
            </a:br>
            <a:endParaRPr lang="en-IN" dirty="0"/>
          </a:p>
          <a:p>
            <a:pPr>
              <a:buNone/>
            </a:pPr>
            <a:r>
              <a:rPr lang="en-IN" dirty="0"/>
              <a:t>Although inventory exists, the current requirement is </a:t>
            </a:r>
            <a:r>
              <a:rPr lang="en-IN" b="1" dirty="0"/>
              <a:t>sales analysis only</a:t>
            </a:r>
            <a:r>
              <a:rPr lang="en-IN" dirty="0"/>
              <a:t>, so inventory management is excluded.</a:t>
            </a:r>
          </a:p>
          <a:p>
            <a:pPr>
              <a:buNone/>
            </a:pPr>
            <a:endParaRPr lang="en-IN" dirty="0"/>
          </a:p>
          <a:p>
            <a:pPr>
              <a:buNone/>
            </a:pPr>
            <a:endParaRPr lang="en-IN" dirty="0"/>
          </a:p>
          <a:p>
            <a:pPr>
              <a:buNone/>
            </a:pPr>
            <a:endParaRPr lang="en-IN" dirty="0"/>
          </a:p>
        </p:txBody>
      </p:sp>
    </p:spTree>
    <p:extLst>
      <p:ext uri="{BB962C8B-B14F-4D97-AF65-F5344CB8AC3E}">
        <p14:creationId xmlns:p14="http://schemas.microsoft.com/office/powerpoint/2010/main" val="1090782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E7B7-8357-1432-D1E5-9A2688A2EB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2833ED-84FE-271C-7F1E-CC11C37A9396}"/>
              </a:ext>
            </a:extLst>
          </p:cNvPr>
          <p:cNvSpPr txBox="1"/>
          <p:nvPr/>
        </p:nvSpPr>
        <p:spPr>
          <a:xfrm>
            <a:off x="1074683" y="206248"/>
            <a:ext cx="4243551" cy="6247864"/>
          </a:xfrm>
          <a:prstGeom prst="rect">
            <a:avLst/>
          </a:prstGeom>
          <a:noFill/>
          <a:ln w="38100">
            <a:solidFill>
              <a:schemeClr val="tx1"/>
            </a:solidFill>
          </a:ln>
        </p:spPr>
        <p:txBody>
          <a:bodyPr wrap="square">
            <a:spAutoFit/>
          </a:bodyPr>
          <a:lstStyle/>
          <a:p>
            <a:pPr>
              <a:buNone/>
            </a:pPr>
            <a:r>
              <a:rPr lang="en-IN" sz="2000" b="1" u="sng" dirty="0">
                <a:solidFill>
                  <a:srgbClr val="0070C0"/>
                </a:solidFill>
              </a:rPr>
              <a:t>Defining Content – Facts to be Stored</a:t>
            </a:r>
          </a:p>
          <a:p>
            <a:pPr>
              <a:buNone/>
            </a:pPr>
            <a:endParaRPr lang="en-IN" b="1" dirty="0"/>
          </a:p>
          <a:p>
            <a:pPr>
              <a:buNone/>
            </a:pPr>
            <a:r>
              <a:rPr lang="en-IN" dirty="0"/>
              <a:t>Facts are </a:t>
            </a:r>
            <a:r>
              <a:rPr lang="en-IN" b="1" dirty="0"/>
              <a:t>numeric values</a:t>
            </a:r>
            <a:r>
              <a:rPr lang="en-IN" dirty="0"/>
              <a:t> that the business wants to measure and </a:t>
            </a:r>
            <a:r>
              <a:rPr lang="en-IN" dirty="0" err="1"/>
              <a:t>analyze</a:t>
            </a:r>
            <a:r>
              <a:rPr lang="en-IN" dirty="0"/>
              <a:t>.</a:t>
            </a:r>
          </a:p>
          <a:p>
            <a:pPr>
              <a:buNone/>
            </a:pPr>
            <a:endParaRPr lang="en-IN" dirty="0"/>
          </a:p>
          <a:p>
            <a:pPr>
              <a:buNone/>
            </a:pPr>
            <a:r>
              <a:rPr lang="en-IN" dirty="0"/>
              <a:t>In a sales system, common facts include:</a:t>
            </a:r>
          </a:p>
          <a:p>
            <a:pPr>
              <a:buFont typeface="Arial" panose="020B0604020202020204" pitchFamily="34" charset="0"/>
              <a:buChar char="•"/>
            </a:pPr>
            <a:r>
              <a:rPr lang="en-IN" dirty="0"/>
              <a:t>Sales amount</a:t>
            </a:r>
          </a:p>
          <a:p>
            <a:pPr>
              <a:buFont typeface="Arial" panose="020B0604020202020204" pitchFamily="34" charset="0"/>
              <a:buChar char="•"/>
            </a:pPr>
            <a:r>
              <a:rPr lang="en-IN" dirty="0"/>
              <a:t>Units sold</a:t>
            </a:r>
          </a:p>
          <a:p>
            <a:pPr>
              <a:buFont typeface="Arial" panose="020B0604020202020204" pitchFamily="34" charset="0"/>
              <a:buChar char="•"/>
            </a:pPr>
            <a:r>
              <a:rPr lang="en-IN" dirty="0"/>
              <a:t>Discount amount</a:t>
            </a:r>
          </a:p>
          <a:p>
            <a:pPr>
              <a:buFont typeface="Arial" panose="020B0604020202020204" pitchFamily="34" charset="0"/>
              <a:buChar char="•"/>
            </a:pPr>
            <a:r>
              <a:rPr lang="en-IN" dirty="0"/>
              <a:t>Profit</a:t>
            </a:r>
          </a:p>
          <a:p>
            <a:pPr>
              <a:buNone/>
            </a:pPr>
            <a:endParaRPr lang="en-IN" b="1" dirty="0"/>
          </a:p>
          <a:p>
            <a:pPr>
              <a:buNone/>
            </a:pPr>
            <a:r>
              <a:rPr lang="en-IN" b="1" dirty="0"/>
              <a:t>Example:</a:t>
            </a:r>
            <a:br>
              <a:rPr lang="en-IN" dirty="0"/>
            </a:br>
            <a:endParaRPr lang="en-IN" dirty="0"/>
          </a:p>
          <a:p>
            <a:pPr>
              <a:buNone/>
            </a:pPr>
            <a:r>
              <a:rPr lang="en-IN" dirty="0"/>
              <a:t>Each sales transaction stores:</a:t>
            </a:r>
          </a:p>
          <a:p>
            <a:pPr>
              <a:buFont typeface="Arial" panose="020B0604020202020204" pitchFamily="34" charset="0"/>
              <a:buChar char="•"/>
            </a:pPr>
            <a:r>
              <a:rPr lang="en-IN" dirty="0"/>
              <a:t>Quantity sold = 3</a:t>
            </a:r>
          </a:p>
          <a:p>
            <a:pPr>
              <a:buFont typeface="Arial" panose="020B0604020202020204" pitchFamily="34" charset="0"/>
              <a:buChar char="•"/>
            </a:pPr>
            <a:r>
              <a:rPr lang="en-IN" dirty="0"/>
              <a:t>Sales amount = ₹1500</a:t>
            </a:r>
            <a:br>
              <a:rPr lang="en-IN" dirty="0"/>
            </a:br>
            <a:endParaRPr lang="en-IN" dirty="0"/>
          </a:p>
          <a:p>
            <a:pPr>
              <a:buFont typeface="Arial" panose="020B0604020202020204" pitchFamily="34" charset="0"/>
              <a:buChar char="•"/>
            </a:pPr>
            <a:r>
              <a:rPr lang="en-IN" dirty="0"/>
              <a:t>These facts help management evaluate business performance.</a:t>
            </a:r>
          </a:p>
        </p:txBody>
      </p:sp>
      <p:sp>
        <p:nvSpPr>
          <p:cNvPr id="5" name="TextBox 4">
            <a:extLst>
              <a:ext uri="{FF2B5EF4-FFF2-40B4-BE49-F238E27FC236}">
                <a16:creationId xmlns:a16="http://schemas.microsoft.com/office/drawing/2014/main" id="{67536B77-436E-810B-BAD4-EA6E03F2284E}"/>
              </a:ext>
            </a:extLst>
          </p:cNvPr>
          <p:cNvSpPr txBox="1"/>
          <p:nvPr/>
        </p:nvSpPr>
        <p:spPr>
          <a:xfrm>
            <a:off x="6096000" y="206248"/>
            <a:ext cx="4464269" cy="6247864"/>
          </a:xfrm>
          <a:prstGeom prst="rect">
            <a:avLst/>
          </a:prstGeom>
          <a:noFill/>
          <a:ln w="38100">
            <a:solidFill>
              <a:schemeClr val="tx1"/>
            </a:solidFill>
          </a:ln>
        </p:spPr>
        <p:txBody>
          <a:bodyPr wrap="square">
            <a:spAutoFit/>
          </a:bodyPr>
          <a:lstStyle/>
          <a:p>
            <a:pPr>
              <a:buNone/>
            </a:pPr>
            <a:r>
              <a:rPr lang="en-IN" sz="2000" b="1" u="sng" dirty="0">
                <a:solidFill>
                  <a:srgbClr val="0070C0"/>
                </a:solidFill>
              </a:rPr>
              <a:t>Defining Content – Dimensions Required</a:t>
            </a:r>
          </a:p>
          <a:p>
            <a:pPr>
              <a:buNone/>
            </a:pPr>
            <a:endParaRPr lang="en-IN" dirty="0"/>
          </a:p>
          <a:p>
            <a:pPr>
              <a:buNone/>
            </a:pPr>
            <a:r>
              <a:rPr lang="en-IN" dirty="0"/>
              <a:t>Dimensions provide </a:t>
            </a:r>
            <a:r>
              <a:rPr lang="en-IN" b="1" dirty="0"/>
              <a:t>context</a:t>
            </a:r>
            <a:r>
              <a:rPr lang="en-IN" dirty="0"/>
              <a:t> to </a:t>
            </a:r>
            <a:r>
              <a:rPr lang="en-IN" dirty="0" err="1"/>
              <a:t>analyze</a:t>
            </a:r>
            <a:r>
              <a:rPr lang="en-IN" dirty="0"/>
              <a:t> facts.</a:t>
            </a:r>
            <a:br>
              <a:rPr lang="en-IN" dirty="0"/>
            </a:br>
            <a:r>
              <a:rPr lang="en-IN" dirty="0"/>
              <a:t>They answer questions like </a:t>
            </a:r>
            <a:r>
              <a:rPr lang="en-IN" i="1" dirty="0"/>
              <a:t>when, where, what, and by whom</a:t>
            </a:r>
            <a:r>
              <a:rPr lang="en-IN" dirty="0"/>
              <a:t>.</a:t>
            </a:r>
          </a:p>
          <a:p>
            <a:pPr>
              <a:buNone/>
            </a:pPr>
            <a:endParaRPr lang="en-IN" dirty="0"/>
          </a:p>
          <a:p>
            <a:pPr>
              <a:buNone/>
            </a:pPr>
            <a:r>
              <a:rPr lang="en-IN" dirty="0"/>
              <a:t>In a sales system, key dimensions are:</a:t>
            </a:r>
          </a:p>
          <a:p>
            <a:pPr>
              <a:buFont typeface="Arial" panose="020B0604020202020204" pitchFamily="34" charset="0"/>
              <a:buChar char="•"/>
            </a:pPr>
            <a:r>
              <a:rPr lang="en-IN" dirty="0"/>
              <a:t>Time (date, month, year)</a:t>
            </a:r>
          </a:p>
          <a:p>
            <a:pPr>
              <a:buFont typeface="Arial" panose="020B0604020202020204" pitchFamily="34" charset="0"/>
              <a:buChar char="•"/>
            </a:pPr>
            <a:r>
              <a:rPr lang="en-IN" dirty="0"/>
              <a:t>Product (name, category, brand)</a:t>
            </a:r>
          </a:p>
          <a:p>
            <a:pPr>
              <a:buFont typeface="Arial" panose="020B0604020202020204" pitchFamily="34" charset="0"/>
              <a:buChar char="•"/>
            </a:pPr>
            <a:r>
              <a:rPr lang="en-IN" dirty="0"/>
              <a:t>Customer (type, city)</a:t>
            </a:r>
          </a:p>
          <a:p>
            <a:pPr>
              <a:buFont typeface="Arial" panose="020B0604020202020204" pitchFamily="34" charset="0"/>
              <a:buChar char="•"/>
            </a:pPr>
            <a:r>
              <a:rPr lang="en-IN" dirty="0"/>
              <a:t>Store / Location (city, region)</a:t>
            </a:r>
          </a:p>
          <a:p>
            <a:pPr>
              <a:buNone/>
            </a:pPr>
            <a:endParaRPr lang="en-IN" b="1" dirty="0"/>
          </a:p>
          <a:p>
            <a:pPr>
              <a:buNone/>
            </a:pPr>
            <a:r>
              <a:rPr lang="en-IN" b="1" dirty="0"/>
              <a:t>Example:</a:t>
            </a:r>
            <a:br>
              <a:rPr lang="en-IN" dirty="0"/>
            </a:br>
            <a:endParaRPr lang="en-IN" dirty="0"/>
          </a:p>
          <a:p>
            <a:pPr>
              <a:buNone/>
            </a:pPr>
            <a:r>
              <a:rPr lang="en-IN" dirty="0"/>
              <a:t>Sales amount can be </a:t>
            </a:r>
            <a:r>
              <a:rPr lang="en-IN" dirty="0" err="1"/>
              <a:t>analyzed</a:t>
            </a:r>
            <a:r>
              <a:rPr lang="en-IN" dirty="0"/>
              <a:t>:</a:t>
            </a:r>
          </a:p>
          <a:p>
            <a:pPr>
              <a:buFont typeface="Arial" panose="020B0604020202020204" pitchFamily="34" charset="0"/>
              <a:buChar char="•"/>
            </a:pPr>
            <a:r>
              <a:rPr lang="en-IN" dirty="0"/>
              <a:t>By year</a:t>
            </a:r>
          </a:p>
          <a:p>
            <a:pPr>
              <a:buFont typeface="Arial" panose="020B0604020202020204" pitchFamily="34" charset="0"/>
              <a:buChar char="•"/>
            </a:pPr>
            <a:r>
              <a:rPr lang="en-IN" dirty="0"/>
              <a:t>By product category</a:t>
            </a:r>
          </a:p>
          <a:p>
            <a:pPr>
              <a:buFont typeface="Arial" panose="020B0604020202020204" pitchFamily="34" charset="0"/>
              <a:buChar char="•"/>
            </a:pPr>
            <a:r>
              <a:rPr lang="en-IN" dirty="0"/>
              <a:t>By customer location</a:t>
            </a:r>
          </a:p>
          <a:p>
            <a:pPr>
              <a:buFont typeface="Arial" panose="020B0604020202020204" pitchFamily="34" charset="0"/>
              <a:buChar char="•"/>
            </a:pPr>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202280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967A6-4EED-67B8-AB59-9809D74040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3B6FC3-6FA9-FAF8-94C6-57C94F7109D5}"/>
              </a:ext>
            </a:extLst>
          </p:cNvPr>
          <p:cNvSpPr txBox="1"/>
          <p:nvPr/>
        </p:nvSpPr>
        <p:spPr>
          <a:xfrm>
            <a:off x="1169276" y="341698"/>
            <a:ext cx="9141372" cy="3108543"/>
          </a:xfrm>
          <a:prstGeom prst="rect">
            <a:avLst/>
          </a:prstGeom>
          <a:noFill/>
        </p:spPr>
        <p:txBody>
          <a:bodyPr wrap="square">
            <a:spAutoFit/>
          </a:bodyPr>
          <a:lstStyle/>
          <a:p>
            <a:pPr>
              <a:buNone/>
            </a:pPr>
            <a:r>
              <a:rPr lang="en-IN" sz="2800" b="1" u="sng" dirty="0">
                <a:solidFill>
                  <a:srgbClr val="0070C0"/>
                </a:solidFill>
              </a:rPr>
              <a:t>Principles of Dimensional Modelling – Introduction</a:t>
            </a:r>
          </a:p>
          <a:p>
            <a:pPr>
              <a:buNone/>
            </a:pPr>
            <a:endParaRPr lang="en-IN" sz="2800" b="1" u="sng" dirty="0">
              <a:solidFill>
                <a:srgbClr val="0070C0"/>
              </a:solidFill>
            </a:endParaRPr>
          </a:p>
          <a:p>
            <a:pPr>
              <a:buNone/>
            </a:pPr>
            <a:r>
              <a:rPr lang="en-IN" sz="2000" dirty="0"/>
              <a:t>Dimensional modelling follows certain principles to make data warehouses useful for </a:t>
            </a:r>
            <a:r>
              <a:rPr lang="en-IN" sz="2000" b="1" dirty="0"/>
              <a:t>analysis and decision making</a:t>
            </a:r>
            <a:r>
              <a:rPr lang="en-IN" sz="2000" dirty="0"/>
              <a:t>.</a:t>
            </a:r>
          </a:p>
          <a:p>
            <a:pPr>
              <a:buNone/>
            </a:pPr>
            <a:br>
              <a:rPr lang="en-IN" sz="2000" dirty="0"/>
            </a:br>
            <a:r>
              <a:rPr lang="en-IN" sz="2000" dirty="0"/>
              <a:t>The main objective is not only to store data, but to make data </a:t>
            </a:r>
            <a:r>
              <a:rPr lang="en-IN" sz="2000" b="1" dirty="0"/>
              <a:t>easy to understand, fast to query, and flexible for future needs</a:t>
            </a:r>
            <a:r>
              <a:rPr lang="en-IN" sz="2000" dirty="0"/>
              <a:t>.</a:t>
            </a:r>
            <a:br>
              <a:rPr lang="en-IN" sz="2000" dirty="0"/>
            </a:br>
            <a:endParaRPr lang="en-IN" sz="2000" dirty="0"/>
          </a:p>
          <a:p>
            <a:pPr>
              <a:buNone/>
            </a:pPr>
            <a:r>
              <a:rPr lang="en-IN" sz="2000" dirty="0"/>
              <a:t>These principles guide how fact tables and dimension tables are designed.</a:t>
            </a:r>
          </a:p>
        </p:txBody>
      </p:sp>
      <p:sp>
        <p:nvSpPr>
          <p:cNvPr id="5" name="TextBox 4">
            <a:extLst>
              <a:ext uri="{FF2B5EF4-FFF2-40B4-BE49-F238E27FC236}">
                <a16:creationId xmlns:a16="http://schemas.microsoft.com/office/drawing/2014/main" id="{AAC86555-30C9-A662-1AD0-078542E3F9CA}"/>
              </a:ext>
            </a:extLst>
          </p:cNvPr>
          <p:cNvSpPr txBox="1"/>
          <p:nvPr/>
        </p:nvSpPr>
        <p:spPr>
          <a:xfrm>
            <a:off x="3045373" y="3863047"/>
            <a:ext cx="6101254" cy="2308324"/>
          </a:xfrm>
          <a:prstGeom prst="rect">
            <a:avLst/>
          </a:prstGeom>
          <a:noFill/>
          <a:ln w="57150">
            <a:solidFill>
              <a:schemeClr val="tx1"/>
            </a:solidFill>
          </a:ln>
        </p:spPr>
        <p:txBody>
          <a:bodyPr wrap="square">
            <a:spAutoFit/>
          </a:bodyPr>
          <a:lstStyle/>
          <a:p>
            <a:pPr algn="ctr">
              <a:buNone/>
            </a:pPr>
            <a:r>
              <a:rPr lang="en-IN" sz="2400" u="sng" dirty="0">
                <a:solidFill>
                  <a:srgbClr val="0070C0"/>
                </a:solidFill>
              </a:rPr>
              <a:t>Dimensional modelling aims to:</a:t>
            </a:r>
          </a:p>
          <a:p>
            <a:pPr>
              <a:buFont typeface="Arial" panose="020B0604020202020204" pitchFamily="34" charset="0"/>
              <a:buChar char="•"/>
            </a:pPr>
            <a:r>
              <a:rPr lang="en-IN" sz="2400" dirty="0"/>
              <a:t>Keep the data model simple and user-friendly</a:t>
            </a:r>
          </a:p>
          <a:p>
            <a:pPr>
              <a:buFont typeface="Arial" panose="020B0604020202020204" pitchFamily="34" charset="0"/>
              <a:buChar char="•"/>
            </a:pPr>
            <a:r>
              <a:rPr lang="en-IN" sz="2400" dirty="0"/>
              <a:t>Provide fast query performance</a:t>
            </a:r>
          </a:p>
          <a:p>
            <a:pPr>
              <a:buFont typeface="Arial" panose="020B0604020202020204" pitchFamily="34" charset="0"/>
              <a:buChar char="•"/>
            </a:pPr>
            <a:r>
              <a:rPr lang="en-IN" sz="2400" dirty="0"/>
              <a:t>Support meaningful business analysis</a:t>
            </a:r>
          </a:p>
          <a:p>
            <a:pPr>
              <a:buFont typeface="Arial" panose="020B0604020202020204" pitchFamily="34" charset="0"/>
              <a:buChar char="•"/>
            </a:pPr>
            <a:r>
              <a:rPr lang="en-IN" sz="2400" dirty="0"/>
              <a:t>Allow easy extension and future growth</a:t>
            </a:r>
          </a:p>
        </p:txBody>
      </p:sp>
    </p:spTree>
    <p:extLst>
      <p:ext uri="{BB962C8B-B14F-4D97-AF65-F5344CB8AC3E}">
        <p14:creationId xmlns:p14="http://schemas.microsoft.com/office/powerpoint/2010/main" val="1511731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D144B-13F3-8804-2776-7834DE9D9F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4A6AF5-961A-9485-A84E-677F9977C04B}"/>
              </a:ext>
            </a:extLst>
          </p:cNvPr>
          <p:cNvSpPr txBox="1"/>
          <p:nvPr/>
        </p:nvSpPr>
        <p:spPr>
          <a:xfrm>
            <a:off x="990600" y="283550"/>
            <a:ext cx="9677399" cy="5909310"/>
          </a:xfrm>
          <a:prstGeom prst="rect">
            <a:avLst/>
          </a:prstGeom>
          <a:noFill/>
        </p:spPr>
        <p:txBody>
          <a:bodyPr wrap="square">
            <a:spAutoFit/>
          </a:bodyPr>
          <a:lstStyle/>
          <a:p>
            <a:pPr>
              <a:buNone/>
            </a:pPr>
            <a:r>
              <a:rPr lang="en-IN" sz="2400" b="1" u="sng" dirty="0"/>
              <a:t>1. Easy to Understand</a:t>
            </a:r>
          </a:p>
          <a:p>
            <a:pPr>
              <a:buNone/>
            </a:pPr>
            <a:endParaRPr lang="en-IN" b="1" dirty="0"/>
          </a:p>
          <a:p>
            <a:pPr>
              <a:buNone/>
            </a:pPr>
            <a:r>
              <a:rPr lang="en-IN" sz="2400" dirty="0"/>
              <a:t>One of the most important objectives of dimensional modelling is simplicity.</a:t>
            </a:r>
            <a:br>
              <a:rPr lang="en-IN" sz="2400" dirty="0"/>
            </a:br>
            <a:endParaRPr lang="en-IN" sz="2400" dirty="0"/>
          </a:p>
          <a:p>
            <a:pPr>
              <a:buNone/>
            </a:pPr>
            <a:r>
              <a:rPr lang="en-IN" sz="2400" dirty="0"/>
              <a:t>The data model is designed in such a way that </a:t>
            </a:r>
            <a:r>
              <a:rPr lang="en-IN" sz="2400" b="1" dirty="0"/>
              <a:t>business users can understand it easily</a:t>
            </a:r>
            <a:r>
              <a:rPr lang="en-IN" sz="2400" dirty="0"/>
              <a:t>, even if they are not technical experts.</a:t>
            </a:r>
          </a:p>
          <a:p>
            <a:pPr>
              <a:buNone/>
            </a:pPr>
            <a:endParaRPr lang="en-IN" sz="2400" dirty="0"/>
          </a:p>
          <a:p>
            <a:pPr>
              <a:buNone/>
            </a:pPr>
            <a:r>
              <a:rPr lang="en-IN" sz="2400" dirty="0"/>
              <a:t>In a star schema, facts are placed at the </a:t>
            </a:r>
            <a:r>
              <a:rPr lang="en-IN" sz="2400" dirty="0" err="1"/>
              <a:t>center</a:t>
            </a:r>
            <a:r>
              <a:rPr lang="en-IN" sz="2400" dirty="0"/>
              <a:t> and dimensions are placed around them.</a:t>
            </a:r>
            <a:br>
              <a:rPr lang="en-IN" sz="2400" dirty="0"/>
            </a:br>
            <a:endParaRPr lang="en-IN" sz="2400" dirty="0"/>
          </a:p>
          <a:p>
            <a:pPr>
              <a:buNone/>
            </a:pPr>
            <a:r>
              <a:rPr lang="en-IN" sz="2400" dirty="0"/>
              <a:t>This structure closely matches how users think about data, such as </a:t>
            </a:r>
            <a:r>
              <a:rPr lang="en-IN" sz="2400" i="1" dirty="0"/>
              <a:t>sales by product, by time, by region</a:t>
            </a:r>
            <a:r>
              <a:rPr lang="en-IN" sz="2400" dirty="0"/>
              <a:t>.</a:t>
            </a:r>
            <a:br>
              <a:rPr lang="en-IN" sz="2400" dirty="0"/>
            </a:br>
            <a:endParaRPr lang="en-IN" sz="2400" dirty="0"/>
          </a:p>
          <a:p>
            <a:pPr>
              <a:buNone/>
            </a:pPr>
            <a:r>
              <a:rPr lang="en-IN" sz="2400" dirty="0"/>
              <a:t>Because of this simple structure, users can write queries and </a:t>
            </a:r>
            <a:r>
              <a:rPr lang="en-IN" sz="2400" dirty="0" err="1"/>
              <a:t>analyze</a:t>
            </a:r>
            <a:r>
              <a:rPr lang="en-IN" sz="2400" dirty="0"/>
              <a:t> data without confusion.</a:t>
            </a:r>
          </a:p>
        </p:txBody>
      </p:sp>
    </p:spTree>
    <p:extLst>
      <p:ext uri="{BB962C8B-B14F-4D97-AF65-F5344CB8AC3E}">
        <p14:creationId xmlns:p14="http://schemas.microsoft.com/office/powerpoint/2010/main" val="869891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8EB66-C8B4-B50E-34F1-315103E2AC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C50983-88B9-B084-D2B9-171F0E02E47A}"/>
              </a:ext>
            </a:extLst>
          </p:cNvPr>
          <p:cNvSpPr txBox="1"/>
          <p:nvPr/>
        </p:nvSpPr>
        <p:spPr>
          <a:xfrm>
            <a:off x="1106215" y="302707"/>
            <a:ext cx="9078310" cy="6001643"/>
          </a:xfrm>
          <a:prstGeom prst="rect">
            <a:avLst/>
          </a:prstGeom>
          <a:noFill/>
        </p:spPr>
        <p:txBody>
          <a:bodyPr wrap="square">
            <a:spAutoFit/>
          </a:bodyPr>
          <a:lstStyle/>
          <a:p>
            <a:pPr>
              <a:buNone/>
            </a:pPr>
            <a:r>
              <a:rPr lang="en-IN" sz="2400" b="1" u="sng" dirty="0"/>
              <a:t>2. High Query Performance</a:t>
            </a:r>
          </a:p>
          <a:p>
            <a:pPr>
              <a:buNone/>
            </a:pPr>
            <a:endParaRPr lang="en-IN" sz="2400" b="1" dirty="0"/>
          </a:p>
          <a:p>
            <a:pPr>
              <a:buNone/>
            </a:pPr>
            <a:r>
              <a:rPr lang="en-IN" sz="2400" dirty="0"/>
              <a:t>Dimensional models are optimized for </a:t>
            </a:r>
            <a:r>
              <a:rPr lang="en-IN" sz="2400" b="1" dirty="0"/>
              <a:t>fast query execution</a:t>
            </a:r>
            <a:r>
              <a:rPr lang="en-IN" sz="2400" dirty="0"/>
              <a:t>, which is very important in analytical systems.</a:t>
            </a:r>
            <a:br>
              <a:rPr lang="en-IN" sz="2400" dirty="0"/>
            </a:br>
            <a:endParaRPr lang="en-IN" sz="2400" dirty="0"/>
          </a:p>
          <a:p>
            <a:pPr>
              <a:buNone/>
            </a:pPr>
            <a:r>
              <a:rPr lang="en-IN" sz="2400" dirty="0"/>
              <a:t>Since dimension tables are denormalized and joined directly to the fact table, the number of joins is reduced.</a:t>
            </a:r>
          </a:p>
          <a:p>
            <a:pPr>
              <a:buNone/>
            </a:pPr>
            <a:endParaRPr lang="en-IN" sz="2400" dirty="0"/>
          </a:p>
          <a:p>
            <a:pPr>
              <a:buNone/>
            </a:pPr>
            <a:r>
              <a:rPr lang="en-IN" sz="2400" dirty="0"/>
              <a:t>For example, to find total sales per year, the system only needs to join the sales fact table with the time dimension.</a:t>
            </a:r>
            <a:br>
              <a:rPr lang="en-IN" sz="2400" dirty="0"/>
            </a:br>
            <a:endParaRPr lang="en-IN" sz="2400" dirty="0"/>
          </a:p>
          <a:p>
            <a:pPr>
              <a:buNone/>
            </a:pPr>
            <a:r>
              <a:rPr lang="en-IN" sz="2400" dirty="0"/>
              <a:t>This makes queries faster compared to complex normalized schemas.</a:t>
            </a:r>
            <a:br>
              <a:rPr lang="en-IN" sz="2400" dirty="0"/>
            </a:br>
            <a:endParaRPr lang="en-IN" sz="2400" dirty="0"/>
          </a:p>
          <a:p>
            <a:pPr>
              <a:buNone/>
            </a:pPr>
            <a:r>
              <a:rPr lang="en-IN" sz="2400" dirty="0"/>
              <a:t>High performance allows quick report generation and better user experience.</a:t>
            </a:r>
          </a:p>
        </p:txBody>
      </p:sp>
    </p:spTree>
    <p:extLst>
      <p:ext uri="{BB962C8B-B14F-4D97-AF65-F5344CB8AC3E}">
        <p14:creationId xmlns:p14="http://schemas.microsoft.com/office/powerpoint/2010/main" val="1196635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243A-D0F9-D34C-21C7-624E0140C8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A9E0A5-B376-84AE-D189-FD053F4F6FED}"/>
              </a:ext>
            </a:extLst>
          </p:cNvPr>
          <p:cNvSpPr txBox="1"/>
          <p:nvPr/>
        </p:nvSpPr>
        <p:spPr>
          <a:xfrm>
            <a:off x="1011620" y="363251"/>
            <a:ext cx="8847083" cy="4801314"/>
          </a:xfrm>
          <a:prstGeom prst="rect">
            <a:avLst/>
          </a:prstGeom>
          <a:noFill/>
        </p:spPr>
        <p:txBody>
          <a:bodyPr wrap="square">
            <a:spAutoFit/>
          </a:bodyPr>
          <a:lstStyle/>
          <a:p>
            <a:pPr>
              <a:buNone/>
            </a:pPr>
            <a:r>
              <a:rPr lang="en-IN" sz="2400" b="1" u="sng" dirty="0"/>
              <a:t>3. Supports Business Analysis</a:t>
            </a:r>
          </a:p>
          <a:p>
            <a:pPr>
              <a:buNone/>
            </a:pPr>
            <a:endParaRPr lang="en-IN" b="1" dirty="0"/>
          </a:p>
          <a:p>
            <a:pPr>
              <a:buNone/>
            </a:pPr>
            <a:r>
              <a:rPr lang="en-IN" sz="2400" dirty="0"/>
              <a:t>Dimensional modelling is specially designed for </a:t>
            </a:r>
            <a:r>
              <a:rPr lang="en-IN" sz="2400" b="1" dirty="0"/>
              <a:t>analytical queries</a:t>
            </a:r>
            <a:r>
              <a:rPr lang="en-IN" sz="2400" dirty="0"/>
              <a:t>, not for transaction processing.</a:t>
            </a:r>
            <a:br>
              <a:rPr lang="en-IN" sz="2400" dirty="0"/>
            </a:br>
            <a:endParaRPr lang="en-IN" sz="2400" dirty="0"/>
          </a:p>
          <a:p>
            <a:pPr>
              <a:buNone/>
            </a:pPr>
            <a:r>
              <a:rPr lang="en-IN" sz="2400" dirty="0"/>
              <a:t>It allows users to easily perform operations like:</a:t>
            </a:r>
          </a:p>
          <a:p>
            <a:pPr>
              <a:buFont typeface="Arial" panose="020B0604020202020204" pitchFamily="34" charset="0"/>
              <a:buChar char="•"/>
            </a:pPr>
            <a:r>
              <a:rPr lang="en-IN" sz="2400" dirty="0"/>
              <a:t>Comparing sales across time periods</a:t>
            </a:r>
          </a:p>
          <a:p>
            <a:pPr>
              <a:buFont typeface="Arial" panose="020B0604020202020204" pitchFamily="34" charset="0"/>
              <a:buChar char="•"/>
            </a:pPr>
            <a:r>
              <a:rPr lang="en-IN" sz="2400" dirty="0" err="1"/>
              <a:t>Analyzing</a:t>
            </a:r>
            <a:r>
              <a:rPr lang="en-IN" sz="2400" dirty="0"/>
              <a:t> performance by product or region</a:t>
            </a:r>
          </a:p>
          <a:p>
            <a:pPr>
              <a:buFont typeface="Arial" panose="020B0604020202020204" pitchFamily="34" charset="0"/>
              <a:buChar char="•"/>
            </a:pPr>
            <a:r>
              <a:rPr lang="en-IN" sz="2400" dirty="0"/>
              <a:t>Finding trends and patterns</a:t>
            </a:r>
          </a:p>
          <a:p>
            <a:pPr>
              <a:buNone/>
            </a:pPr>
            <a:endParaRPr lang="en-IN" sz="2400" dirty="0"/>
          </a:p>
          <a:p>
            <a:pPr>
              <a:buNone/>
            </a:pPr>
            <a:r>
              <a:rPr lang="en-IN" sz="2400" dirty="0"/>
              <a:t>Because data is organized around business processes, managers can easily answer questions like </a:t>
            </a:r>
            <a:r>
              <a:rPr lang="en-IN" sz="2400" i="1" dirty="0"/>
              <a:t>“Which product performed best this year?”</a:t>
            </a:r>
            <a:r>
              <a:rPr lang="en-IN" sz="2400" dirty="0"/>
              <a:t> or </a:t>
            </a:r>
            <a:r>
              <a:rPr lang="en-IN" sz="2400" i="1" dirty="0"/>
              <a:t>“Which region has low sales?”</a:t>
            </a:r>
            <a:endParaRPr lang="en-IN" sz="2400" dirty="0"/>
          </a:p>
        </p:txBody>
      </p:sp>
    </p:spTree>
    <p:extLst>
      <p:ext uri="{BB962C8B-B14F-4D97-AF65-F5344CB8AC3E}">
        <p14:creationId xmlns:p14="http://schemas.microsoft.com/office/powerpoint/2010/main" val="1633303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65BB-646C-90E8-2019-95BFB26242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DAD3F9-3063-CC27-D027-D672E3200516}"/>
              </a:ext>
            </a:extLst>
          </p:cNvPr>
          <p:cNvSpPr txBox="1"/>
          <p:nvPr/>
        </p:nvSpPr>
        <p:spPr>
          <a:xfrm>
            <a:off x="1179787" y="327457"/>
            <a:ext cx="8531771" cy="5632311"/>
          </a:xfrm>
          <a:prstGeom prst="rect">
            <a:avLst/>
          </a:prstGeom>
          <a:noFill/>
        </p:spPr>
        <p:txBody>
          <a:bodyPr wrap="square">
            <a:spAutoFit/>
          </a:bodyPr>
          <a:lstStyle/>
          <a:p>
            <a:pPr>
              <a:buNone/>
            </a:pPr>
            <a:r>
              <a:rPr lang="en-IN" sz="2400" b="1" u="sng" dirty="0"/>
              <a:t>4. Extensible and Scalable</a:t>
            </a:r>
          </a:p>
          <a:p>
            <a:pPr>
              <a:buNone/>
            </a:pPr>
            <a:endParaRPr lang="en-IN" sz="2400" b="1" u="sng" dirty="0"/>
          </a:p>
          <a:p>
            <a:pPr>
              <a:buNone/>
            </a:pPr>
            <a:r>
              <a:rPr lang="en-IN" sz="2400" dirty="0"/>
              <a:t>Another key objective of dimensional modelling is flexibility.</a:t>
            </a:r>
            <a:br>
              <a:rPr lang="en-IN" sz="2400" dirty="0"/>
            </a:br>
            <a:endParaRPr lang="en-IN" sz="2400" dirty="0"/>
          </a:p>
          <a:p>
            <a:pPr>
              <a:buNone/>
            </a:pPr>
            <a:r>
              <a:rPr lang="en-IN" sz="2400" dirty="0"/>
              <a:t>The model can be easily extended when business requirements change.</a:t>
            </a:r>
          </a:p>
          <a:p>
            <a:pPr>
              <a:buNone/>
            </a:pPr>
            <a:endParaRPr lang="en-IN" sz="2400" dirty="0"/>
          </a:p>
          <a:p>
            <a:pPr>
              <a:buNone/>
            </a:pPr>
            <a:r>
              <a:rPr lang="en-IN" sz="2400" dirty="0"/>
              <a:t>New dimensions or new attributes can be added without disturbing existing data.</a:t>
            </a:r>
            <a:br>
              <a:rPr lang="en-IN" sz="2400" dirty="0"/>
            </a:br>
            <a:endParaRPr lang="en-IN" sz="2400" dirty="0"/>
          </a:p>
          <a:p>
            <a:pPr>
              <a:buNone/>
            </a:pPr>
            <a:r>
              <a:rPr lang="en-IN" sz="2400" dirty="0"/>
              <a:t>For example, if the business wants to </a:t>
            </a:r>
            <a:r>
              <a:rPr lang="en-IN" sz="2400" dirty="0" err="1"/>
              <a:t>analyze</a:t>
            </a:r>
            <a:r>
              <a:rPr lang="en-IN" sz="2400" dirty="0"/>
              <a:t> sales by </a:t>
            </a:r>
            <a:r>
              <a:rPr lang="en-IN" sz="2400" b="1" dirty="0"/>
              <a:t>promotion</a:t>
            </a:r>
            <a:r>
              <a:rPr lang="en-IN" sz="2400" dirty="0"/>
              <a:t>, a new promotion dimension can be added.</a:t>
            </a:r>
            <a:br>
              <a:rPr lang="en-IN" sz="2400" dirty="0"/>
            </a:br>
            <a:endParaRPr lang="en-IN" sz="2400" dirty="0"/>
          </a:p>
          <a:p>
            <a:pPr>
              <a:buNone/>
            </a:pPr>
            <a:r>
              <a:rPr lang="en-IN" sz="2400" dirty="0"/>
              <a:t>This scalability ensures that the data warehouse can grow with the business over time.</a:t>
            </a:r>
          </a:p>
        </p:txBody>
      </p:sp>
    </p:spTree>
    <p:extLst>
      <p:ext uri="{BB962C8B-B14F-4D97-AF65-F5344CB8AC3E}">
        <p14:creationId xmlns:p14="http://schemas.microsoft.com/office/powerpoint/2010/main" val="35076552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EC92E-7788-0F9E-880B-09F3DF812BCF}"/>
            </a:ext>
          </a:extLst>
        </p:cNvPr>
        <p:cNvGrpSpPr/>
        <p:nvPr/>
      </p:nvGrpSpPr>
      <p:grpSpPr>
        <a:xfrm>
          <a:off x="0" y="0"/>
          <a:ext cx="0" cy="0"/>
          <a:chOff x="0" y="0"/>
          <a:chExt cx="0" cy="0"/>
        </a:xfrm>
      </p:grpSpPr>
    </p:spTree>
    <p:extLst>
      <p:ext uri="{BB962C8B-B14F-4D97-AF65-F5344CB8AC3E}">
        <p14:creationId xmlns:p14="http://schemas.microsoft.com/office/powerpoint/2010/main" val="37582459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8AC41-9CB4-4D70-01E5-8ABBF967974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DCC699-568E-2AA4-31B5-AD49D8C2E65F}"/>
              </a:ext>
            </a:extLst>
          </p:cNvPr>
          <p:cNvSpPr txBox="1"/>
          <p:nvPr/>
        </p:nvSpPr>
        <p:spPr>
          <a:xfrm>
            <a:off x="1190297" y="215574"/>
            <a:ext cx="8784020" cy="2893100"/>
          </a:xfrm>
          <a:prstGeom prst="rect">
            <a:avLst/>
          </a:prstGeom>
          <a:noFill/>
        </p:spPr>
        <p:txBody>
          <a:bodyPr wrap="square">
            <a:spAutoFit/>
          </a:bodyPr>
          <a:lstStyle/>
          <a:p>
            <a:pPr>
              <a:buNone/>
            </a:pPr>
            <a:r>
              <a:rPr lang="en-IN" sz="3200" b="1" u="sng" dirty="0">
                <a:solidFill>
                  <a:srgbClr val="C00000"/>
                </a:solidFill>
              </a:rPr>
              <a:t>Granularity – Introduction</a:t>
            </a:r>
          </a:p>
          <a:p>
            <a:pPr>
              <a:buNone/>
            </a:pPr>
            <a:endParaRPr lang="en-IN" sz="2400" b="1" u="sng" dirty="0"/>
          </a:p>
          <a:p>
            <a:pPr>
              <a:buNone/>
            </a:pPr>
            <a:r>
              <a:rPr lang="en-IN" dirty="0"/>
              <a:t>Granularity is a </a:t>
            </a:r>
            <a:r>
              <a:rPr lang="en-IN" b="1" dirty="0"/>
              <a:t>fundamental concept in dimensional modelling</a:t>
            </a:r>
            <a:r>
              <a:rPr lang="en-IN" dirty="0"/>
              <a:t>.</a:t>
            </a:r>
            <a:br>
              <a:rPr lang="en-IN" dirty="0"/>
            </a:br>
            <a:endParaRPr lang="en-IN" dirty="0"/>
          </a:p>
          <a:p>
            <a:pPr>
              <a:buNone/>
            </a:pPr>
            <a:r>
              <a:rPr lang="en-IN" dirty="0"/>
              <a:t>Before designing fact tables and dimensions, we must clearly decide </a:t>
            </a:r>
            <a:r>
              <a:rPr lang="en-IN" b="1" dirty="0"/>
              <a:t>how detailed the data should be stored</a:t>
            </a:r>
            <a:r>
              <a:rPr lang="en-IN" dirty="0"/>
              <a:t>.</a:t>
            </a:r>
            <a:br>
              <a:rPr lang="en-IN" dirty="0"/>
            </a:br>
            <a:endParaRPr lang="en-IN" dirty="0"/>
          </a:p>
          <a:p>
            <a:pPr>
              <a:buNone/>
            </a:pPr>
            <a:r>
              <a:rPr lang="en-IN" dirty="0"/>
              <a:t>The level of detail chosen directly affects storage size, query flexibility, and business analysis capabilities.</a:t>
            </a:r>
          </a:p>
        </p:txBody>
      </p:sp>
      <p:sp>
        <p:nvSpPr>
          <p:cNvPr id="5" name="TextBox 4">
            <a:extLst>
              <a:ext uri="{FF2B5EF4-FFF2-40B4-BE49-F238E27FC236}">
                <a16:creationId xmlns:a16="http://schemas.microsoft.com/office/drawing/2014/main" id="{2AB318B9-2371-D00F-F313-2CDC81D4CC9E}"/>
              </a:ext>
            </a:extLst>
          </p:cNvPr>
          <p:cNvSpPr txBox="1"/>
          <p:nvPr/>
        </p:nvSpPr>
        <p:spPr>
          <a:xfrm>
            <a:off x="1190297" y="3226106"/>
            <a:ext cx="9414641" cy="3416320"/>
          </a:xfrm>
          <a:prstGeom prst="rect">
            <a:avLst/>
          </a:prstGeom>
          <a:noFill/>
        </p:spPr>
        <p:txBody>
          <a:bodyPr wrap="square">
            <a:spAutoFit/>
          </a:bodyPr>
          <a:lstStyle/>
          <a:p>
            <a:pPr>
              <a:buNone/>
            </a:pPr>
            <a:r>
              <a:rPr lang="en-IN" dirty="0">
                <a:solidFill>
                  <a:srgbClr val="FF3300"/>
                </a:solidFill>
              </a:rPr>
              <a:t>Granularity (or grain) refers to the </a:t>
            </a:r>
            <a:r>
              <a:rPr lang="en-IN" b="1" dirty="0">
                <a:solidFill>
                  <a:srgbClr val="FF3300"/>
                </a:solidFill>
              </a:rPr>
              <a:t>level of detail represented by a single row in a fact table</a:t>
            </a:r>
            <a:r>
              <a:rPr lang="en-IN" dirty="0">
                <a:solidFill>
                  <a:srgbClr val="FF3300"/>
                </a:solidFill>
              </a:rPr>
              <a:t>.</a:t>
            </a:r>
            <a:br>
              <a:rPr lang="en-IN" dirty="0"/>
            </a:br>
            <a:endParaRPr lang="en-IN" dirty="0"/>
          </a:p>
          <a:p>
            <a:pPr>
              <a:buNone/>
            </a:pPr>
            <a:r>
              <a:rPr lang="en-IN" dirty="0"/>
              <a:t>It answers the question:</a:t>
            </a:r>
            <a:br>
              <a:rPr lang="en-IN" dirty="0"/>
            </a:br>
            <a:r>
              <a:rPr lang="en-IN" b="1" dirty="0"/>
              <a:t>“Exactly what does one record in the fact table represent?”</a:t>
            </a:r>
            <a:endParaRPr lang="en-IN" dirty="0"/>
          </a:p>
          <a:p>
            <a:pPr>
              <a:buNone/>
            </a:pPr>
            <a:endParaRPr lang="en-IN" dirty="0"/>
          </a:p>
          <a:p>
            <a:pPr>
              <a:buNone/>
            </a:pPr>
            <a:r>
              <a:rPr lang="en-IN" dirty="0"/>
              <a:t>For example:</a:t>
            </a:r>
          </a:p>
          <a:p>
            <a:pPr>
              <a:buFont typeface="Arial" panose="020B0604020202020204" pitchFamily="34" charset="0"/>
              <a:buChar char="•"/>
            </a:pPr>
            <a:r>
              <a:rPr lang="en-IN" dirty="0"/>
              <a:t>One row can represent </a:t>
            </a:r>
            <a:r>
              <a:rPr lang="en-IN" b="1" dirty="0"/>
              <a:t>one product sold in one transaction</a:t>
            </a:r>
            <a:endParaRPr lang="en-IN" dirty="0"/>
          </a:p>
          <a:p>
            <a:pPr>
              <a:buFont typeface="Arial" panose="020B0604020202020204" pitchFamily="34" charset="0"/>
              <a:buChar char="•"/>
            </a:pPr>
            <a:r>
              <a:rPr lang="en-IN" dirty="0"/>
              <a:t>Or one row can represent </a:t>
            </a:r>
            <a:r>
              <a:rPr lang="en-IN" b="1" dirty="0"/>
              <a:t>total sales for one day</a:t>
            </a:r>
            <a:endParaRPr lang="en-IN" dirty="0"/>
          </a:p>
          <a:p>
            <a:pPr>
              <a:buNone/>
            </a:pPr>
            <a:endParaRPr lang="en-IN" dirty="0"/>
          </a:p>
          <a:p>
            <a:pPr>
              <a:buNone/>
            </a:pPr>
            <a:r>
              <a:rPr lang="en-IN" dirty="0"/>
              <a:t>Once the grain is defined, </a:t>
            </a:r>
            <a:r>
              <a:rPr lang="en-IN" b="1" dirty="0"/>
              <a:t>all facts and dimensions must follow the same level of detail</a:t>
            </a:r>
            <a:r>
              <a:rPr lang="en-IN" dirty="0"/>
              <a:t>.</a:t>
            </a:r>
          </a:p>
        </p:txBody>
      </p:sp>
    </p:spTree>
    <p:extLst>
      <p:ext uri="{BB962C8B-B14F-4D97-AF65-F5344CB8AC3E}">
        <p14:creationId xmlns:p14="http://schemas.microsoft.com/office/powerpoint/2010/main" val="28782964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9D20C-E641-3F4C-03DD-1D09DBEAB4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4A6BE4-DE47-9712-AC90-44AC0B4D5AFE}"/>
              </a:ext>
            </a:extLst>
          </p:cNvPr>
          <p:cNvSpPr txBox="1"/>
          <p:nvPr/>
        </p:nvSpPr>
        <p:spPr>
          <a:xfrm>
            <a:off x="1085192" y="268126"/>
            <a:ext cx="8784021" cy="2308324"/>
          </a:xfrm>
          <a:prstGeom prst="rect">
            <a:avLst/>
          </a:prstGeom>
          <a:noFill/>
        </p:spPr>
        <p:txBody>
          <a:bodyPr wrap="square">
            <a:spAutoFit/>
          </a:bodyPr>
          <a:lstStyle/>
          <a:p>
            <a:pPr>
              <a:buNone/>
            </a:pPr>
            <a:r>
              <a:rPr lang="en-IN" dirty="0"/>
              <a:t>Consider a </a:t>
            </a:r>
            <a:r>
              <a:rPr lang="en-IN" b="1" dirty="0"/>
              <a:t>sales system</a:t>
            </a:r>
            <a:r>
              <a:rPr lang="en-IN" dirty="0"/>
              <a:t>:</a:t>
            </a:r>
          </a:p>
          <a:p>
            <a:pPr>
              <a:buFont typeface="Arial" panose="020B0604020202020204" pitchFamily="34" charset="0"/>
              <a:buChar char="•"/>
            </a:pPr>
            <a:endParaRPr lang="en-IN" dirty="0"/>
          </a:p>
          <a:p>
            <a:pPr>
              <a:buFont typeface="Arial" panose="020B0604020202020204" pitchFamily="34" charset="0"/>
              <a:buChar char="•"/>
            </a:pPr>
            <a:r>
              <a:rPr lang="en-IN" dirty="0"/>
              <a:t>If one row stores </a:t>
            </a:r>
            <a:r>
              <a:rPr lang="en-IN" i="1" dirty="0"/>
              <a:t>each individual item sold</a:t>
            </a:r>
            <a:r>
              <a:rPr lang="en-IN" dirty="0"/>
              <a:t>, the data is very detailed.</a:t>
            </a:r>
          </a:p>
          <a:p>
            <a:pPr>
              <a:buFont typeface="Arial" panose="020B0604020202020204" pitchFamily="34" charset="0"/>
              <a:buChar char="•"/>
            </a:pPr>
            <a:r>
              <a:rPr lang="en-IN" dirty="0"/>
              <a:t>If one row stores </a:t>
            </a:r>
            <a:r>
              <a:rPr lang="en-IN" i="1" dirty="0"/>
              <a:t>total sales per day</a:t>
            </a:r>
            <a:r>
              <a:rPr lang="en-IN" dirty="0"/>
              <a:t>, the data is less detailed.</a:t>
            </a:r>
          </a:p>
          <a:p>
            <a:pPr>
              <a:buNone/>
            </a:pPr>
            <a:endParaRPr lang="en-IN" dirty="0"/>
          </a:p>
          <a:p>
            <a:pPr>
              <a:buNone/>
            </a:pPr>
            <a:r>
              <a:rPr lang="en-IN" dirty="0"/>
              <a:t>Both are valid designs, but the </a:t>
            </a:r>
            <a:r>
              <a:rPr lang="en-IN" b="1" dirty="0"/>
              <a:t>analysis possibilities differ</a:t>
            </a:r>
            <a:r>
              <a:rPr lang="en-IN" dirty="0"/>
              <a:t>.</a:t>
            </a:r>
            <a:br>
              <a:rPr lang="en-IN" dirty="0"/>
            </a:br>
            <a:endParaRPr lang="en-IN" dirty="0"/>
          </a:p>
          <a:p>
            <a:pPr>
              <a:buNone/>
            </a:pPr>
            <a:r>
              <a:rPr lang="en-IN" dirty="0"/>
              <a:t>Choosing the correct grain is a </a:t>
            </a:r>
            <a:r>
              <a:rPr lang="en-IN" b="1" dirty="0"/>
              <a:t>business decision</a:t>
            </a:r>
            <a:r>
              <a:rPr lang="en-IN" dirty="0"/>
              <a:t>, not just a technical one.</a:t>
            </a:r>
          </a:p>
        </p:txBody>
      </p:sp>
    </p:spTree>
    <p:extLst>
      <p:ext uri="{BB962C8B-B14F-4D97-AF65-F5344CB8AC3E}">
        <p14:creationId xmlns:p14="http://schemas.microsoft.com/office/powerpoint/2010/main" val="1519000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3CA04-C20F-BE9C-F8F3-E596E92EC0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A81CDF-EF91-882C-2236-9CA34F92F2C2}"/>
              </a:ext>
            </a:extLst>
          </p:cNvPr>
          <p:cNvSpPr txBox="1"/>
          <p:nvPr/>
        </p:nvSpPr>
        <p:spPr>
          <a:xfrm>
            <a:off x="959069" y="162342"/>
            <a:ext cx="9151882" cy="5724644"/>
          </a:xfrm>
          <a:prstGeom prst="rect">
            <a:avLst/>
          </a:prstGeom>
          <a:noFill/>
        </p:spPr>
        <p:txBody>
          <a:bodyPr wrap="square">
            <a:spAutoFit/>
          </a:bodyPr>
          <a:lstStyle/>
          <a:p>
            <a:pPr>
              <a:buNone/>
            </a:pPr>
            <a:r>
              <a:rPr lang="en-IN" sz="2800" b="1" u="sng" dirty="0">
                <a:solidFill>
                  <a:srgbClr val="C00000"/>
                </a:solidFill>
              </a:rPr>
              <a:t>Importance of Choosing the Correct Grain</a:t>
            </a:r>
          </a:p>
          <a:p>
            <a:pPr>
              <a:buNone/>
            </a:pPr>
            <a:endParaRPr lang="en-IN" b="1" dirty="0"/>
          </a:p>
          <a:p>
            <a:pPr>
              <a:buNone/>
            </a:pPr>
            <a:r>
              <a:rPr lang="en-IN" sz="2000" dirty="0"/>
              <a:t>Choosing the correct granularity is critical because it affects:</a:t>
            </a:r>
          </a:p>
          <a:p>
            <a:pPr>
              <a:buFont typeface="+mj-lt"/>
              <a:buAutoNum type="arabicPeriod"/>
            </a:pPr>
            <a:endParaRPr lang="en-IN" sz="2000" b="1" dirty="0"/>
          </a:p>
          <a:p>
            <a:pPr>
              <a:buFont typeface="+mj-lt"/>
              <a:buAutoNum type="arabicPeriod"/>
            </a:pPr>
            <a:r>
              <a:rPr lang="en-IN" sz="2000" b="1" dirty="0"/>
              <a:t>Business Analysis Capability</a:t>
            </a:r>
            <a:br>
              <a:rPr lang="en-IN" sz="2000" dirty="0"/>
            </a:br>
            <a:r>
              <a:rPr lang="en-IN" sz="2000" dirty="0"/>
              <a:t>Fine-grain data allows deeper analysis such as customer </a:t>
            </a:r>
            <a:r>
              <a:rPr lang="en-IN" sz="2000" dirty="0" err="1"/>
              <a:t>behavior</a:t>
            </a:r>
            <a:r>
              <a:rPr lang="en-IN" sz="2000" dirty="0"/>
              <a:t> and product-level trends.</a:t>
            </a:r>
          </a:p>
          <a:p>
            <a:pPr>
              <a:buFont typeface="+mj-lt"/>
              <a:buAutoNum type="arabicPeriod"/>
            </a:pPr>
            <a:endParaRPr lang="en-IN" sz="2000" b="1" dirty="0"/>
          </a:p>
          <a:p>
            <a:pPr>
              <a:buFont typeface="+mj-lt"/>
              <a:buAutoNum type="arabicPeriod"/>
            </a:pPr>
            <a:r>
              <a:rPr lang="en-IN" sz="2000" b="1" dirty="0"/>
              <a:t>Query Flexibility</a:t>
            </a:r>
            <a:br>
              <a:rPr lang="en-IN" sz="2000" dirty="0"/>
            </a:br>
            <a:r>
              <a:rPr lang="en-IN" sz="2000" dirty="0"/>
              <a:t>Detailed data can be aggregated later, but aggregated data cannot be broken down further.</a:t>
            </a:r>
          </a:p>
          <a:p>
            <a:pPr>
              <a:buFont typeface="+mj-lt"/>
              <a:buAutoNum type="arabicPeriod"/>
            </a:pPr>
            <a:endParaRPr lang="en-IN" sz="2000" b="1" dirty="0"/>
          </a:p>
          <a:p>
            <a:pPr>
              <a:buFont typeface="+mj-lt"/>
              <a:buAutoNum type="arabicPeriod"/>
            </a:pPr>
            <a:r>
              <a:rPr lang="en-IN" sz="2000" b="1" dirty="0"/>
              <a:t>Storage and Performance</a:t>
            </a:r>
            <a:br>
              <a:rPr lang="en-IN" sz="2000" dirty="0"/>
            </a:br>
            <a:r>
              <a:rPr lang="en-IN" sz="2000" dirty="0"/>
              <a:t>Fine-grain data requires more storage, while coarse-grain data needs less space and faster queries.</a:t>
            </a:r>
          </a:p>
          <a:p>
            <a:pPr>
              <a:buFont typeface="+mj-lt"/>
              <a:buAutoNum type="arabicPeriod"/>
            </a:pPr>
            <a:endParaRPr lang="en-IN" sz="2000" b="1" dirty="0"/>
          </a:p>
          <a:p>
            <a:pPr>
              <a:buFont typeface="+mj-lt"/>
              <a:buAutoNum type="arabicPeriod"/>
            </a:pPr>
            <a:r>
              <a:rPr lang="en-IN" sz="2000" b="1" dirty="0"/>
              <a:t>Future Requirements</a:t>
            </a:r>
            <a:br>
              <a:rPr lang="en-IN" sz="2000" dirty="0"/>
            </a:br>
            <a:r>
              <a:rPr lang="en-IN" sz="2000" dirty="0"/>
              <a:t>If future analysis needs more detail, coarse-grain data may not be sufficient.</a:t>
            </a:r>
          </a:p>
        </p:txBody>
      </p:sp>
    </p:spTree>
    <p:extLst>
      <p:ext uri="{BB962C8B-B14F-4D97-AF65-F5344CB8AC3E}">
        <p14:creationId xmlns:p14="http://schemas.microsoft.com/office/powerpoint/2010/main" val="388790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CD60C-E4DB-B717-CE1D-18AB434149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DAA51D-45FE-1D10-134F-0EDC65A2FD28}"/>
              </a:ext>
            </a:extLst>
          </p:cNvPr>
          <p:cNvSpPr txBox="1"/>
          <p:nvPr/>
        </p:nvSpPr>
        <p:spPr>
          <a:xfrm>
            <a:off x="980090" y="130114"/>
            <a:ext cx="6101254" cy="3570208"/>
          </a:xfrm>
          <a:prstGeom prst="rect">
            <a:avLst/>
          </a:prstGeom>
          <a:noFill/>
        </p:spPr>
        <p:txBody>
          <a:bodyPr wrap="square">
            <a:spAutoFit/>
          </a:bodyPr>
          <a:lstStyle/>
          <a:p>
            <a:pPr>
              <a:buNone/>
            </a:pPr>
            <a:r>
              <a:rPr lang="en-IN" sz="2800" b="1" u="sng" dirty="0">
                <a:solidFill>
                  <a:srgbClr val="C00000"/>
                </a:solidFill>
              </a:rPr>
              <a:t>Fine-Grain Data – Meaning</a:t>
            </a:r>
          </a:p>
          <a:p>
            <a:pPr>
              <a:buNone/>
            </a:pPr>
            <a:endParaRPr lang="en-IN" b="1" dirty="0"/>
          </a:p>
          <a:p>
            <a:pPr>
              <a:buNone/>
            </a:pPr>
            <a:r>
              <a:rPr lang="en-IN" dirty="0"/>
              <a:t>Fine-grain data represents the </a:t>
            </a:r>
            <a:r>
              <a:rPr lang="en-IN" b="1" dirty="0"/>
              <a:t>lowest level of detail</a:t>
            </a:r>
            <a:r>
              <a:rPr lang="en-IN" dirty="0"/>
              <a:t>.</a:t>
            </a:r>
            <a:br>
              <a:rPr lang="en-IN" dirty="0"/>
            </a:br>
            <a:r>
              <a:rPr lang="en-IN" dirty="0"/>
              <a:t>Each row in the fact table captures a </a:t>
            </a:r>
            <a:r>
              <a:rPr lang="en-IN" b="1" dirty="0"/>
              <a:t>single business event</a:t>
            </a:r>
            <a:r>
              <a:rPr lang="en-IN" dirty="0"/>
              <a:t>.</a:t>
            </a:r>
          </a:p>
          <a:p>
            <a:pPr>
              <a:buNone/>
            </a:pPr>
            <a:endParaRPr lang="en-IN" dirty="0"/>
          </a:p>
          <a:p>
            <a:pPr>
              <a:buNone/>
            </a:pPr>
            <a:r>
              <a:rPr lang="en-IN" dirty="0">
                <a:solidFill>
                  <a:srgbClr val="FF3300"/>
                </a:solidFill>
              </a:rPr>
              <a:t>Example:</a:t>
            </a:r>
          </a:p>
          <a:p>
            <a:pPr>
              <a:buFont typeface="Arial" panose="020B0604020202020204" pitchFamily="34" charset="0"/>
              <a:buChar char="•"/>
            </a:pPr>
            <a:r>
              <a:rPr lang="en-IN" dirty="0"/>
              <a:t>One row = one product sold</a:t>
            </a:r>
          </a:p>
          <a:p>
            <a:pPr>
              <a:buFont typeface="Arial" panose="020B0604020202020204" pitchFamily="34" charset="0"/>
              <a:buChar char="•"/>
            </a:pPr>
            <a:r>
              <a:rPr lang="en-IN" dirty="0"/>
              <a:t>One row = one student’s marks in one subject</a:t>
            </a:r>
          </a:p>
          <a:p>
            <a:pPr>
              <a:buFont typeface="Arial" panose="020B0604020202020204" pitchFamily="34" charset="0"/>
              <a:buChar char="•"/>
            </a:pPr>
            <a:r>
              <a:rPr lang="en-IN" dirty="0"/>
              <a:t>One row = one hospital visit by a patient</a:t>
            </a:r>
          </a:p>
          <a:p>
            <a:pPr>
              <a:buNone/>
            </a:pPr>
            <a:endParaRPr lang="en-IN" dirty="0"/>
          </a:p>
          <a:p>
            <a:pPr>
              <a:buNone/>
            </a:pPr>
            <a:r>
              <a:rPr lang="en-IN" dirty="0"/>
              <a:t>Fine-grain data provides </a:t>
            </a:r>
            <a:r>
              <a:rPr lang="en-IN" b="1" dirty="0"/>
              <a:t>maximum analytical flexibility</a:t>
            </a:r>
            <a:r>
              <a:rPr lang="en-IN" dirty="0"/>
              <a:t>.</a:t>
            </a:r>
          </a:p>
        </p:txBody>
      </p:sp>
      <p:sp>
        <p:nvSpPr>
          <p:cNvPr id="5" name="TextBox 4">
            <a:extLst>
              <a:ext uri="{FF2B5EF4-FFF2-40B4-BE49-F238E27FC236}">
                <a16:creationId xmlns:a16="http://schemas.microsoft.com/office/drawing/2014/main" id="{FC9F3283-C387-EFDD-CC94-9E248ECA354D}"/>
              </a:ext>
            </a:extLst>
          </p:cNvPr>
          <p:cNvSpPr txBox="1"/>
          <p:nvPr/>
        </p:nvSpPr>
        <p:spPr>
          <a:xfrm>
            <a:off x="980090" y="3758239"/>
            <a:ext cx="6101254" cy="1200329"/>
          </a:xfrm>
          <a:prstGeom prst="rect">
            <a:avLst/>
          </a:prstGeom>
          <a:noFill/>
        </p:spPr>
        <p:txBody>
          <a:bodyPr wrap="square">
            <a:spAutoFit/>
          </a:bodyPr>
          <a:lstStyle/>
          <a:p>
            <a:pPr>
              <a:buNone/>
            </a:pPr>
            <a:r>
              <a:rPr lang="en-IN" b="1" dirty="0"/>
              <a:t>Fact Table: </a:t>
            </a:r>
            <a:r>
              <a:rPr lang="en-IN" b="1" dirty="0" err="1"/>
              <a:t>Sales_Fact</a:t>
            </a:r>
            <a:r>
              <a:rPr lang="en-IN" b="1" dirty="0"/>
              <a:t> (Fine-Grain)</a:t>
            </a:r>
            <a:endParaRPr lang="en-IN" dirty="0"/>
          </a:p>
          <a:p>
            <a:pPr>
              <a:buNone/>
            </a:pPr>
            <a:endParaRPr lang="en-IN" dirty="0"/>
          </a:p>
          <a:p>
            <a:pPr>
              <a:buNone/>
            </a:pPr>
            <a:r>
              <a:rPr lang="en-IN" dirty="0"/>
              <a:t>Each row represents </a:t>
            </a:r>
            <a:r>
              <a:rPr lang="en-IN" b="1" dirty="0"/>
              <a:t>one product sold in one transaction</a:t>
            </a:r>
            <a:r>
              <a:rPr lang="en-IN" dirty="0"/>
              <a:t>.</a:t>
            </a:r>
          </a:p>
        </p:txBody>
      </p:sp>
      <p:graphicFrame>
        <p:nvGraphicFramePr>
          <p:cNvPr id="6" name="Table 5">
            <a:extLst>
              <a:ext uri="{FF2B5EF4-FFF2-40B4-BE49-F238E27FC236}">
                <a16:creationId xmlns:a16="http://schemas.microsoft.com/office/drawing/2014/main" id="{0DAC9396-70DC-BA6D-C56D-CA997B1C4309}"/>
              </a:ext>
            </a:extLst>
          </p:cNvPr>
          <p:cNvGraphicFramePr>
            <a:graphicFrameLocks noGrp="1"/>
          </p:cNvGraphicFramePr>
          <p:nvPr>
            <p:extLst>
              <p:ext uri="{D42A27DB-BD31-4B8C-83A1-F6EECF244321}">
                <p14:modId xmlns:p14="http://schemas.microsoft.com/office/powerpoint/2010/main" val="1522615211"/>
              </p:ext>
            </p:extLst>
          </p:nvPr>
        </p:nvGraphicFramePr>
        <p:xfrm>
          <a:off x="980090" y="5133735"/>
          <a:ext cx="8596314" cy="731520"/>
        </p:xfrm>
        <a:graphic>
          <a:graphicData uri="http://schemas.openxmlformats.org/drawingml/2006/table">
            <a:tbl>
              <a:tblPr>
                <a:tableStyleId>{616DA210-FB5B-4158-B5E0-FEB733F419BA}</a:tableStyleId>
              </a:tblPr>
              <a:tblGrid>
                <a:gridCol w="1432719">
                  <a:extLst>
                    <a:ext uri="{9D8B030D-6E8A-4147-A177-3AD203B41FA5}">
                      <a16:colId xmlns:a16="http://schemas.microsoft.com/office/drawing/2014/main" val="3948706808"/>
                    </a:ext>
                  </a:extLst>
                </a:gridCol>
                <a:gridCol w="1432719">
                  <a:extLst>
                    <a:ext uri="{9D8B030D-6E8A-4147-A177-3AD203B41FA5}">
                      <a16:colId xmlns:a16="http://schemas.microsoft.com/office/drawing/2014/main" val="743530118"/>
                    </a:ext>
                  </a:extLst>
                </a:gridCol>
                <a:gridCol w="1432719">
                  <a:extLst>
                    <a:ext uri="{9D8B030D-6E8A-4147-A177-3AD203B41FA5}">
                      <a16:colId xmlns:a16="http://schemas.microsoft.com/office/drawing/2014/main" val="889922823"/>
                    </a:ext>
                  </a:extLst>
                </a:gridCol>
                <a:gridCol w="1432719">
                  <a:extLst>
                    <a:ext uri="{9D8B030D-6E8A-4147-A177-3AD203B41FA5}">
                      <a16:colId xmlns:a16="http://schemas.microsoft.com/office/drawing/2014/main" val="2305250858"/>
                    </a:ext>
                  </a:extLst>
                </a:gridCol>
                <a:gridCol w="1432719">
                  <a:extLst>
                    <a:ext uri="{9D8B030D-6E8A-4147-A177-3AD203B41FA5}">
                      <a16:colId xmlns:a16="http://schemas.microsoft.com/office/drawing/2014/main" val="284872463"/>
                    </a:ext>
                  </a:extLst>
                </a:gridCol>
                <a:gridCol w="1432719">
                  <a:extLst>
                    <a:ext uri="{9D8B030D-6E8A-4147-A177-3AD203B41FA5}">
                      <a16:colId xmlns:a16="http://schemas.microsoft.com/office/drawing/2014/main" val="2837507360"/>
                    </a:ext>
                  </a:extLst>
                </a:gridCol>
              </a:tblGrid>
              <a:tr h="365760">
                <a:tc>
                  <a:txBody>
                    <a:bodyPr/>
                    <a:lstStyle/>
                    <a:p>
                      <a:pPr>
                        <a:buNone/>
                      </a:pPr>
                      <a:r>
                        <a:rPr lang="en-IN" sz="1800"/>
                        <a:t>Date</a:t>
                      </a:r>
                    </a:p>
                  </a:txBody>
                  <a:tcPr anchor="ctr"/>
                </a:tc>
                <a:tc>
                  <a:txBody>
                    <a:bodyPr/>
                    <a:lstStyle/>
                    <a:p>
                      <a:pPr>
                        <a:buNone/>
                      </a:pPr>
                      <a:r>
                        <a:rPr lang="en-IN" sz="1800"/>
                        <a:t>Product</a:t>
                      </a:r>
                    </a:p>
                  </a:txBody>
                  <a:tcPr anchor="ctr"/>
                </a:tc>
                <a:tc>
                  <a:txBody>
                    <a:bodyPr/>
                    <a:lstStyle/>
                    <a:p>
                      <a:pPr>
                        <a:buNone/>
                      </a:pPr>
                      <a:r>
                        <a:rPr lang="en-IN" sz="1800"/>
                        <a:t>Customer</a:t>
                      </a:r>
                    </a:p>
                  </a:txBody>
                  <a:tcPr anchor="ctr"/>
                </a:tc>
                <a:tc>
                  <a:txBody>
                    <a:bodyPr/>
                    <a:lstStyle/>
                    <a:p>
                      <a:pPr>
                        <a:buNone/>
                      </a:pPr>
                      <a:r>
                        <a:rPr lang="en-IN" sz="1800"/>
                        <a:t>Store</a:t>
                      </a:r>
                    </a:p>
                  </a:txBody>
                  <a:tcPr anchor="ctr"/>
                </a:tc>
                <a:tc>
                  <a:txBody>
                    <a:bodyPr/>
                    <a:lstStyle/>
                    <a:p>
                      <a:pPr>
                        <a:buNone/>
                      </a:pPr>
                      <a:r>
                        <a:rPr lang="en-IN" sz="1800"/>
                        <a:t>Quantity</a:t>
                      </a:r>
                    </a:p>
                  </a:txBody>
                  <a:tcPr anchor="ctr"/>
                </a:tc>
                <a:tc>
                  <a:txBody>
                    <a:bodyPr/>
                    <a:lstStyle/>
                    <a:p>
                      <a:pPr>
                        <a:buNone/>
                      </a:pPr>
                      <a:r>
                        <a:rPr lang="en-IN" sz="1800"/>
                        <a:t>Amount</a:t>
                      </a:r>
                    </a:p>
                  </a:txBody>
                  <a:tcPr anchor="ctr"/>
                </a:tc>
                <a:extLst>
                  <a:ext uri="{0D108BD9-81ED-4DB2-BD59-A6C34878D82A}">
                    <a16:rowId xmlns:a16="http://schemas.microsoft.com/office/drawing/2014/main" val="2123208308"/>
                  </a:ext>
                </a:extLst>
              </a:tr>
              <a:tr h="365760">
                <a:tc>
                  <a:txBody>
                    <a:bodyPr/>
                    <a:lstStyle/>
                    <a:p>
                      <a:pPr>
                        <a:buNone/>
                      </a:pPr>
                      <a:r>
                        <a:rPr lang="en-IN" sz="1800"/>
                        <a:t>01-Jan</a:t>
                      </a:r>
                    </a:p>
                  </a:txBody>
                  <a:tcPr anchor="ctr"/>
                </a:tc>
                <a:tc>
                  <a:txBody>
                    <a:bodyPr/>
                    <a:lstStyle/>
                    <a:p>
                      <a:pPr>
                        <a:buNone/>
                      </a:pPr>
                      <a:r>
                        <a:rPr lang="en-IN" sz="1800"/>
                        <a:t>Laptop</a:t>
                      </a:r>
                    </a:p>
                  </a:txBody>
                  <a:tcPr anchor="ctr"/>
                </a:tc>
                <a:tc>
                  <a:txBody>
                    <a:bodyPr/>
                    <a:lstStyle/>
                    <a:p>
                      <a:pPr>
                        <a:buNone/>
                      </a:pPr>
                      <a:r>
                        <a:rPr lang="en-IN" sz="1800"/>
                        <a:t>C101</a:t>
                      </a:r>
                    </a:p>
                  </a:txBody>
                  <a:tcPr anchor="ctr"/>
                </a:tc>
                <a:tc>
                  <a:txBody>
                    <a:bodyPr/>
                    <a:lstStyle/>
                    <a:p>
                      <a:pPr>
                        <a:buNone/>
                      </a:pPr>
                      <a:r>
                        <a:rPr lang="en-IN" sz="1800"/>
                        <a:t>S1</a:t>
                      </a:r>
                    </a:p>
                  </a:txBody>
                  <a:tcPr anchor="ctr"/>
                </a:tc>
                <a:tc>
                  <a:txBody>
                    <a:bodyPr/>
                    <a:lstStyle/>
                    <a:p>
                      <a:pPr>
                        <a:buNone/>
                      </a:pPr>
                      <a:r>
                        <a:rPr lang="en-IN" sz="1800"/>
                        <a:t>1</a:t>
                      </a:r>
                    </a:p>
                  </a:txBody>
                  <a:tcPr anchor="ctr"/>
                </a:tc>
                <a:tc>
                  <a:txBody>
                    <a:bodyPr/>
                    <a:lstStyle/>
                    <a:p>
                      <a:pPr>
                        <a:buNone/>
                      </a:pPr>
                      <a:r>
                        <a:rPr lang="en-IN" sz="1800" dirty="0"/>
                        <a:t>50,000</a:t>
                      </a:r>
                    </a:p>
                  </a:txBody>
                  <a:tcPr anchor="ctr"/>
                </a:tc>
                <a:extLst>
                  <a:ext uri="{0D108BD9-81ED-4DB2-BD59-A6C34878D82A}">
                    <a16:rowId xmlns:a16="http://schemas.microsoft.com/office/drawing/2014/main" val="3453613866"/>
                  </a:ext>
                </a:extLst>
              </a:tr>
            </a:tbl>
          </a:graphicData>
        </a:graphic>
      </p:graphicFrame>
      <p:sp>
        <p:nvSpPr>
          <p:cNvPr id="8" name="TextBox 7">
            <a:extLst>
              <a:ext uri="{FF2B5EF4-FFF2-40B4-BE49-F238E27FC236}">
                <a16:creationId xmlns:a16="http://schemas.microsoft.com/office/drawing/2014/main" id="{F0D05C19-923B-3061-B72F-C5E4023BA82F}"/>
              </a:ext>
            </a:extLst>
          </p:cNvPr>
          <p:cNvSpPr txBox="1"/>
          <p:nvPr/>
        </p:nvSpPr>
        <p:spPr>
          <a:xfrm>
            <a:off x="8316310" y="1567593"/>
            <a:ext cx="3234558" cy="2677656"/>
          </a:xfrm>
          <a:prstGeom prst="rect">
            <a:avLst/>
          </a:prstGeom>
          <a:noFill/>
          <a:ln w="76200">
            <a:solidFill>
              <a:srgbClr val="C00000"/>
            </a:solidFill>
          </a:ln>
        </p:spPr>
        <p:txBody>
          <a:bodyPr wrap="square">
            <a:spAutoFit/>
          </a:bodyPr>
          <a:lstStyle/>
          <a:p>
            <a:pPr>
              <a:buNone/>
            </a:pPr>
            <a:r>
              <a:rPr lang="en-IN" sz="2400" b="1" dirty="0">
                <a:solidFill>
                  <a:srgbClr val="FF3300"/>
                </a:solidFill>
              </a:rPr>
              <a:t>This design allows analysis like:</a:t>
            </a:r>
          </a:p>
          <a:p>
            <a:pPr>
              <a:buNone/>
            </a:pPr>
            <a:endParaRPr lang="en-IN" sz="2400" b="1" dirty="0">
              <a:solidFill>
                <a:srgbClr val="FF3300"/>
              </a:solidFill>
            </a:endParaRPr>
          </a:p>
          <a:p>
            <a:pPr>
              <a:buFont typeface="Arial" panose="020B0604020202020204" pitchFamily="34" charset="0"/>
              <a:buChar char="•"/>
            </a:pPr>
            <a:r>
              <a:rPr lang="en-IN" sz="2400" b="1" dirty="0">
                <a:solidFill>
                  <a:srgbClr val="FF3300"/>
                </a:solidFill>
              </a:rPr>
              <a:t>Sales per customer</a:t>
            </a:r>
          </a:p>
          <a:p>
            <a:pPr>
              <a:buFont typeface="Arial" panose="020B0604020202020204" pitchFamily="34" charset="0"/>
              <a:buChar char="•"/>
            </a:pPr>
            <a:r>
              <a:rPr lang="en-IN" sz="2400" b="1" dirty="0">
                <a:solidFill>
                  <a:srgbClr val="FF3300"/>
                </a:solidFill>
              </a:rPr>
              <a:t>Sales per product</a:t>
            </a:r>
          </a:p>
          <a:p>
            <a:pPr>
              <a:buFont typeface="Arial" panose="020B0604020202020204" pitchFamily="34" charset="0"/>
              <a:buChar char="•"/>
            </a:pPr>
            <a:r>
              <a:rPr lang="en-IN" sz="2400" b="1" dirty="0">
                <a:solidFill>
                  <a:srgbClr val="FF3300"/>
                </a:solidFill>
              </a:rPr>
              <a:t>Hourly or daily trends</a:t>
            </a:r>
          </a:p>
        </p:txBody>
      </p:sp>
    </p:spTree>
    <p:extLst>
      <p:ext uri="{BB962C8B-B14F-4D97-AF65-F5344CB8AC3E}">
        <p14:creationId xmlns:p14="http://schemas.microsoft.com/office/powerpoint/2010/main" val="235814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F335D-279E-B4A7-7FD2-6E68660FE4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6457C7-9E37-944B-71A4-BF30E6D5074D}"/>
              </a:ext>
            </a:extLst>
          </p:cNvPr>
          <p:cNvSpPr txBox="1"/>
          <p:nvPr/>
        </p:nvSpPr>
        <p:spPr>
          <a:xfrm>
            <a:off x="1127235" y="187773"/>
            <a:ext cx="6101254" cy="3170099"/>
          </a:xfrm>
          <a:prstGeom prst="rect">
            <a:avLst/>
          </a:prstGeom>
          <a:noFill/>
        </p:spPr>
        <p:txBody>
          <a:bodyPr wrap="square">
            <a:spAutoFit/>
          </a:bodyPr>
          <a:lstStyle/>
          <a:p>
            <a:pPr>
              <a:buNone/>
            </a:pPr>
            <a:r>
              <a:rPr lang="en-IN" sz="2800" b="1" u="sng" dirty="0">
                <a:solidFill>
                  <a:srgbClr val="C00000"/>
                </a:solidFill>
              </a:rPr>
              <a:t>Coarse-Grain Data – Meaning</a:t>
            </a:r>
          </a:p>
          <a:p>
            <a:pPr>
              <a:buNone/>
            </a:pPr>
            <a:endParaRPr lang="en-IN" sz="2800" b="1" u="sng" dirty="0">
              <a:solidFill>
                <a:srgbClr val="C00000"/>
              </a:solidFill>
            </a:endParaRPr>
          </a:p>
          <a:p>
            <a:pPr>
              <a:buNone/>
            </a:pPr>
            <a:r>
              <a:rPr lang="en-IN" dirty="0"/>
              <a:t>Coarse-grain data represents </a:t>
            </a:r>
            <a:r>
              <a:rPr lang="en-IN" b="1" dirty="0"/>
              <a:t>summarized or aggregated information</a:t>
            </a:r>
            <a:r>
              <a:rPr lang="en-IN" dirty="0"/>
              <a:t>.</a:t>
            </a:r>
            <a:br>
              <a:rPr lang="en-IN" dirty="0"/>
            </a:br>
            <a:endParaRPr lang="en-IN" dirty="0"/>
          </a:p>
          <a:p>
            <a:pPr>
              <a:buNone/>
            </a:pPr>
            <a:r>
              <a:rPr lang="en-IN" dirty="0"/>
              <a:t>Each row represents data at a </a:t>
            </a:r>
            <a:r>
              <a:rPr lang="en-IN" b="1" dirty="0"/>
              <a:t>higher level</a:t>
            </a:r>
            <a:r>
              <a:rPr lang="en-IN" dirty="0"/>
              <a:t>, such as per day, per month, or per region.</a:t>
            </a:r>
          </a:p>
          <a:p>
            <a:pPr>
              <a:buNone/>
            </a:pPr>
            <a:endParaRPr lang="en-IN" dirty="0"/>
          </a:p>
          <a:p>
            <a:pPr>
              <a:buNone/>
            </a:pPr>
            <a:r>
              <a:rPr lang="en-IN" dirty="0"/>
              <a:t>This approach reduces data volume but limits detailed analysis.</a:t>
            </a:r>
          </a:p>
        </p:txBody>
      </p:sp>
      <p:sp>
        <p:nvSpPr>
          <p:cNvPr id="5" name="TextBox 4">
            <a:extLst>
              <a:ext uri="{FF2B5EF4-FFF2-40B4-BE49-F238E27FC236}">
                <a16:creationId xmlns:a16="http://schemas.microsoft.com/office/drawing/2014/main" id="{05AB7EFD-6FA9-E26E-BE0D-31ADD841ECEB}"/>
              </a:ext>
            </a:extLst>
          </p:cNvPr>
          <p:cNvSpPr txBox="1"/>
          <p:nvPr/>
        </p:nvSpPr>
        <p:spPr>
          <a:xfrm>
            <a:off x="1127235" y="3968528"/>
            <a:ext cx="6101254" cy="923330"/>
          </a:xfrm>
          <a:prstGeom prst="rect">
            <a:avLst/>
          </a:prstGeom>
          <a:noFill/>
        </p:spPr>
        <p:txBody>
          <a:bodyPr wrap="square">
            <a:spAutoFit/>
          </a:bodyPr>
          <a:lstStyle/>
          <a:p>
            <a:pPr>
              <a:buNone/>
            </a:pPr>
            <a:r>
              <a:rPr lang="en-IN" b="1" dirty="0"/>
              <a:t>Fact Table: </a:t>
            </a:r>
            <a:r>
              <a:rPr lang="en-IN" b="1" dirty="0" err="1"/>
              <a:t>Daily_Sales_Fact</a:t>
            </a:r>
            <a:r>
              <a:rPr lang="en-IN" b="1" dirty="0"/>
              <a:t> (Coarse-Grain)</a:t>
            </a:r>
            <a:endParaRPr lang="en-IN" dirty="0"/>
          </a:p>
          <a:p>
            <a:pPr>
              <a:buNone/>
            </a:pPr>
            <a:endParaRPr lang="en-IN" dirty="0"/>
          </a:p>
          <a:p>
            <a:pPr>
              <a:buNone/>
            </a:pPr>
            <a:r>
              <a:rPr lang="en-IN" dirty="0"/>
              <a:t>Each row represents </a:t>
            </a:r>
            <a:r>
              <a:rPr lang="en-IN" b="1" dirty="0"/>
              <a:t>total sales for one day</a:t>
            </a:r>
            <a:r>
              <a:rPr lang="en-IN" dirty="0"/>
              <a:t>.</a:t>
            </a:r>
          </a:p>
        </p:txBody>
      </p:sp>
      <p:graphicFrame>
        <p:nvGraphicFramePr>
          <p:cNvPr id="6" name="Table 5">
            <a:extLst>
              <a:ext uri="{FF2B5EF4-FFF2-40B4-BE49-F238E27FC236}">
                <a16:creationId xmlns:a16="http://schemas.microsoft.com/office/drawing/2014/main" id="{E1FEF395-7579-C0AD-E9C1-DE2592734FEF}"/>
              </a:ext>
            </a:extLst>
          </p:cNvPr>
          <p:cNvGraphicFramePr>
            <a:graphicFrameLocks noGrp="1"/>
          </p:cNvGraphicFramePr>
          <p:nvPr>
            <p:extLst>
              <p:ext uri="{D42A27DB-BD31-4B8C-83A1-F6EECF244321}">
                <p14:modId xmlns:p14="http://schemas.microsoft.com/office/powerpoint/2010/main" val="4038695377"/>
              </p:ext>
            </p:extLst>
          </p:nvPr>
        </p:nvGraphicFramePr>
        <p:xfrm>
          <a:off x="1127235" y="5333118"/>
          <a:ext cx="8596311" cy="731520"/>
        </p:xfrm>
        <a:graphic>
          <a:graphicData uri="http://schemas.openxmlformats.org/drawingml/2006/table">
            <a:tbl>
              <a:tblPr>
                <a:tableStyleId>{616DA210-FB5B-4158-B5E0-FEB733F419BA}</a:tableStyleId>
              </a:tblPr>
              <a:tblGrid>
                <a:gridCol w="2865437">
                  <a:extLst>
                    <a:ext uri="{9D8B030D-6E8A-4147-A177-3AD203B41FA5}">
                      <a16:colId xmlns:a16="http://schemas.microsoft.com/office/drawing/2014/main" val="1015006416"/>
                    </a:ext>
                  </a:extLst>
                </a:gridCol>
                <a:gridCol w="2865437">
                  <a:extLst>
                    <a:ext uri="{9D8B030D-6E8A-4147-A177-3AD203B41FA5}">
                      <a16:colId xmlns:a16="http://schemas.microsoft.com/office/drawing/2014/main" val="2430085258"/>
                    </a:ext>
                  </a:extLst>
                </a:gridCol>
                <a:gridCol w="2865437">
                  <a:extLst>
                    <a:ext uri="{9D8B030D-6E8A-4147-A177-3AD203B41FA5}">
                      <a16:colId xmlns:a16="http://schemas.microsoft.com/office/drawing/2014/main" val="1612366799"/>
                    </a:ext>
                  </a:extLst>
                </a:gridCol>
              </a:tblGrid>
              <a:tr h="0">
                <a:tc>
                  <a:txBody>
                    <a:bodyPr/>
                    <a:lstStyle/>
                    <a:p>
                      <a:pPr>
                        <a:buNone/>
                      </a:pPr>
                      <a:r>
                        <a:rPr lang="en-IN"/>
                        <a:t>Date</a:t>
                      </a:r>
                    </a:p>
                  </a:txBody>
                  <a:tcPr anchor="ctr"/>
                </a:tc>
                <a:tc>
                  <a:txBody>
                    <a:bodyPr/>
                    <a:lstStyle/>
                    <a:p>
                      <a:pPr>
                        <a:buNone/>
                      </a:pPr>
                      <a:r>
                        <a:rPr lang="en-IN"/>
                        <a:t>Total_Quantity</a:t>
                      </a:r>
                    </a:p>
                  </a:txBody>
                  <a:tcPr anchor="ctr"/>
                </a:tc>
                <a:tc>
                  <a:txBody>
                    <a:bodyPr/>
                    <a:lstStyle/>
                    <a:p>
                      <a:pPr>
                        <a:buNone/>
                      </a:pPr>
                      <a:r>
                        <a:rPr lang="en-IN"/>
                        <a:t>Total_Amount</a:t>
                      </a:r>
                    </a:p>
                  </a:txBody>
                  <a:tcPr anchor="ctr"/>
                </a:tc>
                <a:extLst>
                  <a:ext uri="{0D108BD9-81ED-4DB2-BD59-A6C34878D82A}">
                    <a16:rowId xmlns:a16="http://schemas.microsoft.com/office/drawing/2014/main" val="671501263"/>
                  </a:ext>
                </a:extLst>
              </a:tr>
              <a:tr h="0">
                <a:tc>
                  <a:txBody>
                    <a:bodyPr/>
                    <a:lstStyle/>
                    <a:p>
                      <a:pPr>
                        <a:buNone/>
                      </a:pPr>
                      <a:r>
                        <a:rPr lang="en-IN"/>
                        <a:t>01-Jan</a:t>
                      </a:r>
                    </a:p>
                  </a:txBody>
                  <a:tcPr anchor="ctr"/>
                </a:tc>
                <a:tc>
                  <a:txBody>
                    <a:bodyPr/>
                    <a:lstStyle/>
                    <a:p>
                      <a:pPr>
                        <a:buNone/>
                      </a:pPr>
                      <a:r>
                        <a:rPr lang="en-IN"/>
                        <a:t>120</a:t>
                      </a:r>
                    </a:p>
                  </a:txBody>
                  <a:tcPr anchor="ctr"/>
                </a:tc>
                <a:tc>
                  <a:txBody>
                    <a:bodyPr/>
                    <a:lstStyle/>
                    <a:p>
                      <a:pPr>
                        <a:buNone/>
                      </a:pPr>
                      <a:r>
                        <a:rPr lang="en-IN" dirty="0"/>
                        <a:t>18,00,000</a:t>
                      </a:r>
                    </a:p>
                  </a:txBody>
                  <a:tcPr anchor="ctr"/>
                </a:tc>
                <a:extLst>
                  <a:ext uri="{0D108BD9-81ED-4DB2-BD59-A6C34878D82A}">
                    <a16:rowId xmlns:a16="http://schemas.microsoft.com/office/drawing/2014/main" val="1229821807"/>
                  </a:ext>
                </a:extLst>
              </a:tr>
            </a:tbl>
          </a:graphicData>
        </a:graphic>
      </p:graphicFrame>
      <p:sp>
        <p:nvSpPr>
          <p:cNvPr id="8" name="TextBox 7">
            <a:extLst>
              <a:ext uri="{FF2B5EF4-FFF2-40B4-BE49-F238E27FC236}">
                <a16:creationId xmlns:a16="http://schemas.microsoft.com/office/drawing/2014/main" id="{A32E9115-F07D-8CFD-94E2-DC69611E4BA0}"/>
              </a:ext>
            </a:extLst>
          </p:cNvPr>
          <p:cNvSpPr txBox="1"/>
          <p:nvPr/>
        </p:nvSpPr>
        <p:spPr>
          <a:xfrm>
            <a:off x="7775190" y="567478"/>
            <a:ext cx="3896711" cy="4154984"/>
          </a:xfrm>
          <a:prstGeom prst="rect">
            <a:avLst/>
          </a:prstGeom>
          <a:noFill/>
          <a:ln w="76200">
            <a:solidFill>
              <a:srgbClr val="C00000"/>
            </a:solidFill>
          </a:ln>
        </p:spPr>
        <p:txBody>
          <a:bodyPr wrap="square">
            <a:spAutoFit/>
          </a:bodyPr>
          <a:lstStyle/>
          <a:p>
            <a:pPr>
              <a:buNone/>
            </a:pPr>
            <a:r>
              <a:rPr lang="en-IN" sz="2400" b="1" dirty="0">
                <a:solidFill>
                  <a:srgbClr val="FF0000"/>
                </a:solidFill>
              </a:rPr>
              <a:t>This design supports:</a:t>
            </a:r>
          </a:p>
          <a:p>
            <a:pPr>
              <a:buFont typeface="Arial" panose="020B0604020202020204" pitchFamily="34" charset="0"/>
              <a:buChar char="•"/>
            </a:pPr>
            <a:r>
              <a:rPr lang="en-IN" sz="2400" b="1" dirty="0">
                <a:solidFill>
                  <a:srgbClr val="FF0000"/>
                </a:solidFill>
              </a:rPr>
              <a:t>Daily sales reports</a:t>
            </a:r>
          </a:p>
          <a:p>
            <a:pPr>
              <a:buFont typeface="Arial" panose="020B0604020202020204" pitchFamily="34" charset="0"/>
              <a:buChar char="•"/>
            </a:pPr>
            <a:r>
              <a:rPr lang="en-IN" sz="2400" b="1" dirty="0">
                <a:solidFill>
                  <a:srgbClr val="FF0000"/>
                </a:solidFill>
              </a:rPr>
              <a:t>Monthly or yearly trends</a:t>
            </a:r>
          </a:p>
          <a:p>
            <a:pPr>
              <a:buNone/>
            </a:pPr>
            <a:endParaRPr lang="en-IN" sz="2400" b="1" dirty="0">
              <a:solidFill>
                <a:srgbClr val="FF0000"/>
              </a:solidFill>
            </a:endParaRPr>
          </a:p>
          <a:p>
            <a:pPr>
              <a:buNone/>
            </a:pPr>
            <a:r>
              <a:rPr lang="en-IN" sz="2400" b="1" dirty="0">
                <a:solidFill>
                  <a:srgbClr val="FF0000"/>
                </a:solidFill>
              </a:rPr>
              <a:t>But it cannot answer questions like:</a:t>
            </a:r>
          </a:p>
          <a:p>
            <a:pPr>
              <a:buFont typeface="Arial" panose="020B0604020202020204" pitchFamily="34" charset="0"/>
              <a:buChar char="•"/>
            </a:pPr>
            <a:endParaRPr lang="en-IN" sz="2400" b="1" dirty="0">
              <a:solidFill>
                <a:srgbClr val="FF0000"/>
              </a:solidFill>
            </a:endParaRPr>
          </a:p>
          <a:p>
            <a:pPr>
              <a:buFont typeface="Arial" panose="020B0604020202020204" pitchFamily="34" charset="0"/>
              <a:buChar char="•"/>
            </a:pPr>
            <a:r>
              <a:rPr lang="en-IN" sz="2400" b="1" dirty="0">
                <a:solidFill>
                  <a:srgbClr val="FF0000"/>
                </a:solidFill>
              </a:rPr>
              <a:t>Which customer bought what?</a:t>
            </a:r>
          </a:p>
          <a:p>
            <a:pPr>
              <a:buFont typeface="Arial" panose="020B0604020202020204" pitchFamily="34" charset="0"/>
              <a:buChar char="•"/>
            </a:pPr>
            <a:r>
              <a:rPr lang="en-IN" sz="2400" b="1" dirty="0">
                <a:solidFill>
                  <a:srgbClr val="FF0000"/>
                </a:solidFill>
              </a:rPr>
              <a:t>Which product sold the most?</a:t>
            </a:r>
          </a:p>
        </p:txBody>
      </p:sp>
    </p:spTree>
    <p:extLst>
      <p:ext uri="{BB962C8B-B14F-4D97-AF65-F5344CB8AC3E}">
        <p14:creationId xmlns:p14="http://schemas.microsoft.com/office/powerpoint/2010/main" val="2595928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7EB08-432F-018A-51A4-E80FA37DA18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D94A6B6-1CA9-8D4A-386E-A489A7E0E757}"/>
              </a:ext>
            </a:extLst>
          </p:cNvPr>
          <p:cNvGraphicFramePr>
            <a:graphicFrameLocks noGrp="1"/>
          </p:cNvGraphicFramePr>
          <p:nvPr>
            <p:extLst>
              <p:ext uri="{D42A27DB-BD31-4B8C-83A1-F6EECF244321}">
                <p14:modId xmlns:p14="http://schemas.microsoft.com/office/powerpoint/2010/main" val="3663220187"/>
              </p:ext>
            </p:extLst>
          </p:nvPr>
        </p:nvGraphicFramePr>
        <p:xfrm>
          <a:off x="951131" y="1570771"/>
          <a:ext cx="9601255" cy="3169920"/>
        </p:xfrm>
        <a:graphic>
          <a:graphicData uri="http://schemas.openxmlformats.org/drawingml/2006/table">
            <a:tbl>
              <a:tblPr>
                <a:tableStyleId>{616DA210-FB5B-4158-B5E0-FEB733F419BA}</a:tableStyleId>
              </a:tblPr>
              <a:tblGrid>
                <a:gridCol w="2969227">
                  <a:extLst>
                    <a:ext uri="{9D8B030D-6E8A-4147-A177-3AD203B41FA5}">
                      <a16:colId xmlns:a16="http://schemas.microsoft.com/office/drawing/2014/main" val="3744448329"/>
                    </a:ext>
                  </a:extLst>
                </a:gridCol>
                <a:gridCol w="3079531">
                  <a:extLst>
                    <a:ext uri="{9D8B030D-6E8A-4147-A177-3AD203B41FA5}">
                      <a16:colId xmlns:a16="http://schemas.microsoft.com/office/drawing/2014/main" val="2787142439"/>
                    </a:ext>
                  </a:extLst>
                </a:gridCol>
                <a:gridCol w="3552497">
                  <a:extLst>
                    <a:ext uri="{9D8B030D-6E8A-4147-A177-3AD203B41FA5}">
                      <a16:colId xmlns:a16="http://schemas.microsoft.com/office/drawing/2014/main" val="2506383129"/>
                    </a:ext>
                  </a:extLst>
                </a:gridCol>
              </a:tblGrid>
              <a:tr h="0">
                <a:tc>
                  <a:txBody>
                    <a:bodyPr/>
                    <a:lstStyle/>
                    <a:p>
                      <a:pPr>
                        <a:buNone/>
                      </a:pPr>
                      <a:r>
                        <a:rPr lang="en-IN" sz="3200" u="sng">
                          <a:solidFill>
                            <a:srgbClr val="C00000"/>
                          </a:solidFill>
                        </a:rPr>
                        <a:t>Aspect</a:t>
                      </a:r>
                    </a:p>
                  </a:txBody>
                  <a:tcPr anchor="ctr"/>
                </a:tc>
                <a:tc>
                  <a:txBody>
                    <a:bodyPr/>
                    <a:lstStyle/>
                    <a:p>
                      <a:pPr>
                        <a:buNone/>
                      </a:pPr>
                      <a:r>
                        <a:rPr lang="en-IN" sz="3200" u="sng">
                          <a:solidFill>
                            <a:srgbClr val="C00000"/>
                          </a:solidFill>
                        </a:rPr>
                        <a:t>Fine-Grain Data</a:t>
                      </a:r>
                    </a:p>
                  </a:txBody>
                  <a:tcPr anchor="ctr"/>
                </a:tc>
                <a:tc>
                  <a:txBody>
                    <a:bodyPr/>
                    <a:lstStyle/>
                    <a:p>
                      <a:pPr>
                        <a:buNone/>
                      </a:pPr>
                      <a:r>
                        <a:rPr lang="en-IN" sz="3200" u="sng" dirty="0">
                          <a:solidFill>
                            <a:srgbClr val="C00000"/>
                          </a:solidFill>
                        </a:rPr>
                        <a:t>Coarse-Grain Data</a:t>
                      </a:r>
                    </a:p>
                  </a:txBody>
                  <a:tcPr anchor="ctr"/>
                </a:tc>
                <a:extLst>
                  <a:ext uri="{0D108BD9-81ED-4DB2-BD59-A6C34878D82A}">
                    <a16:rowId xmlns:a16="http://schemas.microsoft.com/office/drawing/2014/main" val="2301963870"/>
                  </a:ext>
                </a:extLst>
              </a:tr>
              <a:tr h="0">
                <a:tc>
                  <a:txBody>
                    <a:bodyPr/>
                    <a:lstStyle/>
                    <a:p>
                      <a:pPr>
                        <a:buNone/>
                      </a:pPr>
                      <a:r>
                        <a:rPr lang="en-IN" sz="2800"/>
                        <a:t>Level of detail</a:t>
                      </a:r>
                    </a:p>
                  </a:txBody>
                  <a:tcPr anchor="ctr"/>
                </a:tc>
                <a:tc>
                  <a:txBody>
                    <a:bodyPr/>
                    <a:lstStyle/>
                    <a:p>
                      <a:pPr>
                        <a:buNone/>
                      </a:pPr>
                      <a:r>
                        <a:rPr lang="en-IN" sz="2800"/>
                        <a:t>Very high</a:t>
                      </a:r>
                    </a:p>
                  </a:txBody>
                  <a:tcPr anchor="ctr"/>
                </a:tc>
                <a:tc>
                  <a:txBody>
                    <a:bodyPr/>
                    <a:lstStyle/>
                    <a:p>
                      <a:pPr>
                        <a:buNone/>
                      </a:pPr>
                      <a:r>
                        <a:rPr lang="en-IN" sz="2800"/>
                        <a:t>Low</a:t>
                      </a:r>
                    </a:p>
                  </a:txBody>
                  <a:tcPr anchor="ctr"/>
                </a:tc>
                <a:extLst>
                  <a:ext uri="{0D108BD9-81ED-4DB2-BD59-A6C34878D82A}">
                    <a16:rowId xmlns:a16="http://schemas.microsoft.com/office/drawing/2014/main" val="3392081632"/>
                  </a:ext>
                </a:extLst>
              </a:tr>
              <a:tr h="0">
                <a:tc>
                  <a:txBody>
                    <a:bodyPr/>
                    <a:lstStyle/>
                    <a:p>
                      <a:pPr>
                        <a:buNone/>
                      </a:pPr>
                      <a:r>
                        <a:rPr lang="en-IN" sz="2800"/>
                        <a:t>Storage</a:t>
                      </a:r>
                    </a:p>
                  </a:txBody>
                  <a:tcPr anchor="ctr"/>
                </a:tc>
                <a:tc>
                  <a:txBody>
                    <a:bodyPr/>
                    <a:lstStyle/>
                    <a:p>
                      <a:pPr>
                        <a:buNone/>
                      </a:pPr>
                      <a:r>
                        <a:rPr lang="en-IN" sz="2800"/>
                        <a:t>Large</a:t>
                      </a:r>
                    </a:p>
                  </a:txBody>
                  <a:tcPr anchor="ctr"/>
                </a:tc>
                <a:tc>
                  <a:txBody>
                    <a:bodyPr/>
                    <a:lstStyle/>
                    <a:p>
                      <a:pPr>
                        <a:buNone/>
                      </a:pPr>
                      <a:r>
                        <a:rPr lang="en-IN" sz="2800"/>
                        <a:t>Small</a:t>
                      </a:r>
                    </a:p>
                  </a:txBody>
                  <a:tcPr anchor="ctr"/>
                </a:tc>
                <a:extLst>
                  <a:ext uri="{0D108BD9-81ED-4DB2-BD59-A6C34878D82A}">
                    <a16:rowId xmlns:a16="http://schemas.microsoft.com/office/drawing/2014/main" val="1439686254"/>
                  </a:ext>
                </a:extLst>
              </a:tr>
              <a:tr h="0">
                <a:tc>
                  <a:txBody>
                    <a:bodyPr/>
                    <a:lstStyle/>
                    <a:p>
                      <a:pPr>
                        <a:buNone/>
                      </a:pPr>
                      <a:r>
                        <a:rPr lang="en-IN" sz="2800"/>
                        <a:t>Query flexibility</a:t>
                      </a:r>
                    </a:p>
                  </a:txBody>
                  <a:tcPr anchor="ctr"/>
                </a:tc>
                <a:tc>
                  <a:txBody>
                    <a:bodyPr/>
                    <a:lstStyle/>
                    <a:p>
                      <a:pPr>
                        <a:buNone/>
                      </a:pPr>
                      <a:r>
                        <a:rPr lang="en-IN" sz="2800"/>
                        <a:t>High</a:t>
                      </a:r>
                    </a:p>
                  </a:txBody>
                  <a:tcPr anchor="ctr"/>
                </a:tc>
                <a:tc>
                  <a:txBody>
                    <a:bodyPr/>
                    <a:lstStyle/>
                    <a:p>
                      <a:pPr>
                        <a:buNone/>
                      </a:pPr>
                      <a:r>
                        <a:rPr lang="en-IN" sz="2800"/>
                        <a:t>Limited</a:t>
                      </a:r>
                    </a:p>
                  </a:txBody>
                  <a:tcPr anchor="ctr"/>
                </a:tc>
                <a:extLst>
                  <a:ext uri="{0D108BD9-81ED-4DB2-BD59-A6C34878D82A}">
                    <a16:rowId xmlns:a16="http://schemas.microsoft.com/office/drawing/2014/main" val="3851217008"/>
                  </a:ext>
                </a:extLst>
              </a:tr>
              <a:tr h="0">
                <a:tc>
                  <a:txBody>
                    <a:bodyPr/>
                    <a:lstStyle/>
                    <a:p>
                      <a:pPr>
                        <a:buNone/>
                      </a:pPr>
                      <a:r>
                        <a:rPr lang="en-IN" sz="2800"/>
                        <a:t>Future analysis</a:t>
                      </a:r>
                    </a:p>
                  </a:txBody>
                  <a:tcPr anchor="ctr"/>
                </a:tc>
                <a:tc>
                  <a:txBody>
                    <a:bodyPr/>
                    <a:lstStyle/>
                    <a:p>
                      <a:pPr>
                        <a:buNone/>
                      </a:pPr>
                      <a:r>
                        <a:rPr lang="en-IN" sz="2800"/>
                        <a:t>Possible</a:t>
                      </a:r>
                    </a:p>
                  </a:txBody>
                  <a:tcPr anchor="ctr"/>
                </a:tc>
                <a:tc>
                  <a:txBody>
                    <a:bodyPr/>
                    <a:lstStyle/>
                    <a:p>
                      <a:pPr>
                        <a:buNone/>
                      </a:pPr>
                      <a:r>
                        <a:rPr lang="en-IN" sz="2800"/>
                        <a:t>Restricted</a:t>
                      </a:r>
                    </a:p>
                  </a:txBody>
                  <a:tcPr anchor="ctr"/>
                </a:tc>
                <a:extLst>
                  <a:ext uri="{0D108BD9-81ED-4DB2-BD59-A6C34878D82A}">
                    <a16:rowId xmlns:a16="http://schemas.microsoft.com/office/drawing/2014/main" val="356288968"/>
                  </a:ext>
                </a:extLst>
              </a:tr>
              <a:tr h="0">
                <a:tc>
                  <a:txBody>
                    <a:bodyPr/>
                    <a:lstStyle/>
                    <a:p>
                      <a:pPr>
                        <a:buNone/>
                      </a:pPr>
                      <a:r>
                        <a:rPr lang="en-IN" sz="2800"/>
                        <a:t>Example</a:t>
                      </a:r>
                    </a:p>
                  </a:txBody>
                  <a:tcPr anchor="ctr"/>
                </a:tc>
                <a:tc>
                  <a:txBody>
                    <a:bodyPr/>
                    <a:lstStyle/>
                    <a:p>
                      <a:pPr>
                        <a:buNone/>
                      </a:pPr>
                      <a:r>
                        <a:rPr lang="en-IN" sz="2800"/>
                        <a:t>One sale per row</a:t>
                      </a:r>
                    </a:p>
                  </a:txBody>
                  <a:tcPr anchor="ctr"/>
                </a:tc>
                <a:tc>
                  <a:txBody>
                    <a:bodyPr/>
                    <a:lstStyle/>
                    <a:p>
                      <a:pPr>
                        <a:buNone/>
                      </a:pPr>
                      <a:r>
                        <a:rPr lang="en-IN" sz="2800" dirty="0"/>
                        <a:t>One day per row</a:t>
                      </a:r>
                    </a:p>
                  </a:txBody>
                  <a:tcPr anchor="ctr"/>
                </a:tc>
                <a:extLst>
                  <a:ext uri="{0D108BD9-81ED-4DB2-BD59-A6C34878D82A}">
                    <a16:rowId xmlns:a16="http://schemas.microsoft.com/office/drawing/2014/main" val="770785895"/>
                  </a:ext>
                </a:extLst>
              </a:tr>
            </a:tbl>
          </a:graphicData>
        </a:graphic>
      </p:graphicFrame>
      <p:sp>
        <p:nvSpPr>
          <p:cNvPr id="4" name="TextBox 3">
            <a:extLst>
              <a:ext uri="{FF2B5EF4-FFF2-40B4-BE49-F238E27FC236}">
                <a16:creationId xmlns:a16="http://schemas.microsoft.com/office/drawing/2014/main" id="{2A2F1B2D-A93C-A7AF-2772-86E9F6CE810A}"/>
              </a:ext>
            </a:extLst>
          </p:cNvPr>
          <p:cNvSpPr txBox="1"/>
          <p:nvPr/>
        </p:nvSpPr>
        <p:spPr>
          <a:xfrm>
            <a:off x="1150828" y="472231"/>
            <a:ext cx="8791958" cy="584775"/>
          </a:xfrm>
          <a:prstGeom prst="rect">
            <a:avLst/>
          </a:prstGeom>
          <a:noFill/>
        </p:spPr>
        <p:txBody>
          <a:bodyPr wrap="square">
            <a:spAutoFit/>
          </a:bodyPr>
          <a:lstStyle/>
          <a:p>
            <a:r>
              <a:rPr lang="en-IN" sz="3200" b="1" u="sng" dirty="0">
                <a:solidFill>
                  <a:srgbClr val="C00000"/>
                </a:solidFill>
              </a:rPr>
              <a:t>Fine-Grain vs Coarse-Grain Comparison</a:t>
            </a:r>
          </a:p>
        </p:txBody>
      </p:sp>
    </p:spTree>
    <p:extLst>
      <p:ext uri="{BB962C8B-B14F-4D97-AF65-F5344CB8AC3E}">
        <p14:creationId xmlns:p14="http://schemas.microsoft.com/office/powerpoint/2010/main" val="2804867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E722-C6F1-2005-5BFD-7F4D0F66C0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57E9AB-7D6D-5B4A-91C5-BC9C7FF12070}"/>
              </a:ext>
            </a:extLst>
          </p:cNvPr>
          <p:cNvSpPr txBox="1"/>
          <p:nvPr/>
        </p:nvSpPr>
        <p:spPr>
          <a:xfrm>
            <a:off x="1169275" y="265075"/>
            <a:ext cx="8794531" cy="1846659"/>
          </a:xfrm>
          <a:prstGeom prst="rect">
            <a:avLst/>
          </a:prstGeom>
          <a:noFill/>
        </p:spPr>
        <p:txBody>
          <a:bodyPr wrap="square">
            <a:spAutoFit/>
          </a:bodyPr>
          <a:lstStyle/>
          <a:p>
            <a:pPr>
              <a:buNone/>
            </a:pPr>
            <a:r>
              <a:rPr lang="en-IN" sz="2400" b="1" u="sng" dirty="0">
                <a:solidFill>
                  <a:srgbClr val="C00000"/>
                </a:solidFill>
              </a:rPr>
              <a:t>When to Choose Which Grain in Dimensional Modelling</a:t>
            </a:r>
          </a:p>
          <a:p>
            <a:pPr>
              <a:buNone/>
            </a:pPr>
            <a:endParaRPr lang="en-IN" dirty="0"/>
          </a:p>
          <a:p>
            <a:pPr>
              <a:buNone/>
            </a:pPr>
            <a:r>
              <a:rPr lang="en-IN" dirty="0"/>
              <a:t>Choosing the grain means deciding </a:t>
            </a:r>
            <a:r>
              <a:rPr lang="en-IN" b="1" dirty="0"/>
              <a:t>how detailed each row in the fact table should be</a:t>
            </a:r>
            <a:r>
              <a:rPr lang="en-IN" dirty="0"/>
              <a:t>.</a:t>
            </a:r>
            <a:br>
              <a:rPr lang="en-IN" dirty="0"/>
            </a:br>
            <a:endParaRPr lang="en-IN" dirty="0"/>
          </a:p>
          <a:p>
            <a:pPr>
              <a:buNone/>
            </a:pPr>
            <a:r>
              <a:rPr lang="en-IN" dirty="0"/>
              <a:t>The correct grain depends mainly on </a:t>
            </a:r>
            <a:r>
              <a:rPr lang="en-IN" b="1" dirty="0"/>
              <a:t>business requirements</a:t>
            </a:r>
            <a:r>
              <a:rPr lang="en-IN" dirty="0"/>
              <a:t>, not technology.</a:t>
            </a:r>
          </a:p>
        </p:txBody>
      </p:sp>
    </p:spTree>
    <p:extLst>
      <p:ext uri="{BB962C8B-B14F-4D97-AF65-F5344CB8AC3E}">
        <p14:creationId xmlns:p14="http://schemas.microsoft.com/office/powerpoint/2010/main" val="504233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B7E52-F951-DE05-606B-52F5CC2BDD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A3C78EA-A6DC-4114-E1F7-52477F084357}"/>
              </a:ext>
            </a:extLst>
          </p:cNvPr>
          <p:cNvSpPr txBox="1"/>
          <p:nvPr/>
        </p:nvSpPr>
        <p:spPr>
          <a:xfrm>
            <a:off x="969577" y="163527"/>
            <a:ext cx="10413125" cy="6186309"/>
          </a:xfrm>
          <a:prstGeom prst="rect">
            <a:avLst/>
          </a:prstGeom>
          <a:noFill/>
        </p:spPr>
        <p:txBody>
          <a:bodyPr wrap="square">
            <a:spAutoFit/>
          </a:bodyPr>
          <a:lstStyle/>
          <a:p>
            <a:pPr>
              <a:buNone/>
            </a:pPr>
            <a:r>
              <a:rPr lang="en-IN" b="1" u="sng" dirty="0">
                <a:solidFill>
                  <a:srgbClr val="C00000"/>
                </a:solidFill>
              </a:rPr>
              <a:t>1. Choose Fine-Grain (Detailed Grain) When…</a:t>
            </a:r>
          </a:p>
          <a:p>
            <a:pPr>
              <a:buNone/>
            </a:pPr>
            <a:endParaRPr lang="en-IN" dirty="0"/>
          </a:p>
          <a:p>
            <a:pPr>
              <a:buNone/>
            </a:pPr>
            <a:r>
              <a:rPr lang="en-IN" dirty="0"/>
              <a:t>Fine-grain data stores </a:t>
            </a:r>
            <a:r>
              <a:rPr lang="en-IN" b="1" dirty="0"/>
              <a:t>each individual business event</a:t>
            </a:r>
            <a:r>
              <a:rPr lang="en-IN" dirty="0"/>
              <a:t>.</a:t>
            </a:r>
          </a:p>
          <a:p>
            <a:pPr>
              <a:buNone/>
            </a:pPr>
            <a:endParaRPr lang="en-IN" b="1" dirty="0"/>
          </a:p>
          <a:p>
            <a:pPr>
              <a:buNone/>
            </a:pPr>
            <a:r>
              <a:rPr lang="en-IN" b="1" dirty="0"/>
              <a:t>Choose fine-grain if:</a:t>
            </a:r>
          </a:p>
          <a:p>
            <a:pPr>
              <a:buFont typeface="Arial" panose="020B0604020202020204" pitchFamily="34" charset="0"/>
              <a:buChar char="•"/>
            </a:pPr>
            <a:r>
              <a:rPr lang="en-IN" dirty="0"/>
              <a:t>Business users want </a:t>
            </a:r>
            <a:r>
              <a:rPr lang="en-IN" b="1" dirty="0"/>
              <a:t>detailed analysis</a:t>
            </a:r>
            <a:endParaRPr lang="en-IN" dirty="0"/>
          </a:p>
          <a:p>
            <a:pPr>
              <a:buFont typeface="Arial" panose="020B0604020202020204" pitchFamily="34" charset="0"/>
              <a:buChar char="•"/>
            </a:pPr>
            <a:r>
              <a:rPr lang="en-IN" dirty="0"/>
              <a:t>Future questions are </a:t>
            </a:r>
            <a:r>
              <a:rPr lang="en-IN" b="1" dirty="0"/>
              <a:t>not fully known</a:t>
            </a:r>
            <a:endParaRPr lang="en-IN" dirty="0"/>
          </a:p>
          <a:p>
            <a:pPr>
              <a:buFont typeface="Arial" panose="020B0604020202020204" pitchFamily="34" charset="0"/>
              <a:buChar char="•"/>
            </a:pPr>
            <a:r>
              <a:rPr lang="en-IN" dirty="0"/>
              <a:t>Drill-down analysis is required</a:t>
            </a:r>
          </a:p>
          <a:p>
            <a:pPr>
              <a:buFont typeface="Arial" panose="020B0604020202020204" pitchFamily="34" charset="0"/>
              <a:buChar char="•"/>
            </a:pPr>
            <a:r>
              <a:rPr lang="en-IN" dirty="0"/>
              <a:t>Individual transactions matter</a:t>
            </a:r>
          </a:p>
          <a:p>
            <a:pPr>
              <a:buNone/>
            </a:pPr>
            <a:endParaRPr lang="en-IN" b="1" dirty="0"/>
          </a:p>
          <a:p>
            <a:pPr>
              <a:buNone/>
            </a:pPr>
            <a:r>
              <a:rPr lang="en-IN" b="1" dirty="0"/>
              <a:t>Typical Scenarios:</a:t>
            </a:r>
          </a:p>
          <a:p>
            <a:pPr>
              <a:buFont typeface="Arial" panose="020B0604020202020204" pitchFamily="34" charset="0"/>
              <a:buChar char="•"/>
            </a:pPr>
            <a:r>
              <a:rPr lang="en-IN" dirty="0"/>
              <a:t>Sales system → one row per product per transaction</a:t>
            </a:r>
          </a:p>
          <a:p>
            <a:pPr>
              <a:buFont typeface="Arial" panose="020B0604020202020204" pitchFamily="34" charset="0"/>
              <a:buChar char="•"/>
            </a:pPr>
            <a:r>
              <a:rPr lang="en-IN" dirty="0"/>
              <a:t>Student system → one row per student per subject per exam</a:t>
            </a:r>
          </a:p>
          <a:p>
            <a:pPr>
              <a:buFont typeface="Arial" panose="020B0604020202020204" pitchFamily="34" charset="0"/>
              <a:buChar char="•"/>
            </a:pPr>
            <a:r>
              <a:rPr lang="en-IN" dirty="0"/>
              <a:t>Hospital system → one row per patient visit</a:t>
            </a:r>
          </a:p>
          <a:p>
            <a:pPr>
              <a:buNone/>
            </a:pPr>
            <a:endParaRPr lang="en-IN" b="1" dirty="0"/>
          </a:p>
          <a:p>
            <a:pPr>
              <a:buNone/>
            </a:pPr>
            <a:r>
              <a:rPr lang="en-IN" b="1" dirty="0"/>
              <a:t>Example:</a:t>
            </a:r>
          </a:p>
          <a:p>
            <a:pPr>
              <a:buNone/>
            </a:pPr>
            <a:r>
              <a:rPr lang="en-IN" dirty="0"/>
              <a:t>A retail manager asks:</a:t>
            </a:r>
          </a:p>
          <a:p>
            <a:pPr>
              <a:buNone/>
            </a:pPr>
            <a:r>
              <a:rPr lang="en-IN" dirty="0"/>
              <a:t>“Which customer bought which product on which date?”</a:t>
            </a:r>
          </a:p>
          <a:p>
            <a:pPr>
              <a:buNone/>
            </a:pPr>
            <a:r>
              <a:rPr lang="en-IN" dirty="0"/>
              <a:t>This requires </a:t>
            </a:r>
            <a:r>
              <a:rPr lang="en-IN" b="1" dirty="0"/>
              <a:t>fine-grain data</a:t>
            </a:r>
            <a:r>
              <a:rPr lang="en-IN" dirty="0"/>
              <a:t>, because each sale must be stored separately.</a:t>
            </a:r>
          </a:p>
          <a:p>
            <a:pPr>
              <a:buNone/>
            </a:pPr>
            <a:endParaRPr lang="en-IN" dirty="0"/>
          </a:p>
          <a:p>
            <a:pPr>
              <a:buNone/>
            </a:pPr>
            <a:r>
              <a:rPr lang="en-IN" dirty="0"/>
              <a:t>✅ </a:t>
            </a:r>
            <a:r>
              <a:rPr lang="en-IN" b="1" dirty="0"/>
              <a:t>Rule:</a:t>
            </a:r>
            <a:br>
              <a:rPr lang="en-IN" dirty="0"/>
            </a:br>
            <a:r>
              <a:rPr lang="en-IN" dirty="0"/>
              <a:t>If users want </a:t>
            </a:r>
            <a:r>
              <a:rPr lang="en-IN" b="1" dirty="0"/>
              <a:t>maximum flexibility</a:t>
            </a:r>
            <a:r>
              <a:rPr lang="en-IN" dirty="0"/>
              <a:t>, always choose </a:t>
            </a:r>
            <a:r>
              <a:rPr lang="en-IN" b="1" dirty="0"/>
              <a:t>fine grain</a:t>
            </a:r>
            <a:r>
              <a:rPr lang="en-IN" dirty="0"/>
              <a:t>.</a:t>
            </a:r>
          </a:p>
        </p:txBody>
      </p:sp>
    </p:spTree>
    <p:extLst>
      <p:ext uri="{BB962C8B-B14F-4D97-AF65-F5344CB8AC3E}">
        <p14:creationId xmlns:p14="http://schemas.microsoft.com/office/powerpoint/2010/main" val="116397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63AB5-36B4-9E47-CF97-CB316C5250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96B082-6522-3463-DB61-F77410D52895}"/>
              </a:ext>
            </a:extLst>
          </p:cNvPr>
          <p:cNvSpPr txBox="1"/>
          <p:nvPr/>
        </p:nvSpPr>
        <p:spPr>
          <a:xfrm>
            <a:off x="1011621" y="165393"/>
            <a:ext cx="9362090" cy="6186309"/>
          </a:xfrm>
          <a:prstGeom prst="rect">
            <a:avLst/>
          </a:prstGeom>
          <a:noFill/>
        </p:spPr>
        <p:txBody>
          <a:bodyPr wrap="square">
            <a:spAutoFit/>
          </a:bodyPr>
          <a:lstStyle/>
          <a:p>
            <a:pPr>
              <a:buNone/>
            </a:pPr>
            <a:r>
              <a:rPr lang="en-IN" sz="2000" b="1" u="sng" dirty="0">
                <a:solidFill>
                  <a:srgbClr val="C00000"/>
                </a:solidFill>
              </a:rPr>
              <a:t>2. Choose Coarse-Grain (Aggregated Grain) When…</a:t>
            </a:r>
          </a:p>
          <a:p>
            <a:pPr>
              <a:buNone/>
            </a:pPr>
            <a:endParaRPr lang="en-IN" dirty="0"/>
          </a:p>
          <a:p>
            <a:pPr>
              <a:buNone/>
            </a:pPr>
            <a:r>
              <a:rPr lang="en-IN" dirty="0"/>
              <a:t>Coarse-grain data stores </a:t>
            </a:r>
            <a:r>
              <a:rPr lang="en-IN" b="1" dirty="0"/>
              <a:t>summarized information</a:t>
            </a:r>
            <a:r>
              <a:rPr lang="en-IN" dirty="0"/>
              <a:t>.</a:t>
            </a:r>
          </a:p>
          <a:p>
            <a:pPr>
              <a:buNone/>
            </a:pPr>
            <a:endParaRPr lang="en-IN" b="1" dirty="0"/>
          </a:p>
          <a:p>
            <a:pPr>
              <a:buNone/>
            </a:pPr>
            <a:r>
              <a:rPr lang="en-IN" b="1" dirty="0"/>
              <a:t>Choose coarse-grain if:</a:t>
            </a:r>
          </a:p>
          <a:p>
            <a:pPr>
              <a:buFont typeface="Arial" panose="020B0604020202020204" pitchFamily="34" charset="0"/>
              <a:buChar char="•"/>
            </a:pPr>
            <a:r>
              <a:rPr lang="en-IN" dirty="0"/>
              <a:t>Only </a:t>
            </a:r>
            <a:r>
              <a:rPr lang="en-IN" b="1" dirty="0"/>
              <a:t>summary reports</a:t>
            </a:r>
            <a:r>
              <a:rPr lang="en-IN" dirty="0"/>
              <a:t> are required</a:t>
            </a:r>
          </a:p>
          <a:p>
            <a:pPr>
              <a:buFont typeface="Arial" panose="020B0604020202020204" pitchFamily="34" charset="0"/>
              <a:buChar char="•"/>
            </a:pPr>
            <a:r>
              <a:rPr lang="en-IN" dirty="0"/>
              <a:t>No need for detailed drill-down</a:t>
            </a:r>
          </a:p>
          <a:p>
            <a:pPr>
              <a:buFont typeface="Arial" panose="020B0604020202020204" pitchFamily="34" charset="0"/>
              <a:buChar char="•"/>
            </a:pPr>
            <a:r>
              <a:rPr lang="en-IN" dirty="0"/>
              <a:t>Data volume must be minimized</a:t>
            </a:r>
          </a:p>
          <a:p>
            <a:pPr>
              <a:buFont typeface="Arial" panose="020B0604020202020204" pitchFamily="34" charset="0"/>
              <a:buChar char="•"/>
            </a:pPr>
            <a:r>
              <a:rPr lang="en-IN" dirty="0"/>
              <a:t>Performance is more important than detail</a:t>
            </a:r>
          </a:p>
          <a:p>
            <a:pPr>
              <a:buNone/>
            </a:pPr>
            <a:endParaRPr lang="en-IN" b="1" dirty="0"/>
          </a:p>
          <a:p>
            <a:pPr>
              <a:buNone/>
            </a:pPr>
            <a:r>
              <a:rPr lang="en-IN" b="1" dirty="0"/>
              <a:t>Typical Scenarios:</a:t>
            </a:r>
          </a:p>
          <a:p>
            <a:pPr>
              <a:buFont typeface="Arial" panose="020B0604020202020204" pitchFamily="34" charset="0"/>
              <a:buChar char="•"/>
            </a:pPr>
            <a:r>
              <a:rPr lang="en-IN" dirty="0"/>
              <a:t>Daily sales totals</a:t>
            </a:r>
          </a:p>
          <a:p>
            <a:pPr>
              <a:buFont typeface="Arial" panose="020B0604020202020204" pitchFamily="34" charset="0"/>
              <a:buChar char="•"/>
            </a:pPr>
            <a:r>
              <a:rPr lang="en-IN" dirty="0"/>
              <a:t>Monthly revenue reports</a:t>
            </a:r>
          </a:p>
          <a:p>
            <a:pPr>
              <a:buFont typeface="Arial" panose="020B0604020202020204" pitchFamily="34" charset="0"/>
              <a:buChar char="•"/>
            </a:pPr>
            <a:r>
              <a:rPr lang="en-IN" dirty="0"/>
              <a:t>Yearly patient counts</a:t>
            </a:r>
          </a:p>
          <a:p>
            <a:pPr>
              <a:buNone/>
            </a:pPr>
            <a:endParaRPr lang="en-IN" b="1" dirty="0"/>
          </a:p>
          <a:p>
            <a:pPr>
              <a:buNone/>
            </a:pPr>
            <a:r>
              <a:rPr lang="en-IN" b="1" dirty="0"/>
              <a:t>Example:</a:t>
            </a:r>
          </a:p>
          <a:p>
            <a:pPr>
              <a:buNone/>
            </a:pPr>
            <a:r>
              <a:rPr lang="en-IN" dirty="0"/>
              <a:t>A CEO asks:</a:t>
            </a:r>
          </a:p>
          <a:p>
            <a:pPr>
              <a:buNone/>
            </a:pPr>
            <a:r>
              <a:rPr lang="en-IN" dirty="0"/>
              <a:t>“What is the total sales per month?”</a:t>
            </a:r>
          </a:p>
          <a:p>
            <a:pPr>
              <a:buNone/>
            </a:pPr>
            <a:r>
              <a:rPr lang="en-IN" dirty="0"/>
              <a:t>Here, </a:t>
            </a:r>
            <a:r>
              <a:rPr lang="en-IN" b="1" dirty="0"/>
              <a:t>monthly-level data</a:t>
            </a:r>
            <a:r>
              <a:rPr lang="en-IN" dirty="0"/>
              <a:t> is sufficient. Transaction-level details are unnecessary.</a:t>
            </a:r>
          </a:p>
          <a:p>
            <a:pPr>
              <a:buNone/>
            </a:pPr>
            <a:endParaRPr lang="en-IN" dirty="0"/>
          </a:p>
          <a:p>
            <a:pPr>
              <a:buNone/>
            </a:pPr>
            <a:r>
              <a:rPr lang="en-IN" dirty="0"/>
              <a:t>⚠️ Limitation:</a:t>
            </a:r>
            <a:br>
              <a:rPr lang="en-IN" dirty="0"/>
            </a:br>
            <a:r>
              <a:rPr lang="en-IN" dirty="0"/>
              <a:t>Once data is aggregated, </a:t>
            </a:r>
            <a:r>
              <a:rPr lang="en-IN" b="1" dirty="0"/>
              <a:t>detail cannot be recovered later</a:t>
            </a:r>
            <a:r>
              <a:rPr lang="en-IN" dirty="0"/>
              <a:t>.</a:t>
            </a:r>
          </a:p>
        </p:txBody>
      </p:sp>
    </p:spTree>
    <p:extLst>
      <p:ext uri="{BB962C8B-B14F-4D97-AF65-F5344CB8AC3E}">
        <p14:creationId xmlns:p14="http://schemas.microsoft.com/office/powerpoint/2010/main" val="2781045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E8EB7-CFA9-49AA-9F36-B0A884A9F6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9E2091-7E57-2F63-821F-60E696D5499B}"/>
              </a:ext>
            </a:extLst>
          </p:cNvPr>
          <p:cNvSpPr txBox="1"/>
          <p:nvPr/>
        </p:nvSpPr>
        <p:spPr>
          <a:xfrm>
            <a:off x="738352" y="295926"/>
            <a:ext cx="6101254" cy="4247317"/>
          </a:xfrm>
          <a:prstGeom prst="rect">
            <a:avLst/>
          </a:prstGeom>
          <a:noFill/>
        </p:spPr>
        <p:txBody>
          <a:bodyPr wrap="square">
            <a:spAutoFit/>
          </a:bodyPr>
          <a:lstStyle/>
          <a:p>
            <a:pPr>
              <a:buNone/>
            </a:pPr>
            <a:r>
              <a:rPr lang="en-IN" sz="2000" b="1" u="sng" dirty="0">
                <a:solidFill>
                  <a:srgbClr val="C00000"/>
                </a:solidFill>
              </a:rPr>
              <a:t>Choosing Grain Based on Business Questions</a:t>
            </a:r>
          </a:p>
          <a:p>
            <a:pPr>
              <a:buNone/>
            </a:pPr>
            <a:endParaRPr lang="en-IN" dirty="0"/>
          </a:p>
          <a:p>
            <a:pPr>
              <a:buNone/>
            </a:pPr>
            <a:r>
              <a:rPr lang="en-IN" dirty="0"/>
              <a:t>Always decide grain by asking:</a:t>
            </a:r>
          </a:p>
          <a:p>
            <a:pPr>
              <a:buFont typeface="+mj-lt"/>
              <a:buAutoNum type="arabicPeriod"/>
            </a:pPr>
            <a:r>
              <a:rPr lang="en-IN" b="1" dirty="0"/>
              <a:t>What questions will users ask?</a:t>
            </a:r>
            <a:endParaRPr lang="en-IN" dirty="0"/>
          </a:p>
          <a:p>
            <a:pPr>
              <a:buFont typeface="+mj-lt"/>
              <a:buAutoNum type="arabicPeriod"/>
            </a:pPr>
            <a:r>
              <a:rPr lang="en-IN" b="1" dirty="0"/>
              <a:t>What level of detail do they need?</a:t>
            </a:r>
            <a:endParaRPr lang="en-IN" dirty="0"/>
          </a:p>
          <a:p>
            <a:pPr>
              <a:buFont typeface="+mj-lt"/>
              <a:buAutoNum type="arabicPeriod"/>
            </a:pPr>
            <a:r>
              <a:rPr lang="en-IN" b="1" dirty="0"/>
              <a:t>Will future users need deeper analysis?</a:t>
            </a:r>
            <a:endParaRPr lang="en-IN" dirty="0"/>
          </a:p>
          <a:p>
            <a:pPr>
              <a:buNone/>
            </a:pPr>
            <a:endParaRPr lang="en-IN" b="1" dirty="0"/>
          </a:p>
          <a:p>
            <a:pPr>
              <a:buNone/>
            </a:pPr>
            <a:r>
              <a:rPr lang="en-IN" b="1" dirty="0"/>
              <a:t>Example:</a:t>
            </a:r>
          </a:p>
          <a:p>
            <a:pPr>
              <a:buNone/>
            </a:pPr>
            <a:r>
              <a:rPr lang="en-IN" dirty="0"/>
              <a:t>If today’s question is:</a:t>
            </a:r>
          </a:p>
          <a:p>
            <a:pPr>
              <a:buNone/>
            </a:pPr>
            <a:r>
              <a:rPr lang="en-IN" dirty="0"/>
              <a:t>“Total sales per year”</a:t>
            </a:r>
          </a:p>
          <a:p>
            <a:pPr>
              <a:buNone/>
            </a:pPr>
            <a:endParaRPr lang="en-IN" dirty="0"/>
          </a:p>
          <a:p>
            <a:pPr>
              <a:buNone/>
            </a:pPr>
            <a:r>
              <a:rPr lang="en-IN" dirty="0"/>
              <a:t>But tomorrow’s question may be:</a:t>
            </a:r>
          </a:p>
          <a:p>
            <a:pPr>
              <a:buNone/>
            </a:pPr>
            <a:r>
              <a:rPr lang="en-IN" dirty="0"/>
              <a:t>“Which product category performed poorly in March?”</a:t>
            </a:r>
          </a:p>
          <a:p>
            <a:pPr>
              <a:buNone/>
            </a:pPr>
            <a:endParaRPr lang="en-IN" dirty="0"/>
          </a:p>
          <a:p>
            <a:pPr>
              <a:buNone/>
            </a:pPr>
            <a:r>
              <a:rPr lang="en-IN" dirty="0"/>
              <a:t>➡️ </a:t>
            </a:r>
            <a:r>
              <a:rPr lang="en-IN" b="1" dirty="0"/>
              <a:t>Fine-grain is safer for future needs</a:t>
            </a:r>
            <a:r>
              <a:rPr lang="en-IN" dirty="0"/>
              <a:t>.</a:t>
            </a:r>
          </a:p>
        </p:txBody>
      </p:sp>
      <p:sp>
        <p:nvSpPr>
          <p:cNvPr id="5" name="TextBox 4">
            <a:extLst>
              <a:ext uri="{FF2B5EF4-FFF2-40B4-BE49-F238E27FC236}">
                <a16:creationId xmlns:a16="http://schemas.microsoft.com/office/drawing/2014/main" id="{666012B3-C04B-6753-844E-9E1D5BBA85D7}"/>
              </a:ext>
            </a:extLst>
          </p:cNvPr>
          <p:cNvSpPr txBox="1"/>
          <p:nvPr/>
        </p:nvSpPr>
        <p:spPr>
          <a:xfrm>
            <a:off x="6839606" y="295926"/>
            <a:ext cx="4401207" cy="5693866"/>
          </a:xfrm>
          <a:prstGeom prst="rect">
            <a:avLst/>
          </a:prstGeom>
          <a:noFill/>
          <a:ln w="76200">
            <a:solidFill>
              <a:srgbClr val="C00000"/>
            </a:solidFill>
          </a:ln>
        </p:spPr>
        <p:txBody>
          <a:bodyPr wrap="square">
            <a:spAutoFit/>
          </a:bodyPr>
          <a:lstStyle/>
          <a:p>
            <a:pPr>
              <a:buNone/>
            </a:pPr>
            <a:r>
              <a:rPr lang="en-IN" sz="2800" b="1" u="sng" dirty="0">
                <a:solidFill>
                  <a:srgbClr val="C00000"/>
                </a:solidFill>
              </a:rPr>
              <a:t>Golden Rule of Grain Selection</a:t>
            </a:r>
          </a:p>
          <a:p>
            <a:pPr>
              <a:buNone/>
            </a:pPr>
            <a:endParaRPr lang="en-IN" sz="2800" u="sng" dirty="0">
              <a:solidFill>
                <a:srgbClr val="C00000"/>
              </a:solidFill>
            </a:endParaRPr>
          </a:p>
          <a:p>
            <a:pPr>
              <a:buNone/>
            </a:pPr>
            <a:r>
              <a:rPr lang="en-IN" sz="2800" i="1" dirty="0"/>
              <a:t>Store data at the lowest possible level of detail that the business can support.</a:t>
            </a:r>
            <a:endParaRPr lang="en-IN" sz="2800" dirty="0"/>
          </a:p>
          <a:p>
            <a:pPr>
              <a:buNone/>
            </a:pPr>
            <a:endParaRPr lang="en-IN" sz="2800" dirty="0"/>
          </a:p>
          <a:p>
            <a:pPr>
              <a:buNone/>
            </a:pPr>
            <a:r>
              <a:rPr lang="en-IN" sz="2800" dirty="0">
                <a:solidFill>
                  <a:srgbClr val="FF0000"/>
                </a:solidFill>
              </a:rPr>
              <a:t>Why?</a:t>
            </a:r>
          </a:p>
          <a:p>
            <a:pPr>
              <a:buFont typeface="Arial" panose="020B0604020202020204" pitchFamily="34" charset="0"/>
              <a:buChar char="•"/>
            </a:pPr>
            <a:r>
              <a:rPr lang="en-IN" sz="2800" dirty="0"/>
              <a:t>Aggregation can be done later</a:t>
            </a:r>
          </a:p>
          <a:p>
            <a:pPr>
              <a:buFont typeface="Arial" panose="020B0604020202020204" pitchFamily="34" charset="0"/>
              <a:buChar char="•"/>
            </a:pPr>
            <a:r>
              <a:rPr lang="en-IN" sz="2800" dirty="0"/>
              <a:t>Detail cannot be added later</a:t>
            </a:r>
          </a:p>
        </p:txBody>
      </p:sp>
    </p:spTree>
    <p:extLst>
      <p:ext uri="{BB962C8B-B14F-4D97-AF65-F5344CB8AC3E}">
        <p14:creationId xmlns:p14="http://schemas.microsoft.com/office/powerpoint/2010/main" val="11676197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9978A-7792-83E9-35F4-1C7A16EEFB7D}"/>
            </a:ext>
          </a:extLst>
        </p:cNvPr>
        <p:cNvGrpSpPr/>
        <p:nvPr/>
      </p:nvGrpSpPr>
      <p:grpSpPr>
        <a:xfrm>
          <a:off x="0" y="0"/>
          <a:ext cx="0" cy="0"/>
          <a:chOff x="0" y="0"/>
          <a:chExt cx="0" cy="0"/>
        </a:xfrm>
      </p:grpSpPr>
    </p:spTree>
    <p:extLst>
      <p:ext uri="{BB962C8B-B14F-4D97-AF65-F5344CB8AC3E}">
        <p14:creationId xmlns:p14="http://schemas.microsoft.com/office/powerpoint/2010/main" val="5504152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CCC19-537A-59B1-C547-DF49E3EDEC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72AC91-4E7B-551D-62ED-DE1C2937B70E}"/>
              </a:ext>
            </a:extLst>
          </p:cNvPr>
          <p:cNvSpPr txBox="1"/>
          <p:nvPr/>
        </p:nvSpPr>
        <p:spPr>
          <a:xfrm>
            <a:off x="1274380" y="178447"/>
            <a:ext cx="8773510" cy="4678204"/>
          </a:xfrm>
          <a:prstGeom prst="rect">
            <a:avLst/>
          </a:prstGeom>
          <a:noFill/>
        </p:spPr>
        <p:txBody>
          <a:bodyPr wrap="square">
            <a:spAutoFit/>
          </a:bodyPr>
          <a:lstStyle/>
          <a:p>
            <a:pPr>
              <a:buNone/>
            </a:pPr>
            <a:r>
              <a:rPr lang="en-IN" sz="3200" b="1" u="sng" dirty="0">
                <a:solidFill>
                  <a:srgbClr val="002060"/>
                </a:solidFill>
              </a:rPr>
              <a:t>Multidimensional Data Model</a:t>
            </a:r>
          </a:p>
          <a:p>
            <a:pPr>
              <a:buNone/>
            </a:pPr>
            <a:endParaRPr lang="en-IN" sz="3200" b="1" u="sng" dirty="0">
              <a:solidFill>
                <a:srgbClr val="002060"/>
              </a:solidFill>
            </a:endParaRPr>
          </a:p>
          <a:p>
            <a:pPr>
              <a:buNone/>
            </a:pPr>
            <a:r>
              <a:rPr lang="en-IN" b="1" dirty="0"/>
              <a:t>Problem with Traditional (Transactional) Data</a:t>
            </a:r>
          </a:p>
          <a:p>
            <a:pPr>
              <a:buNone/>
            </a:pPr>
            <a:endParaRPr lang="en-IN" dirty="0"/>
          </a:p>
          <a:p>
            <a:pPr>
              <a:buNone/>
            </a:pPr>
            <a:r>
              <a:rPr lang="en-IN" dirty="0"/>
              <a:t>In traditional databases (OLTP systems), data is stored in many </a:t>
            </a:r>
            <a:r>
              <a:rPr lang="en-IN" b="1" dirty="0"/>
              <a:t>normalized tables</a:t>
            </a:r>
            <a:r>
              <a:rPr lang="en-IN" dirty="0"/>
              <a:t>.</a:t>
            </a:r>
            <a:br>
              <a:rPr lang="en-IN" dirty="0"/>
            </a:br>
            <a:endParaRPr lang="en-IN" dirty="0"/>
          </a:p>
          <a:p>
            <a:pPr>
              <a:buNone/>
            </a:pPr>
            <a:r>
              <a:rPr lang="en-IN" dirty="0"/>
              <a:t>While this structure is good for daily operations, it creates problems for analysis.</a:t>
            </a:r>
          </a:p>
          <a:p>
            <a:pPr>
              <a:buNone/>
            </a:pPr>
            <a:endParaRPr lang="en-IN" dirty="0"/>
          </a:p>
          <a:p>
            <a:pPr>
              <a:buNone/>
            </a:pPr>
            <a:r>
              <a:rPr lang="en-IN" dirty="0"/>
              <a:t>Example problem:</a:t>
            </a:r>
          </a:p>
          <a:p>
            <a:pPr>
              <a:buFont typeface="Arial" panose="020B0604020202020204" pitchFamily="34" charset="0"/>
              <a:buChar char="•"/>
            </a:pPr>
            <a:endParaRPr lang="en-IN" dirty="0"/>
          </a:p>
          <a:p>
            <a:pPr>
              <a:buFont typeface="Arial" panose="020B0604020202020204" pitchFamily="34" charset="0"/>
              <a:buChar char="•"/>
            </a:pPr>
            <a:r>
              <a:rPr lang="en-IN" dirty="0"/>
              <a:t>To find </a:t>
            </a:r>
            <a:r>
              <a:rPr lang="en-IN" b="1" dirty="0"/>
              <a:t>total sales by year and product</a:t>
            </a:r>
            <a:r>
              <a:rPr lang="en-IN" dirty="0"/>
              <a:t>, we must join many tables</a:t>
            </a:r>
          </a:p>
          <a:p>
            <a:pPr>
              <a:buFont typeface="Arial" panose="020B0604020202020204" pitchFamily="34" charset="0"/>
              <a:buChar char="•"/>
            </a:pPr>
            <a:r>
              <a:rPr lang="en-IN" dirty="0"/>
              <a:t>Queries become complex and slow</a:t>
            </a:r>
          </a:p>
          <a:p>
            <a:pPr>
              <a:buFont typeface="Arial" panose="020B0604020202020204" pitchFamily="34" charset="0"/>
              <a:buChar char="•"/>
            </a:pPr>
            <a:r>
              <a:rPr lang="en-IN" dirty="0"/>
              <a:t>Business users find reports difficult to understand</a:t>
            </a:r>
          </a:p>
          <a:p>
            <a:pPr>
              <a:buNone/>
            </a:pPr>
            <a:endParaRPr lang="en-IN" dirty="0"/>
          </a:p>
          <a:p>
            <a:pPr>
              <a:buNone/>
            </a:pPr>
            <a:r>
              <a:rPr lang="en-IN" dirty="0"/>
              <a:t>As a result, decision-making becomes time-consuming.</a:t>
            </a:r>
          </a:p>
        </p:txBody>
      </p:sp>
    </p:spTree>
    <p:extLst>
      <p:ext uri="{BB962C8B-B14F-4D97-AF65-F5344CB8AC3E}">
        <p14:creationId xmlns:p14="http://schemas.microsoft.com/office/powerpoint/2010/main" val="23019373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0B064-7F96-F42E-235C-3E7D927752A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2D0AB8C-DA48-539A-ED82-B0E879D586C3}"/>
              </a:ext>
            </a:extLst>
          </p:cNvPr>
          <p:cNvSpPr txBox="1"/>
          <p:nvPr/>
        </p:nvSpPr>
        <p:spPr>
          <a:xfrm>
            <a:off x="1326931" y="301521"/>
            <a:ext cx="8205951" cy="2339102"/>
          </a:xfrm>
          <a:prstGeom prst="rect">
            <a:avLst/>
          </a:prstGeom>
          <a:noFill/>
        </p:spPr>
        <p:txBody>
          <a:bodyPr wrap="square">
            <a:spAutoFit/>
          </a:bodyPr>
          <a:lstStyle/>
          <a:p>
            <a:pPr>
              <a:buNone/>
            </a:pPr>
            <a:r>
              <a:rPr lang="en-IN" sz="2000" b="1" u="sng" dirty="0"/>
              <a:t>Need for a Better Analytical Model</a:t>
            </a:r>
          </a:p>
          <a:p>
            <a:pPr>
              <a:buNone/>
            </a:pPr>
            <a:endParaRPr lang="en-IN" dirty="0"/>
          </a:p>
          <a:p>
            <a:pPr>
              <a:buNone/>
            </a:pPr>
            <a:r>
              <a:rPr lang="en-IN" dirty="0"/>
              <a:t>Business users need:</a:t>
            </a:r>
          </a:p>
          <a:p>
            <a:pPr>
              <a:buFont typeface="Arial" panose="020B0604020202020204" pitchFamily="34" charset="0"/>
              <a:buChar char="•"/>
            </a:pPr>
            <a:r>
              <a:rPr lang="en-IN" dirty="0"/>
              <a:t>Simple structure</a:t>
            </a:r>
          </a:p>
          <a:p>
            <a:pPr>
              <a:buFont typeface="Arial" panose="020B0604020202020204" pitchFamily="34" charset="0"/>
              <a:buChar char="•"/>
            </a:pPr>
            <a:r>
              <a:rPr lang="en-IN" dirty="0"/>
              <a:t>Fast query results</a:t>
            </a:r>
          </a:p>
          <a:p>
            <a:pPr>
              <a:buFont typeface="Arial" panose="020B0604020202020204" pitchFamily="34" charset="0"/>
              <a:buChar char="•"/>
            </a:pPr>
            <a:r>
              <a:rPr lang="en-IN" dirty="0"/>
              <a:t>Easy analysis across multiple perspectives (time, product, region, etc.)</a:t>
            </a:r>
          </a:p>
          <a:p>
            <a:pPr>
              <a:buNone/>
            </a:pPr>
            <a:endParaRPr lang="en-IN" dirty="0"/>
          </a:p>
          <a:p>
            <a:pPr>
              <a:buNone/>
            </a:pPr>
            <a:r>
              <a:rPr lang="en-IN" dirty="0"/>
              <a:t>This requirement leads to the </a:t>
            </a:r>
            <a:r>
              <a:rPr lang="en-IN" b="1" dirty="0"/>
              <a:t>Multidimensional Data Model</a:t>
            </a:r>
            <a:r>
              <a:rPr lang="en-IN" dirty="0"/>
              <a:t>.</a:t>
            </a:r>
          </a:p>
        </p:txBody>
      </p:sp>
      <p:sp>
        <p:nvSpPr>
          <p:cNvPr id="3" name="TextBox 2">
            <a:extLst>
              <a:ext uri="{FF2B5EF4-FFF2-40B4-BE49-F238E27FC236}">
                <a16:creationId xmlns:a16="http://schemas.microsoft.com/office/drawing/2014/main" id="{52B6B397-6543-9057-0C8A-B066D708BAF7}"/>
              </a:ext>
            </a:extLst>
          </p:cNvPr>
          <p:cNvSpPr txBox="1"/>
          <p:nvPr/>
        </p:nvSpPr>
        <p:spPr>
          <a:xfrm>
            <a:off x="1326931" y="3063216"/>
            <a:ext cx="8878614" cy="3016210"/>
          </a:xfrm>
          <a:prstGeom prst="rect">
            <a:avLst/>
          </a:prstGeom>
          <a:noFill/>
        </p:spPr>
        <p:txBody>
          <a:bodyPr wrap="square">
            <a:spAutoFit/>
          </a:bodyPr>
          <a:lstStyle/>
          <a:p>
            <a:pPr>
              <a:buNone/>
            </a:pPr>
            <a:r>
              <a:rPr lang="en-IN" sz="2800" b="1" u="sng" dirty="0">
                <a:solidFill>
                  <a:srgbClr val="002060"/>
                </a:solidFill>
              </a:rPr>
              <a:t>What is a Multidimensional Data Model?</a:t>
            </a:r>
          </a:p>
          <a:p>
            <a:pPr>
              <a:buNone/>
            </a:pPr>
            <a:endParaRPr lang="en-IN" dirty="0"/>
          </a:p>
          <a:p>
            <a:pPr>
              <a:buNone/>
            </a:pPr>
            <a:r>
              <a:rPr lang="en-IN" dirty="0"/>
              <a:t>A multidimensional data model organizes data in a way that allows it to be viewed from </a:t>
            </a:r>
            <a:r>
              <a:rPr lang="en-IN" b="1" dirty="0"/>
              <a:t>multiple dimensions</a:t>
            </a:r>
            <a:r>
              <a:rPr lang="en-IN" dirty="0"/>
              <a:t>.</a:t>
            </a:r>
          </a:p>
          <a:p>
            <a:pPr>
              <a:buNone/>
            </a:pPr>
            <a:endParaRPr lang="en-IN" dirty="0"/>
          </a:p>
          <a:p>
            <a:pPr>
              <a:buNone/>
            </a:pPr>
            <a:r>
              <a:rPr lang="en-IN" dirty="0"/>
              <a:t>It is based on:</a:t>
            </a:r>
          </a:p>
          <a:p>
            <a:pPr>
              <a:buFont typeface="Arial" panose="020B0604020202020204" pitchFamily="34" charset="0"/>
              <a:buChar char="•"/>
            </a:pPr>
            <a:r>
              <a:rPr lang="en-IN" b="1" dirty="0"/>
              <a:t>Facts</a:t>
            </a:r>
            <a:r>
              <a:rPr lang="en-IN" dirty="0"/>
              <a:t> → numeric data to be </a:t>
            </a:r>
            <a:r>
              <a:rPr lang="en-IN" dirty="0" err="1"/>
              <a:t>analyzed</a:t>
            </a:r>
            <a:endParaRPr lang="en-IN" dirty="0"/>
          </a:p>
          <a:p>
            <a:pPr>
              <a:buFont typeface="Arial" panose="020B0604020202020204" pitchFamily="34" charset="0"/>
              <a:buChar char="•"/>
            </a:pPr>
            <a:r>
              <a:rPr lang="en-IN" b="1" dirty="0"/>
              <a:t>Dimensions</a:t>
            </a:r>
            <a:r>
              <a:rPr lang="en-IN" dirty="0"/>
              <a:t> → different ways to </a:t>
            </a:r>
            <a:r>
              <a:rPr lang="en-IN" dirty="0" err="1"/>
              <a:t>analyze</a:t>
            </a:r>
            <a:r>
              <a:rPr lang="en-IN" dirty="0"/>
              <a:t> the facts</a:t>
            </a:r>
          </a:p>
          <a:p>
            <a:pPr>
              <a:buNone/>
            </a:pPr>
            <a:endParaRPr lang="en-IN" dirty="0"/>
          </a:p>
          <a:p>
            <a:pPr>
              <a:buNone/>
            </a:pPr>
            <a:r>
              <a:rPr lang="en-IN" dirty="0"/>
              <a:t>The model represents data as a </a:t>
            </a:r>
            <a:r>
              <a:rPr lang="en-IN" b="1" dirty="0"/>
              <a:t>multidimensional space</a:t>
            </a:r>
            <a:r>
              <a:rPr lang="en-IN" dirty="0"/>
              <a:t>, instead of complex tables.</a:t>
            </a:r>
          </a:p>
        </p:txBody>
      </p:sp>
    </p:spTree>
    <p:extLst>
      <p:ext uri="{BB962C8B-B14F-4D97-AF65-F5344CB8AC3E}">
        <p14:creationId xmlns:p14="http://schemas.microsoft.com/office/powerpoint/2010/main" val="13211660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D9E48-36E3-42D9-9D81-D2252BC090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19D42E-90DC-B9FB-D980-796306E85558}"/>
              </a:ext>
            </a:extLst>
          </p:cNvPr>
          <p:cNvSpPr txBox="1"/>
          <p:nvPr/>
        </p:nvSpPr>
        <p:spPr>
          <a:xfrm>
            <a:off x="1253358" y="254468"/>
            <a:ext cx="9341069" cy="2580194"/>
          </a:xfrm>
          <a:prstGeom prst="rect">
            <a:avLst/>
          </a:prstGeom>
          <a:noFill/>
        </p:spPr>
        <p:txBody>
          <a:bodyPr wrap="square">
            <a:spAutoFit/>
          </a:bodyPr>
          <a:lstStyle/>
          <a:p>
            <a:pPr algn="l" fontAlgn="base">
              <a:lnSpc>
                <a:spcPts val="2100"/>
              </a:lnSpc>
              <a:buNone/>
            </a:pPr>
            <a:r>
              <a:rPr lang="en-IN" sz="2800" b="1" i="0" u="sng" dirty="0">
                <a:effectLst/>
                <a:latin typeface="Nunito" pitchFamily="2" charset="0"/>
              </a:rPr>
              <a:t>Multidimensional Data Representation</a:t>
            </a:r>
          </a:p>
          <a:p>
            <a:pPr algn="l" fontAlgn="base">
              <a:lnSpc>
                <a:spcPts val="2100"/>
              </a:lnSpc>
              <a:buNone/>
            </a:pPr>
            <a:endParaRPr lang="en-IN" b="1" i="0" dirty="0">
              <a:effectLst/>
              <a:latin typeface="Nunito" pitchFamily="2" charset="0"/>
            </a:endParaRPr>
          </a:p>
          <a:p>
            <a:pPr algn="l" rtl="0" fontAlgn="base">
              <a:spcAft>
                <a:spcPts val="750"/>
              </a:spcAft>
              <a:buNone/>
            </a:pPr>
            <a:r>
              <a:rPr lang="en-IN" b="0" i="0" dirty="0">
                <a:effectLst/>
                <a:latin typeface="Nunito" pitchFamily="2" charset="0"/>
              </a:rPr>
              <a:t>A multidimensional model typically uses:</a:t>
            </a:r>
          </a:p>
          <a:p>
            <a:pPr algn="l" fontAlgn="base">
              <a:spcAft>
                <a:spcPts val="1800"/>
              </a:spcAft>
              <a:buFont typeface="Arial" panose="020B0604020202020204" pitchFamily="34" charset="0"/>
              <a:buChar char="•"/>
            </a:pPr>
            <a:r>
              <a:rPr lang="en-IN" b="0" i="0" dirty="0">
                <a:effectLst/>
                <a:latin typeface="Nunito" pitchFamily="2" charset="0"/>
              </a:rPr>
              <a:t>Fact Table: Contains measures and foreign keys to dimensions.</a:t>
            </a:r>
          </a:p>
          <a:p>
            <a:pPr algn="l" fontAlgn="base">
              <a:spcAft>
                <a:spcPts val="1800"/>
              </a:spcAft>
              <a:buFont typeface="Arial" panose="020B0604020202020204" pitchFamily="34" charset="0"/>
              <a:buChar char="•"/>
            </a:pPr>
            <a:r>
              <a:rPr lang="en-IN" b="0" i="0" dirty="0">
                <a:effectLst/>
                <a:latin typeface="Nunito" pitchFamily="2" charset="0"/>
              </a:rPr>
              <a:t>Dimension Tables: Contain attributes that describe context for the facts.</a:t>
            </a:r>
          </a:p>
          <a:p>
            <a:pPr algn="l" fontAlgn="base">
              <a:spcAft>
                <a:spcPts val="1800"/>
              </a:spcAft>
              <a:buFont typeface="Arial" panose="020B0604020202020204" pitchFamily="34" charset="0"/>
              <a:buChar char="•"/>
            </a:pPr>
            <a:r>
              <a:rPr lang="en-IN" b="0" i="0" dirty="0">
                <a:effectLst/>
                <a:latin typeface="Nunito" pitchFamily="2" charset="0"/>
              </a:rPr>
              <a:t>Cube Representation: Organizes facts across multiple dimensions for faster aggregation and slicing.</a:t>
            </a:r>
          </a:p>
        </p:txBody>
      </p:sp>
    </p:spTree>
    <p:extLst>
      <p:ext uri="{BB962C8B-B14F-4D97-AF65-F5344CB8AC3E}">
        <p14:creationId xmlns:p14="http://schemas.microsoft.com/office/powerpoint/2010/main" val="9604252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9B3C1-3A4D-86B0-5150-EF19B208C2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B9D9AA-B86B-39C9-DE7A-06652C5E6DEF}"/>
              </a:ext>
            </a:extLst>
          </p:cNvPr>
          <p:cNvSpPr txBox="1"/>
          <p:nvPr/>
        </p:nvSpPr>
        <p:spPr>
          <a:xfrm>
            <a:off x="914401" y="488659"/>
            <a:ext cx="9806152" cy="5211683"/>
          </a:xfrm>
          <a:prstGeom prst="rect">
            <a:avLst/>
          </a:prstGeom>
          <a:noFill/>
        </p:spPr>
        <p:txBody>
          <a:bodyPr wrap="square">
            <a:spAutoFit/>
          </a:bodyPr>
          <a:lstStyle/>
          <a:p>
            <a:pPr algn="l" fontAlgn="base">
              <a:lnSpc>
                <a:spcPts val="2100"/>
              </a:lnSpc>
              <a:buNone/>
            </a:pPr>
            <a:r>
              <a:rPr lang="en-IN" sz="3200" b="1" i="0" u="sng" dirty="0">
                <a:effectLst/>
                <a:latin typeface="Nunito" pitchFamily="2" charset="0"/>
              </a:rPr>
              <a:t>Working on a Multidimensional Data Model</a:t>
            </a:r>
          </a:p>
          <a:p>
            <a:pPr algn="l" fontAlgn="base">
              <a:lnSpc>
                <a:spcPts val="2100"/>
              </a:lnSpc>
              <a:buNone/>
            </a:pPr>
            <a:endParaRPr lang="en-IN" b="1" i="0" dirty="0">
              <a:effectLst/>
              <a:latin typeface="Nunito" pitchFamily="2" charset="0"/>
            </a:endParaRPr>
          </a:p>
          <a:p>
            <a:pPr algn="l" rtl="0" fontAlgn="base">
              <a:spcAft>
                <a:spcPts val="750"/>
              </a:spcAft>
              <a:buNone/>
            </a:pPr>
            <a:r>
              <a:rPr lang="en-IN" b="0" i="0" dirty="0">
                <a:effectLst/>
                <a:latin typeface="Nunito" pitchFamily="2" charset="0"/>
              </a:rPr>
              <a:t>Building a multidimensional data model typically involves:</a:t>
            </a:r>
          </a:p>
          <a:p>
            <a:pPr algn="l" fontAlgn="base">
              <a:spcAft>
                <a:spcPts val="1800"/>
              </a:spcAft>
              <a:buFont typeface="Arial" panose="020B0604020202020204" pitchFamily="34" charset="0"/>
              <a:buChar char="•"/>
            </a:pPr>
            <a:r>
              <a:rPr lang="en-IN" b="1" i="0" dirty="0">
                <a:effectLst/>
                <a:latin typeface="Nunito" pitchFamily="2" charset="0"/>
              </a:rPr>
              <a:t>Identifying Business Requirements:</a:t>
            </a:r>
            <a:r>
              <a:rPr lang="en-IN" b="0" i="0" dirty="0">
                <a:effectLst/>
                <a:latin typeface="Nunito" pitchFamily="2" charset="0"/>
              </a:rPr>
              <a:t> Determine the key questions the business wants to </a:t>
            </a:r>
            <a:r>
              <a:rPr lang="en-IN" b="0" i="0" dirty="0" err="1">
                <a:effectLst/>
                <a:latin typeface="Nunito" pitchFamily="2" charset="0"/>
              </a:rPr>
              <a:t>analyze</a:t>
            </a:r>
            <a:r>
              <a:rPr lang="en-IN" b="0" i="0" dirty="0">
                <a:effectLst/>
                <a:latin typeface="Nunito" pitchFamily="2" charset="0"/>
              </a:rPr>
              <a:t> (e.g., sales trends, regional performance).</a:t>
            </a:r>
          </a:p>
          <a:p>
            <a:pPr algn="l" fontAlgn="base">
              <a:spcAft>
                <a:spcPts val="1800"/>
              </a:spcAft>
              <a:buFont typeface="Arial" panose="020B0604020202020204" pitchFamily="34" charset="0"/>
              <a:buChar char="•"/>
            </a:pPr>
            <a:r>
              <a:rPr lang="en-IN" b="1" i="0" dirty="0">
                <a:effectLst/>
                <a:latin typeface="Nunito" pitchFamily="2" charset="0"/>
              </a:rPr>
              <a:t>Defining Dimensions:</a:t>
            </a:r>
            <a:r>
              <a:rPr lang="en-IN" b="0" i="0" dirty="0">
                <a:effectLst/>
                <a:latin typeface="Nunito" pitchFamily="2" charset="0"/>
              </a:rPr>
              <a:t> Identify descriptive categories such as time, product, location, or customer that will provide context for analysis.</a:t>
            </a:r>
          </a:p>
          <a:p>
            <a:pPr algn="l" fontAlgn="base">
              <a:spcAft>
                <a:spcPts val="1800"/>
              </a:spcAft>
              <a:buFont typeface="Arial" panose="020B0604020202020204" pitchFamily="34" charset="0"/>
              <a:buChar char="•"/>
            </a:pPr>
            <a:r>
              <a:rPr lang="en-IN" b="1" i="0" dirty="0">
                <a:effectLst/>
                <a:latin typeface="Nunito" pitchFamily="2" charset="0"/>
              </a:rPr>
              <a:t>Defining Facts:</a:t>
            </a:r>
            <a:r>
              <a:rPr lang="en-IN" b="0" i="0" dirty="0">
                <a:effectLst/>
                <a:latin typeface="Nunito" pitchFamily="2" charset="0"/>
              </a:rPr>
              <a:t> Select measurable values such as sales, cost, or units sold that will be stored in the fact table.</a:t>
            </a:r>
          </a:p>
          <a:p>
            <a:pPr algn="l" fontAlgn="base">
              <a:spcAft>
                <a:spcPts val="1800"/>
              </a:spcAft>
              <a:buFont typeface="Arial" panose="020B0604020202020204" pitchFamily="34" charset="0"/>
              <a:buChar char="•"/>
            </a:pPr>
            <a:r>
              <a:rPr lang="en-IN" b="1" i="0" dirty="0">
                <a:effectLst/>
                <a:latin typeface="Nunito" pitchFamily="2" charset="0"/>
              </a:rPr>
              <a:t>Identifying Hierarchies:</a:t>
            </a:r>
            <a:r>
              <a:rPr lang="en-IN" b="0" i="0" dirty="0">
                <a:effectLst/>
                <a:latin typeface="Nunito" pitchFamily="2" charset="0"/>
              </a:rPr>
              <a:t> Establish natural roll-up paths (e.g., Year → Quarter → Month → Day).</a:t>
            </a:r>
          </a:p>
          <a:p>
            <a:pPr algn="l" fontAlgn="base">
              <a:spcAft>
                <a:spcPts val="1800"/>
              </a:spcAft>
              <a:buFont typeface="Arial" panose="020B0604020202020204" pitchFamily="34" charset="0"/>
              <a:buChar char="•"/>
            </a:pPr>
            <a:r>
              <a:rPr lang="en-IN" b="1" i="0" dirty="0">
                <a:effectLst/>
                <a:latin typeface="Nunito" pitchFamily="2" charset="0"/>
              </a:rPr>
              <a:t>Designing the Schema:</a:t>
            </a:r>
            <a:r>
              <a:rPr lang="en-IN" b="0" i="0" dirty="0">
                <a:effectLst/>
                <a:latin typeface="Nunito" pitchFamily="2" charset="0"/>
              </a:rPr>
              <a:t> Create a star or snowflake schema linking fact and dimension tables.</a:t>
            </a:r>
          </a:p>
          <a:p>
            <a:pPr algn="l" fontAlgn="base">
              <a:spcAft>
                <a:spcPts val="1800"/>
              </a:spcAft>
              <a:buFont typeface="Arial" panose="020B0604020202020204" pitchFamily="34" charset="0"/>
              <a:buChar char="•"/>
            </a:pPr>
            <a:r>
              <a:rPr lang="en-IN" b="1" i="0" dirty="0">
                <a:effectLst/>
                <a:latin typeface="Nunito" pitchFamily="2" charset="0"/>
              </a:rPr>
              <a:t>Building Data Cubes:</a:t>
            </a:r>
            <a:r>
              <a:rPr lang="en-IN" b="0" i="0" dirty="0">
                <a:effectLst/>
                <a:latin typeface="Nunito" pitchFamily="2" charset="0"/>
              </a:rPr>
              <a:t> Organize facts and dimensions into cube structures that support slicing, dicing, drill-down, roll-up, and fast aggregation.</a:t>
            </a:r>
          </a:p>
        </p:txBody>
      </p:sp>
    </p:spTree>
    <p:extLst>
      <p:ext uri="{BB962C8B-B14F-4D97-AF65-F5344CB8AC3E}">
        <p14:creationId xmlns:p14="http://schemas.microsoft.com/office/powerpoint/2010/main" val="40838956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D4C1A-F807-2676-AA15-8A0B4C3CFA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968463-5669-6354-D0F4-E11ED8138608}"/>
              </a:ext>
            </a:extLst>
          </p:cNvPr>
          <p:cNvSpPr txBox="1"/>
          <p:nvPr/>
        </p:nvSpPr>
        <p:spPr>
          <a:xfrm>
            <a:off x="1347952" y="336102"/>
            <a:ext cx="6101254" cy="3293209"/>
          </a:xfrm>
          <a:prstGeom prst="rect">
            <a:avLst/>
          </a:prstGeom>
          <a:noFill/>
        </p:spPr>
        <p:txBody>
          <a:bodyPr wrap="square">
            <a:spAutoFit/>
          </a:bodyPr>
          <a:lstStyle/>
          <a:p>
            <a:pPr>
              <a:buNone/>
            </a:pPr>
            <a:r>
              <a:rPr lang="en-IN" sz="2800" b="1" u="sng" dirty="0"/>
              <a:t>Concept of Multidimensional Space</a:t>
            </a:r>
          </a:p>
          <a:p>
            <a:pPr>
              <a:buNone/>
            </a:pPr>
            <a:endParaRPr lang="en-IN" dirty="0"/>
          </a:p>
          <a:p>
            <a:pPr>
              <a:buNone/>
            </a:pPr>
            <a:r>
              <a:rPr lang="en-IN" dirty="0"/>
              <a:t>In this model, data is visualized as a </a:t>
            </a:r>
            <a:r>
              <a:rPr lang="en-IN" b="1" dirty="0"/>
              <a:t>cube-like structure</a:t>
            </a:r>
            <a:r>
              <a:rPr lang="en-IN" dirty="0"/>
              <a:t>:</a:t>
            </a:r>
          </a:p>
          <a:p>
            <a:pPr>
              <a:buFont typeface="Arial" panose="020B0604020202020204" pitchFamily="34" charset="0"/>
              <a:buChar char="•"/>
            </a:pPr>
            <a:endParaRPr lang="en-IN" dirty="0"/>
          </a:p>
          <a:p>
            <a:pPr>
              <a:buFont typeface="Arial" panose="020B0604020202020204" pitchFamily="34" charset="0"/>
              <a:buChar char="•"/>
            </a:pPr>
            <a:r>
              <a:rPr lang="en-IN" dirty="0"/>
              <a:t>Each </a:t>
            </a:r>
            <a:r>
              <a:rPr lang="en-IN" b="1" dirty="0"/>
              <a:t>dimension</a:t>
            </a:r>
            <a:r>
              <a:rPr lang="en-IN" dirty="0"/>
              <a:t> represents one axis</a:t>
            </a:r>
          </a:p>
          <a:p>
            <a:pPr>
              <a:buFont typeface="Arial" panose="020B0604020202020204" pitchFamily="34" charset="0"/>
              <a:buChar char="•"/>
            </a:pPr>
            <a:r>
              <a:rPr lang="en-IN" dirty="0"/>
              <a:t>Each </a:t>
            </a:r>
            <a:r>
              <a:rPr lang="en-IN" b="1" dirty="0"/>
              <a:t>cell</a:t>
            </a:r>
            <a:r>
              <a:rPr lang="en-IN" dirty="0"/>
              <a:t> in the cube stores a fact value</a:t>
            </a:r>
          </a:p>
          <a:p>
            <a:pPr>
              <a:buNone/>
            </a:pPr>
            <a:endParaRPr lang="en-IN" dirty="0"/>
          </a:p>
          <a:p>
            <a:pPr>
              <a:buNone/>
            </a:pPr>
            <a:r>
              <a:rPr lang="en-IN" dirty="0"/>
              <a:t>Example:</a:t>
            </a:r>
          </a:p>
          <a:p>
            <a:pPr>
              <a:buFont typeface="Arial" panose="020B0604020202020204" pitchFamily="34" charset="0"/>
              <a:buChar char="•"/>
            </a:pPr>
            <a:r>
              <a:rPr lang="en-IN" dirty="0"/>
              <a:t>Dimensions: Time, Product, Customer</a:t>
            </a:r>
          </a:p>
          <a:p>
            <a:pPr>
              <a:buFont typeface="Arial" panose="020B0604020202020204" pitchFamily="34" charset="0"/>
              <a:buChar char="•"/>
            </a:pPr>
            <a:r>
              <a:rPr lang="en-IN" dirty="0"/>
              <a:t>Fact: Sales Amount</a:t>
            </a:r>
          </a:p>
        </p:txBody>
      </p:sp>
      <p:pic>
        <p:nvPicPr>
          <p:cNvPr id="5" name="Picture 4">
            <a:extLst>
              <a:ext uri="{FF2B5EF4-FFF2-40B4-BE49-F238E27FC236}">
                <a16:creationId xmlns:a16="http://schemas.microsoft.com/office/drawing/2014/main" id="{7B7B9975-7BDB-FED0-4768-E0021603131C}"/>
              </a:ext>
            </a:extLst>
          </p:cNvPr>
          <p:cNvPicPr>
            <a:picLocks noChangeAspect="1"/>
          </p:cNvPicPr>
          <p:nvPr/>
        </p:nvPicPr>
        <p:blipFill>
          <a:blip r:embed="rId2"/>
          <a:stretch>
            <a:fillRect/>
          </a:stretch>
        </p:blipFill>
        <p:spPr>
          <a:xfrm>
            <a:off x="5715505" y="2679724"/>
            <a:ext cx="5852426" cy="3842174"/>
          </a:xfrm>
          <a:prstGeom prst="rect">
            <a:avLst/>
          </a:prstGeom>
        </p:spPr>
      </p:pic>
    </p:spTree>
    <p:extLst>
      <p:ext uri="{BB962C8B-B14F-4D97-AF65-F5344CB8AC3E}">
        <p14:creationId xmlns:p14="http://schemas.microsoft.com/office/powerpoint/2010/main" val="37972842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0C633-E154-8C0F-085F-E8E1A2521D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739A1D-6224-3B42-0B91-7C6984FB2684}"/>
              </a:ext>
            </a:extLst>
          </p:cNvPr>
          <p:cNvSpPr txBox="1"/>
          <p:nvPr/>
        </p:nvSpPr>
        <p:spPr>
          <a:xfrm>
            <a:off x="917026" y="214506"/>
            <a:ext cx="9414641" cy="1572225"/>
          </a:xfrm>
          <a:prstGeom prst="rect">
            <a:avLst/>
          </a:prstGeom>
          <a:noFill/>
        </p:spPr>
        <p:txBody>
          <a:bodyPr wrap="square">
            <a:spAutoFit/>
          </a:bodyPr>
          <a:lstStyle/>
          <a:p>
            <a:pPr algn="l" fontAlgn="base">
              <a:lnSpc>
                <a:spcPts val="2100"/>
              </a:lnSpc>
              <a:buNone/>
            </a:pPr>
            <a:r>
              <a:rPr lang="en-IN" b="1" i="0" dirty="0">
                <a:effectLst/>
                <a:latin typeface="Nunito" pitchFamily="2" charset="0"/>
              </a:rPr>
              <a:t>Example: Understanding the Multidimensional Model</a:t>
            </a:r>
          </a:p>
          <a:p>
            <a:pPr algn="l" rtl="0" fontAlgn="base">
              <a:spcAft>
                <a:spcPts val="750"/>
              </a:spcAft>
              <a:buNone/>
            </a:pPr>
            <a:endParaRPr lang="en-IN" b="0" i="0" dirty="0">
              <a:effectLst/>
              <a:latin typeface="Nunito" pitchFamily="2" charset="0"/>
            </a:endParaRPr>
          </a:p>
          <a:p>
            <a:pPr algn="l" rtl="0" fontAlgn="base">
              <a:spcAft>
                <a:spcPts val="750"/>
              </a:spcAft>
              <a:buNone/>
            </a:pPr>
            <a:r>
              <a:rPr lang="en-IN" b="0" i="0" dirty="0">
                <a:effectLst/>
                <a:latin typeface="Nunito" pitchFamily="2" charset="0"/>
              </a:rPr>
              <a:t>1. Let us take the example of a firm. The revenue cost of a firm can be recognized on the basis of different factors such as geographical location of firm's workplace, products of the firm, advertisements done, time utilized to flourish a product, etc.</a:t>
            </a:r>
          </a:p>
        </p:txBody>
      </p:sp>
      <p:pic>
        <p:nvPicPr>
          <p:cNvPr id="5" name="Picture 4">
            <a:extLst>
              <a:ext uri="{FF2B5EF4-FFF2-40B4-BE49-F238E27FC236}">
                <a16:creationId xmlns:a16="http://schemas.microsoft.com/office/drawing/2014/main" id="{97F7D7A8-8BDA-18DB-60E6-4778C92A61D1}"/>
              </a:ext>
            </a:extLst>
          </p:cNvPr>
          <p:cNvPicPr>
            <a:picLocks noChangeAspect="1"/>
          </p:cNvPicPr>
          <p:nvPr/>
        </p:nvPicPr>
        <p:blipFill>
          <a:blip r:embed="rId2"/>
          <a:stretch>
            <a:fillRect/>
          </a:stretch>
        </p:blipFill>
        <p:spPr>
          <a:xfrm>
            <a:off x="3238101" y="2032437"/>
            <a:ext cx="5715798" cy="4505954"/>
          </a:xfrm>
          <a:prstGeom prst="rect">
            <a:avLst/>
          </a:prstGeom>
        </p:spPr>
      </p:pic>
    </p:spTree>
    <p:extLst>
      <p:ext uri="{BB962C8B-B14F-4D97-AF65-F5344CB8AC3E}">
        <p14:creationId xmlns:p14="http://schemas.microsoft.com/office/powerpoint/2010/main" val="29286029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2E2E-767A-6F51-41AD-634733D452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513BFC-A75A-FE21-7C51-438516F5E4A8}"/>
              </a:ext>
            </a:extLst>
          </p:cNvPr>
          <p:cNvSpPr txBox="1"/>
          <p:nvPr/>
        </p:nvSpPr>
        <p:spPr>
          <a:xfrm>
            <a:off x="1179787" y="352887"/>
            <a:ext cx="8731468" cy="646331"/>
          </a:xfrm>
          <a:prstGeom prst="rect">
            <a:avLst/>
          </a:prstGeom>
          <a:noFill/>
        </p:spPr>
        <p:txBody>
          <a:bodyPr wrap="square">
            <a:spAutoFit/>
          </a:bodyPr>
          <a:lstStyle/>
          <a:p>
            <a:r>
              <a:rPr lang="en-IN" b="0" i="0" dirty="0">
                <a:effectLst/>
                <a:latin typeface="Nunito" pitchFamily="2" charset="0"/>
              </a:rPr>
              <a:t>2. Let us take the example of the data of a factory which sells products per quarter in Bangalore. The data is represented in the table given below:</a:t>
            </a:r>
            <a:endParaRPr lang="en-IN" dirty="0"/>
          </a:p>
        </p:txBody>
      </p:sp>
      <p:pic>
        <p:nvPicPr>
          <p:cNvPr id="5" name="Picture 4">
            <a:extLst>
              <a:ext uri="{FF2B5EF4-FFF2-40B4-BE49-F238E27FC236}">
                <a16:creationId xmlns:a16="http://schemas.microsoft.com/office/drawing/2014/main" id="{0D9DF516-BA12-0C5A-E185-6BC2E4B215EE}"/>
              </a:ext>
            </a:extLst>
          </p:cNvPr>
          <p:cNvPicPr>
            <a:picLocks noChangeAspect="1"/>
          </p:cNvPicPr>
          <p:nvPr/>
        </p:nvPicPr>
        <p:blipFill>
          <a:blip r:embed="rId2"/>
          <a:stretch>
            <a:fillRect/>
          </a:stretch>
        </p:blipFill>
        <p:spPr>
          <a:xfrm>
            <a:off x="1759394" y="1232813"/>
            <a:ext cx="8526065" cy="4115374"/>
          </a:xfrm>
          <a:prstGeom prst="rect">
            <a:avLst/>
          </a:prstGeom>
        </p:spPr>
      </p:pic>
      <p:sp>
        <p:nvSpPr>
          <p:cNvPr id="7" name="TextBox 6">
            <a:extLst>
              <a:ext uri="{FF2B5EF4-FFF2-40B4-BE49-F238E27FC236}">
                <a16:creationId xmlns:a16="http://schemas.microsoft.com/office/drawing/2014/main" id="{FC608521-90B0-6324-760A-A6D69385F972}"/>
              </a:ext>
            </a:extLst>
          </p:cNvPr>
          <p:cNvSpPr txBox="1"/>
          <p:nvPr/>
        </p:nvSpPr>
        <p:spPr>
          <a:xfrm>
            <a:off x="769882" y="5581783"/>
            <a:ext cx="10024241" cy="923330"/>
          </a:xfrm>
          <a:prstGeom prst="rect">
            <a:avLst/>
          </a:prstGeom>
          <a:noFill/>
        </p:spPr>
        <p:txBody>
          <a:bodyPr wrap="square">
            <a:spAutoFit/>
          </a:bodyPr>
          <a:lstStyle/>
          <a:p>
            <a:r>
              <a:rPr lang="en-IN" b="0" i="0" dirty="0">
                <a:effectLst/>
                <a:latin typeface="Nunito" pitchFamily="2" charset="0"/>
              </a:rPr>
              <a:t>In the above given presentation, the factory's sales for Bangalore are, for the time dimension, which is organized into quarters and the dimension of items, which is sorted according to the kind of item which is sold. The facts here are represented in rupees (in thousands).</a:t>
            </a:r>
            <a:endParaRPr lang="en-IN" dirty="0"/>
          </a:p>
        </p:txBody>
      </p:sp>
    </p:spTree>
    <p:extLst>
      <p:ext uri="{BB962C8B-B14F-4D97-AF65-F5344CB8AC3E}">
        <p14:creationId xmlns:p14="http://schemas.microsoft.com/office/powerpoint/2010/main" val="15772966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4E12A-73C9-EBE0-7439-F9114C9B1D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1315DC-1BC8-717F-FB82-4442D4703CA2}"/>
              </a:ext>
            </a:extLst>
          </p:cNvPr>
          <p:cNvSpPr txBox="1"/>
          <p:nvPr/>
        </p:nvSpPr>
        <p:spPr>
          <a:xfrm>
            <a:off x="1116725" y="291691"/>
            <a:ext cx="9519744" cy="646331"/>
          </a:xfrm>
          <a:prstGeom prst="rect">
            <a:avLst/>
          </a:prstGeom>
          <a:noFill/>
        </p:spPr>
        <p:txBody>
          <a:bodyPr wrap="square">
            <a:spAutoFit/>
          </a:bodyPr>
          <a:lstStyle/>
          <a:p>
            <a:r>
              <a:rPr lang="en-IN" b="0" i="0" dirty="0">
                <a:solidFill>
                  <a:srgbClr val="273239"/>
                </a:solidFill>
                <a:effectLst/>
                <a:latin typeface="Nunito" pitchFamily="2" charset="0"/>
              </a:rPr>
              <a:t>Suppose we need to add multiple cities (for e.g. Kolkata, Delhi, Mumbai) then the table can be extended as:</a:t>
            </a:r>
            <a:endParaRPr lang="en-IN" dirty="0"/>
          </a:p>
        </p:txBody>
      </p:sp>
      <p:pic>
        <p:nvPicPr>
          <p:cNvPr id="5" name="Picture 4">
            <a:extLst>
              <a:ext uri="{FF2B5EF4-FFF2-40B4-BE49-F238E27FC236}">
                <a16:creationId xmlns:a16="http://schemas.microsoft.com/office/drawing/2014/main" id="{E2FC48CC-07D0-9E7F-FB5F-EFB3B4947F55}"/>
              </a:ext>
            </a:extLst>
          </p:cNvPr>
          <p:cNvPicPr>
            <a:picLocks noChangeAspect="1"/>
          </p:cNvPicPr>
          <p:nvPr/>
        </p:nvPicPr>
        <p:blipFill>
          <a:blip r:embed="rId2"/>
          <a:stretch>
            <a:fillRect/>
          </a:stretch>
        </p:blipFill>
        <p:spPr>
          <a:xfrm>
            <a:off x="1832967" y="1014588"/>
            <a:ext cx="8526065" cy="4534533"/>
          </a:xfrm>
          <a:prstGeom prst="rect">
            <a:avLst/>
          </a:prstGeom>
        </p:spPr>
      </p:pic>
    </p:spTree>
    <p:extLst>
      <p:ext uri="{BB962C8B-B14F-4D97-AF65-F5344CB8AC3E}">
        <p14:creationId xmlns:p14="http://schemas.microsoft.com/office/powerpoint/2010/main" val="21394648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E7A27-3D0D-280A-1BE6-5BF5E65C12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C6E6DC-1929-FF94-2AF8-303BA221A249}"/>
              </a:ext>
            </a:extLst>
          </p:cNvPr>
          <p:cNvSpPr txBox="1"/>
          <p:nvPr/>
        </p:nvSpPr>
        <p:spPr>
          <a:xfrm>
            <a:off x="1263869" y="386284"/>
            <a:ext cx="8573814" cy="646331"/>
          </a:xfrm>
          <a:prstGeom prst="rect">
            <a:avLst/>
          </a:prstGeom>
          <a:noFill/>
        </p:spPr>
        <p:txBody>
          <a:bodyPr wrap="square">
            <a:spAutoFit/>
          </a:bodyPr>
          <a:lstStyle/>
          <a:p>
            <a:r>
              <a:rPr lang="en-IN" b="0" i="0" dirty="0">
                <a:solidFill>
                  <a:srgbClr val="273239"/>
                </a:solidFill>
                <a:effectLst/>
                <a:latin typeface="Nunito" pitchFamily="2" charset="0"/>
              </a:rPr>
              <a:t>The same data above, can also be represented in the form of three dimensions as given below:</a:t>
            </a:r>
            <a:endParaRPr lang="en-IN" dirty="0"/>
          </a:p>
        </p:txBody>
      </p:sp>
      <p:pic>
        <p:nvPicPr>
          <p:cNvPr id="5" name="Picture 4">
            <a:extLst>
              <a:ext uri="{FF2B5EF4-FFF2-40B4-BE49-F238E27FC236}">
                <a16:creationId xmlns:a16="http://schemas.microsoft.com/office/drawing/2014/main" id="{2AEDD4CC-EACC-8FA6-4091-700B359F7F2B}"/>
              </a:ext>
            </a:extLst>
          </p:cNvPr>
          <p:cNvPicPr>
            <a:picLocks noChangeAspect="1"/>
          </p:cNvPicPr>
          <p:nvPr/>
        </p:nvPicPr>
        <p:blipFill>
          <a:blip r:embed="rId2"/>
          <a:stretch>
            <a:fillRect/>
          </a:stretch>
        </p:blipFill>
        <p:spPr>
          <a:xfrm>
            <a:off x="3483702" y="1469485"/>
            <a:ext cx="4467849" cy="4591691"/>
          </a:xfrm>
          <a:prstGeom prst="rect">
            <a:avLst/>
          </a:prstGeom>
        </p:spPr>
      </p:pic>
    </p:spTree>
    <p:extLst>
      <p:ext uri="{BB962C8B-B14F-4D97-AF65-F5344CB8AC3E}">
        <p14:creationId xmlns:p14="http://schemas.microsoft.com/office/powerpoint/2010/main" val="36749430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AE8C-F621-3463-CD47-5B73A41812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C52C00-E84F-8CD4-5985-B9CAB9C3BE91}"/>
              </a:ext>
            </a:extLst>
          </p:cNvPr>
          <p:cNvSpPr txBox="1"/>
          <p:nvPr/>
        </p:nvSpPr>
        <p:spPr>
          <a:xfrm>
            <a:off x="1051034" y="338474"/>
            <a:ext cx="8650014" cy="5816977"/>
          </a:xfrm>
          <a:prstGeom prst="rect">
            <a:avLst/>
          </a:prstGeom>
          <a:noFill/>
        </p:spPr>
        <p:txBody>
          <a:bodyPr wrap="square">
            <a:spAutoFit/>
          </a:bodyPr>
          <a:lstStyle/>
          <a:p>
            <a:pPr>
              <a:buNone/>
            </a:pPr>
            <a:r>
              <a:rPr lang="en-IN" sz="2400" b="1" u="sng" dirty="0">
                <a:solidFill>
                  <a:srgbClr val="002060"/>
                </a:solidFill>
              </a:rPr>
              <a:t>Benefits of Multidimensional Data Model</a:t>
            </a:r>
          </a:p>
          <a:p>
            <a:pPr>
              <a:buNone/>
            </a:pPr>
            <a:endParaRPr lang="en-IN" sz="2400" b="1" u="sng" dirty="0">
              <a:solidFill>
                <a:srgbClr val="002060"/>
              </a:solidFill>
            </a:endParaRPr>
          </a:p>
          <a:p>
            <a:pPr>
              <a:buNone/>
            </a:pPr>
            <a:r>
              <a:rPr lang="en-IN" b="1" dirty="0"/>
              <a:t>1. Easy to Understand</a:t>
            </a:r>
          </a:p>
          <a:p>
            <a:pPr algn="just">
              <a:buNone/>
            </a:pPr>
            <a:r>
              <a:rPr lang="en-IN" dirty="0"/>
              <a:t>The multidimensional data model is designed in a way that matches how business users think.</a:t>
            </a:r>
            <a:br>
              <a:rPr lang="en-IN" dirty="0"/>
            </a:br>
            <a:r>
              <a:rPr lang="en-IN" dirty="0"/>
              <a:t>Data is organized into </a:t>
            </a:r>
            <a:r>
              <a:rPr lang="en-IN" b="1" dirty="0"/>
              <a:t>facts</a:t>
            </a:r>
            <a:r>
              <a:rPr lang="en-IN" dirty="0"/>
              <a:t> and </a:t>
            </a:r>
            <a:r>
              <a:rPr lang="en-IN" b="1" dirty="0"/>
              <a:t>dimensions</a:t>
            </a:r>
            <a:r>
              <a:rPr lang="en-IN" dirty="0"/>
              <a:t>, making it intuitive even for non-technical users to understand and use for analysis.</a:t>
            </a:r>
          </a:p>
          <a:p>
            <a:pPr>
              <a:buNone/>
            </a:pPr>
            <a:br>
              <a:rPr lang="en-IN" dirty="0"/>
            </a:br>
            <a:endParaRPr lang="en-IN" dirty="0"/>
          </a:p>
          <a:p>
            <a:pPr>
              <a:buNone/>
            </a:pPr>
            <a:r>
              <a:rPr lang="en-IN" b="1" dirty="0"/>
              <a:t>2. Faster Query Performance</a:t>
            </a:r>
          </a:p>
          <a:p>
            <a:pPr algn="just">
              <a:buNone/>
            </a:pPr>
            <a:r>
              <a:rPr lang="en-IN" dirty="0"/>
              <a:t>Since data is stored in a simplified structure with fewer joins, analytical queries execute much faster.</a:t>
            </a:r>
            <a:br>
              <a:rPr lang="en-IN" dirty="0"/>
            </a:br>
            <a:r>
              <a:rPr lang="en-IN" dirty="0"/>
              <a:t>This is especially useful for large datasets where complex reporting is required.</a:t>
            </a:r>
          </a:p>
          <a:p>
            <a:pPr algn="just">
              <a:buNone/>
            </a:pPr>
            <a:br>
              <a:rPr lang="en-IN" dirty="0"/>
            </a:br>
            <a:endParaRPr lang="en-IN" dirty="0"/>
          </a:p>
          <a:p>
            <a:pPr>
              <a:buNone/>
            </a:pPr>
            <a:r>
              <a:rPr lang="en-IN" b="1" dirty="0"/>
              <a:t>3. Supports Business Analysis</a:t>
            </a:r>
          </a:p>
          <a:p>
            <a:pPr algn="just">
              <a:buNone/>
            </a:pPr>
            <a:r>
              <a:rPr lang="en-IN" dirty="0"/>
              <a:t>The model allows data to be </a:t>
            </a:r>
            <a:r>
              <a:rPr lang="en-IN" dirty="0" err="1"/>
              <a:t>analyzed</a:t>
            </a:r>
            <a:r>
              <a:rPr lang="en-IN" dirty="0"/>
              <a:t> from multiple perspectives such as time, product, location, or customer.</a:t>
            </a:r>
            <a:br>
              <a:rPr lang="en-IN" dirty="0"/>
            </a:br>
            <a:r>
              <a:rPr lang="en-IN" dirty="0"/>
              <a:t>This makes it easy to perform comparisons, identify trends, and generate meaningful insights.</a:t>
            </a:r>
          </a:p>
        </p:txBody>
      </p:sp>
    </p:spTree>
    <p:extLst>
      <p:ext uri="{BB962C8B-B14F-4D97-AF65-F5344CB8AC3E}">
        <p14:creationId xmlns:p14="http://schemas.microsoft.com/office/powerpoint/2010/main" val="31637766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08B6-C0AD-E4D2-C089-9CEF3D56657B}"/>
            </a:ext>
          </a:extLst>
        </p:cNvPr>
        <p:cNvGrpSpPr/>
        <p:nvPr/>
      </p:nvGrpSpPr>
      <p:grpSpPr>
        <a:xfrm>
          <a:off x="0" y="0"/>
          <a:ext cx="0" cy="0"/>
          <a:chOff x="0" y="0"/>
          <a:chExt cx="0" cy="0"/>
        </a:xfrm>
      </p:grpSpPr>
    </p:spTree>
    <p:extLst>
      <p:ext uri="{BB962C8B-B14F-4D97-AF65-F5344CB8AC3E}">
        <p14:creationId xmlns:p14="http://schemas.microsoft.com/office/powerpoint/2010/main" val="24553401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23F22-788B-2FE3-1E9B-2CDF10AC05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E5197A-A97F-136E-3086-B0B9359C16A2}"/>
              </a:ext>
            </a:extLst>
          </p:cNvPr>
          <p:cNvSpPr txBox="1"/>
          <p:nvPr/>
        </p:nvSpPr>
        <p:spPr>
          <a:xfrm>
            <a:off x="1030014" y="170988"/>
            <a:ext cx="8723586" cy="5909310"/>
          </a:xfrm>
          <a:prstGeom prst="rect">
            <a:avLst/>
          </a:prstGeom>
          <a:noFill/>
        </p:spPr>
        <p:txBody>
          <a:bodyPr wrap="square">
            <a:spAutoFit/>
          </a:bodyPr>
          <a:lstStyle/>
          <a:p>
            <a:pPr>
              <a:buNone/>
            </a:pPr>
            <a:r>
              <a:rPr lang="en-IN" sz="3600" b="1" u="sng" dirty="0">
                <a:solidFill>
                  <a:srgbClr val="FF0000"/>
                </a:solidFill>
              </a:rPr>
              <a:t>Schema in Dimensional Modelling</a:t>
            </a:r>
          </a:p>
          <a:p>
            <a:pPr>
              <a:buNone/>
            </a:pPr>
            <a:endParaRPr lang="en-IN" sz="3600" b="1" u="sng" dirty="0">
              <a:solidFill>
                <a:srgbClr val="FF0000"/>
              </a:solidFill>
            </a:endParaRPr>
          </a:p>
          <a:p>
            <a:pPr>
              <a:buNone/>
            </a:pPr>
            <a:r>
              <a:rPr lang="en-IN" dirty="0"/>
              <a:t>In simple terms, a </a:t>
            </a:r>
            <a:r>
              <a:rPr lang="en-IN" b="1" dirty="0"/>
              <a:t>schema</a:t>
            </a:r>
            <a:r>
              <a:rPr lang="en-IN" dirty="0"/>
              <a:t> is the </a:t>
            </a:r>
            <a:r>
              <a:rPr lang="en-IN" b="1" dirty="0"/>
              <a:t>logical structure or blueprint</a:t>
            </a:r>
            <a:r>
              <a:rPr lang="en-IN" dirty="0"/>
              <a:t> of how data is organized in a data warehouse.</a:t>
            </a:r>
            <a:br>
              <a:rPr lang="en-IN" dirty="0"/>
            </a:br>
            <a:endParaRPr lang="en-IN" dirty="0"/>
          </a:p>
          <a:p>
            <a:pPr>
              <a:buNone/>
            </a:pPr>
            <a:r>
              <a:rPr lang="en-IN" dirty="0"/>
              <a:t>It defines </a:t>
            </a:r>
            <a:r>
              <a:rPr lang="en-IN" b="1" dirty="0"/>
              <a:t>how fact tables and dimension tables are connected</a:t>
            </a:r>
            <a:r>
              <a:rPr lang="en-IN" dirty="0"/>
              <a:t> and how data will be stored and queried.</a:t>
            </a:r>
          </a:p>
          <a:p>
            <a:pPr>
              <a:buNone/>
            </a:pPr>
            <a:endParaRPr lang="en-IN" dirty="0"/>
          </a:p>
          <a:p>
            <a:pPr>
              <a:buNone/>
            </a:pPr>
            <a:r>
              <a:rPr lang="en-IN" dirty="0"/>
              <a:t>A schema represents:</a:t>
            </a:r>
          </a:p>
          <a:p>
            <a:pPr>
              <a:buFont typeface="Arial" panose="020B0604020202020204" pitchFamily="34" charset="0"/>
              <a:buChar char="•"/>
            </a:pPr>
            <a:r>
              <a:rPr lang="en-IN" b="1" dirty="0"/>
              <a:t>What data is stored</a:t>
            </a:r>
            <a:r>
              <a:rPr lang="en-IN" dirty="0"/>
              <a:t> (facts and dimensions)</a:t>
            </a:r>
          </a:p>
          <a:p>
            <a:pPr>
              <a:buFont typeface="Arial" panose="020B0604020202020204" pitchFamily="34" charset="0"/>
              <a:buChar char="•"/>
            </a:pPr>
            <a:r>
              <a:rPr lang="en-IN" b="1" dirty="0"/>
              <a:t>How tables are related</a:t>
            </a:r>
            <a:endParaRPr lang="en-IN" dirty="0"/>
          </a:p>
          <a:p>
            <a:pPr>
              <a:buFont typeface="Arial" panose="020B0604020202020204" pitchFamily="34" charset="0"/>
              <a:buChar char="•"/>
            </a:pPr>
            <a:r>
              <a:rPr lang="en-IN" b="1" dirty="0"/>
              <a:t>How analysis will be performed</a:t>
            </a:r>
            <a:endParaRPr lang="en-IN" dirty="0"/>
          </a:p>
          <a:p>
            <a:pPr>
              <a:buNone/>
            </a:pPr>
            <a:endParaRPr lang="en-IN" dirty="0"/>
          </a:p>
          <a:p>
            <a:pPr>
              <a:buNone/>
            </a:pPr>
            <a:r>
              <a:rPr lang="en-IN" dirty="0"/>
              <a:t>In dimensional modelling, schemas are designed mainly to </a:t>
            </a:r>
            <a:r>
              <a:rPr lang="en-IN" b="1" dirty="0"/>
              <a:t>support fast querying and easy analysis</a:t>
            </a:r>
            <a:r>
              <a:rPr lang="en-IN" dirty="0"/>
              <a:t>, not transactional updates like OLTP systems.</a:t>
            </a:r>
          </a:p>
          <a:p>
            <a:pPr>
              <a:buNone/>
            </a:pPr>
            <a:endParaRPr lang="en-IN" dirty="0"/>
          </a:p>
          <a:p>
            <a:pPr>
              <a:buNone/>
            </a:pPr>
            <a:r>
              <a:rPr lang="en-IN" dirty="0"/>
              <a:t>👉 </a:t>
            </a:r>
            <a:r>
              <a:rPr lang="en-IN" b="1" dirty="0"/>
              <a:t>Real-life analogy:</a:t>
            </a:r>
            <a:br>
              <a:rPr lang="en-IN" dirty="0"/>
            </a:br>
            <a:r>
              <a:rPr lang="en-IN" dirty="0"/>
              <a:t>Just like a </a:t>
            </a:r>
            <a:r>
              <a:rPr lang="en-IN" b="1" dirty="0"/>
              <a:t>map</a:t>
            </a:r>
            <a:r>
              <a:rPr lang="en-IN" dirty="0"/>
              <a:t> shows how roads and places are connected, a </a:t>
            </a:r>
            <a:r>
              <a:rPr lang="en-IN" b="1" dirty="0"/>
              <a:t>schema shows how data tables are connected</a:t>
            </a:r>
            <a:r>
              <a:rPr lang="en-IN" dirty="0"/>
              <a:t> for analysis.</a:t>
            </a:r>
          </a:p>
        </p:txBody>
      </p:sp>
    </p:spTree>
    <p:extLst>
      <p:ext uri="{BB962C8B-B14F-4D97-AF65-F5344CB8AC3E}">
        <p14:creationId xmlns:p14="http://schemas.microsoft.com/office/powerpoint/2010/main" val="8900518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4BD50-93FF-F5C1-EFC2-CC1FFF7C23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416B43-E4BD-8803-386D-F4BE7DF311BC}"/>
              </a:ext>
            </a:extLst>
          </p:cNvPr>
          <p:cNvSpPr txBox="1"/>
          <p:nvPr/>
        </p:nvSpPr>
        <p:spPr>
          <a:xfrm>
            <a:off x="1116725" y="227269"/>
            <a:ext cx="8552792" cy="5386090"/>
          </a:xfrm>
          <a:prstGeom prst="rect">
            <a:avLst/>
          </a:prstGeom>
          <a:noFill/>
        </p:spPr>
        <p:txBody>
          <a:bodyPr wrap="square">
            <a:spAutoFit/>
          </a:bodyPr>
          <a:lstStyle/>
          <a:p>
            <a:pPr marL="514350" indent="-514350">
              <a:buAutoNum type="arabicPeriod"/>
            </a:pPr>
            <a:r>
              <a:rPr lang="en-IN" sz="2800" b="1" u="sng" dirty="0">
                <a:solidFill>
                  <a:srgbClr val="FF0000"/>
                </a:solidFill>
              </a:rPr>
              <a:t>STAR Schema</a:t>
            </a:r>
          </a:p>
          <a:p>
            <a:pPr marL="514350" indent="-514350">
              <a:buAutoNum type="arabicPeriod"/>
            </a:pPr>
            <a:endParaRPr lang="en-IN" sz="2800" b="1" u="sng" dirty="0">
              <a:solidFill>
                <a:srgbClr val="FF0000"/>
              </a:solidFill>
            </a:endParaRPr>
          </a:p>
          <a:p>
            <a:pPr>
              <a:buNone/>
            </a:pPr>
            <a:r>
              <a:rPr lang="en-IN" b="1" dirty="0"/>
              <a:t>Structure of Star Schema</a:t>
            </a:r>
          </a:p>
          <a:p>
            <a:pPr>
              <a:buNone/>
            </a:pPr>
            <a:endParaRPr lang="en-IN" dirty="0"/>
          </a:p>
          <a:p>
            <a:pPr>
              <a:buNone/>
            </a:pPr>
            <a:r>
              <a:rPr lang="en-IN" dirty="0"/>
              <a:t>The </a:t>
            </a:r>
            <a:r>
              <a:rPr lang="en-IN" b="1" dirty="0"/>
              <a:t>Star Schema</a:t>
            </a:r>
            <a:r>
              <a:rPr lang="en-IN" dirty="0"/>
              <a:t> is the </a:t>
            </a:r>
            <a:r>
              <a:rPr lang="en-IN" b="1" dirty="0"/>
              <a:t>simplest and most commonly used schema</a:t>
            </a:r>
            <a:r>
              <a:rPr lang="en-IN" dirty="0"/>
              <a:t> in dimensional modelling.</a:t>
            </a:r>
            <a:br>
              <a:rPr lang="en-IN" dirty="0"/>
            </a:br>
            <a:endParaRPr lang="en-IN" dirty="0"/>
          </a:p>
          <a:p>
            <a:pPr>
              <a:buNone/>
            </a:pPr>
            <a:r>
              <a:rPr lang="en-IN" dirty="0"/>
              <a:t>It consists of:</a:t>
            </a:r>
          </a:p>
          <a:p>
            <a:pPr>
              <a:buFont typeface="Arial" panose="020B0604020202020204" pitchFamily="34" charset="0"/>
              <a:buChar char="•"/>
            </a:pPr>
            <a:r>
              <a:rPr lang="en-IN" b="1" dirty="0"/>
              <a:t>One central fact table</a:t>
            </a:r>
            <a:endParaRPr lang="en-IN" dirty="0"/>
          </a:p>
          <a:p>
            <a:pPr>
              <a:buFont typeface="Arial" panose="020B0604020202020204" pitchFamily="34" charset="0"/>
              <a:buChar char="•"/>
            </a:pPr>
            <a:r>
              <a:rPr lang="en-IN" b="1" dirty="0"/>
              <a:t>Multiple dimension tables</a:t>
            </a:r>
            <a:r>
              <a:rPr lang="en-IN" dirty="0"/>
              <a:t> directly connected to the fact table</a:t>
            </a:r>
          </a:p>
          <a:p>
            <a:pPr>
              <a:buNone/>
            </a:pPr>
            <a:endParaRPr lang="en-IN" dirty="0"/>
          </a:p>
          <a:p>
            <a:pPr>
              <a:buNone/>
            </a:pPr>
            <a:r>
              <a:rPr lang="en-IN" dirty="0"/>
              <a:t>The structure looks like a </a:t>
            </a:r>
            <a:r>
              <a:rPr lang="en-IN" b="1" dirty="0"/>
              <a:t>star</a:t>
            </a:r>
            <a:r>
              <a:rPr lang="en-IN" dirty="0"/>
              <a:t>, where:</a:t>
            </a:r>
          </a:p>
          <a:p>
            <a:pPr>
              <a:buFont typeface="Arial" panose="020B0604020202020204" pitchFamily="34" charset="0"/>
              <a:buChar char="•"/>
            </a:pPr>
            <a:r>
              <a:rPr lang="en-IN" dirty="0"/>
              <a:t>The </a:t>
            </a:r>
            <a:r>
              <a:rPr lang="en-IN" b="1" dirty="0"/>
              <a:t>fact table</a:t>
            </a:r>
            <a:r>
              <a:rPr lang="en-IN" dirty="0"/>
              <a:t> is at the </a:t>
            </a:r>
            <a:r>
              <a:rPr lang="en-IN" dirty="0" err="1"/>
              <a:t>center</a:t>
            </a:r>
            <a:endParaRPr lang="en-IN" dirty="0"/>
          </a:p>
          <a:p>
            <a:pPr>
              <a:buFont typeface="Arial" panose="020B0604020202020204" pitchFamily="34" charset="0"/>
              <a:buChar char="•"/>
            </a:pPr>
            <a:r>
              <a:rPr lang="en-IN" dirty="0"/>
              <a:t>The </a:t>
            </a:r>
            <a:r>
              <a:rPr lang="en-IN" b="1" dirty="0"/>
              <a:t>dimension tables</a:t>
            </a:r>
            <a:r>
              <a:rPr lang="en-IN" dirty="0"/>
              <a:t> surround it</a:t>
            </a:r>
          </a:p>
          <a:p>
            <a:pPr>
              <a:buNone/>
            </a:pPr>
            <a:endParaRPr lang="en-IN" dirty="0"/>
          </a:p>
          <a:p>
            <a:pPr>
              <a:buNone/>
            </a:pPr>
            <a:r>
              <a:rPr lang="en-IN" dirty="0"/>
              <a:t>The fact table contains </a:t>
            </a:r>
            <a:r>
              <a:rPr lang="en-IN" b="1" dirty="0"/>
              <a:t>numerical measures</a:t>
            </a:r>
            <a:r>
              <a:rPr lang="en-IN" dirty="0"/>
              <a:t> (e.g., sales amount, quantity), while dimension tables contain </a:t>
            </a:r>
            <a:r>
              <a:rPr lang="en-IN" b="1" dirty="0"/>
              <a:t>descriptive information</a:t>
            </a:r>
            <a:r>
              <a:rPr lang="en-IN" dirty="0"/>
              <a:t> (e.g., time, product, customer).</a:t>
            </a:r>
          </a:p>
        </p:txBody>
      </p:sp>
    </p:spTree>
    <p:extLst>
      <p:ext uri="{BB962C8B-B14F-4D97-AF65-F5344CB8AC3E}">
        <p14:creationId xmlns:p14="http://schemas.microsoft.com/office/powerpoint/2010/main" val="922821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C719C-8ACD-2BA2-AAE7-BF8C3B2E1F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0E4B01-677F-C651-0CA2-8565A45D5714}"/>
              </a:ext>
            </a:extLst>
          </p:cNvPr>
          <p:cNvPicPr>
            <a:picLocks noChangeAspect="1"/>
          </p:cNvPicPr>
          <p:nvPr/>
        </p:nvPicPr>
        <p:blipFill>
          <a:blip r:embed="rId2"/>
          <a:stretch>
            <a:fillRect/>
          </a:stretch>
        </p:blipFill>
        <p:spPr>
          <a:xfrm>
            <a:off x="1123099" y="462930"/>
            <a:ext cx="7885681" cy="3961925"/>
          </a:xfrm>
          <a:prstGeom prst="rect">
            <a:avLst/>
          </a:prstGeom>
        </p:spPr>
      </p:pic>
    </p:spTree>
    <p:extLst>
      <p:ext uri="{BB962C8B-B14F-4D97-AF65-F5344CB8AC3E}">
        <p14:creationId xmlns:p14="http://schemas.microsoft.com/office/powerpoint/2010/main" val="25986976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4F3B0-59A1-E63E-6610-BF232837AE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C8E14B-6CD8-9E7C-1949-4F36827E6C97}"/>
              </a:ext>
            </a:extLst>
          </p:cNvPr>
          <p:cNvSpPr txBox="1"/>
          <p:nvPr/>
        </p:nvSpPr>
        <p:spPr>
          <a:xfrm>
            <a:off x="1368972" y="289679"/>
            <a:ext cx="8458199" cy="5601533"/>
          </a:xfrm>
          <a:prstGeom prst="rect">
            <a:avLst/>
          </a:prstGeom>
          <a:noFill/>
        </p:spPr>
        <p:txBody>
          <a:bodyPr wrap="square">
            <a:spAutoFit/>
          </a:bodyPr>
          <a:lstStyle/>
          <a:p>
            <a:pPr>
              <a:buNone/>
            </a:pPr>
            <a:r>
              <a:rPr lang="en-IN" sz="2800" b="1" u="sng" dirty="0"/>
              <a:t>Characteristics of Star Schema</a:t>
            </a:r>
          </a:p>
          <a:p>
            <a:pPr>
              <a:buNone/>
            </a:pPr>
            <a:endParaRPr lang="en-IN" b="1" dirty="0"/>
          </a:p>
          <a:p>
            <a:pPr>
              <a:buNone/>
            </a:pPr>
            <a:r>
              <a:rPr lang="en-IN" sz="2400" dirty="0"/>
              <a:t>The Star Schema has a </a:t>
            </a:r>
            <a:r>
              <a:rPr lang="en-IN" sz="2400" b="1" dirty="0"/>
              <a:t>simple and intuitive design</a:t>
            </a:r>
            <a:r>
              <a:rPr lang="en-IN" sz="2400" dirty="0"/>
              <a:t>.</a:t>
            </a:r>
            <a:br>
              <a:rPr lang="en-IN" sz="2400" dirty="0"/>
            </a:br>
            <a:endParaRPr lang="en-IN" sz="2400" dirty="0"/>
          </a:p>
          <a:p>
            <a:pPr>
              <a:buNone/>
            </a:pPr>
            <a:r>
              <a:rPr lang="en-IN" sz="2400" dirty="0"/>
              <a:t>Each dimension table:</a:t>
            </a:r>
          </a:p>
          <a:p>
            <a:pPr>
              <a:buFont typeface="Arial" panose="020B0604020202020204" pitchFamily="34" charset="0"/>
              <a:buChar char="•"/>
            </a:pPr>
            <a:r>
              <a:rPr lang="en-IN" sz="2400" dirty="0"/>
              <a:t>Is </a:t>
            </a:r>
            <a:r>
              <a:rPr lang="en-IN" sz="2400" b="1" dirty="0"/>
              <a:t>denormalized</a:t>
            </a:r>
            <a:endParaRPr lang="en-IN" sz="2400" dirty="0"/>
          </a:p>
          <a:p>
            <a:pPr>
              <a:buFont typeface="Arial" panose="020B0604020202020204" pitchFamily="34" charset="0"/>
              <a:buChar char="•"/>
            </a:pPr>
            <a:r>
              <a:rPr lang="en-IN" sz="2400" dirty="0"/>
              <a:t>Contains all related attributes in a single table</a:t>
            </a:r>
          </a:p>
          <a:p>
            <a:pPr>
              <a:buFont typeface="Arial" panose="020B0604020202020204" pitchFamily="34" charset="0"/>
              <a:buChar char="•"/>
            </a:pPr>
            <a:r>
              <a:rPr lang="en-IN" sz="2400" dirty="0"/>
              <a:t>Has a </a:t>
            </a:r>
            <a:r>
              <a:rPr lang="en-IN" sz="2400" b="1" dirty="0"/>
              <a:t>primary key</a:t>
            </a:r>
            <a:r>
              <a:rPr lang="en-IN" sz="2400" dirty="0"/>
              <a:t> that connects to the fact table</a:t>
            </a:r>
          </a:p>
          <a:p>
            <a:pPr>
              <a:buNone/>
            </a:pPr>
            <a:endParaRPr lang="en-IN" sz="2400" dirty="0"/>
          </a:p>
          <a:p>
            <a:pPr>
              <a:buNone/>
            </a:pPr>
            <a:r>
              <a:rPr lang="en-IN" sz="2400" dirty="0"/>
              <a:t>Because dimensions are not split into multiple tables, the schema is:</a:t>
            </a:r>
          </a:p>
          <a:p>
            <a:pPr>
              <a:buFont typeface="Arial" panose="020B0604020202020204" pitchFamily="34" charset="0"/>
              <a:buChar char="•"/>
            </a:pPr>
            <a:endParaRPr lang="en-IN" sz="2400" dirty="0"/>
          </a:p>
          <a:p>
            <a:pPr>
              <a:buFont typeface="Arial" panose="020B0604020202020204" pitchFamily="34" charset="0"/>
              <a:buChar char="•"/>
            </a:pPr>
            <a:r>
              <a:rPr lang="en-IN" sz="2400" dirty="0"/>
              <a:t>Easy to understand</a:t>
            </a:r>
          </a:p>
          <a:p>
            <a:pPr>
              <a:buFont typeface="Arial" panose="020B0604020202020204" pitchFamily="34" charset="0"/>
              <a:buChar char="•"/>
            </a:pPr>
            <a:r>
              <a:rPr lang="en-IN" sz="2400" dirty="0"/>
              <a:t>Easy to query</a:t>
            </a:r>
          </a:p>
          <a:p>
            <a:pPr>
              <a:buFont typeface="Arial" panose="020B0604020202020204" pitchFamily="34" charset="0"/>
              <a:buChar char="•"/>
            </a:pPr>
            <a:r>
              <a:rPr lang="en-IN" sz="2400" dirty="0"/>
              <a:t>Business-friendly</a:t>
            </a:r>
          </a:p>
        </p:txBody>
      </p:sp>
    </p:spTree>
    <p:extLst>
      <p:ext uri="{BB962C8B-B14F-4D97-AF65-F5344CB8AC3E}">
        <p14:creationId xmlns:p14="http://schemas.microsoft.com/office/powerpoint/2010/main" val="34725277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C84B9-15D7-38C0-ABAC-CA903C347D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614E1A-5146-41B3-948D-1C9A191F7C3C}"/>
              </a:ext>
            </a:extLst>
          </p:cNvPr>
          <p:cNvSpPr txBox="1"/>
          <p:nvPr/>
        </p:nvSpPr>
        <p:spPr>
          <a:xfrm>
            <a:off x="1257850" y="164266"/>
            <a:ext cx="8353096" cy="1738938"/>
          </a:xfrm>
          <a:prstGeom prst="rect">
            <a:avLst/>
          </a:prstGeom>
          <a:noFill/>
        </p:spPr>
        <p:txBody>
          <a:bodyPr wrap="square">
            <a:spAutoFit/>
          </a:bodyPr>
          <a:lstStyle/>
          <a:p>
            <a:pPr algn="l" fontAlgn="base">
              <a:lnSpc>
                <a:spcPts val="2100"/>
              </a:lnSpc>
              <a:buNone/>
            </a:pPr>
            <a:r>
              <a:rPr lang="en-IN" b="1" i="0" dirty="0">
                <a:effectLst/>
                <a:latin typeface="Nunito" pitchFamily="2" charset="0"/>
              </a:rPr>
              <a:t>Star Schema Example (Sales Data Warehouse)</a:t>
            </a:r>
          </a:p>
          <a:p>
            <a:pPr algn="l" fontAlgn="base">
              <a:lnSpc>
                <a:spcPts val="2100"/>
              </a:lnSpc>
              <a:buNone/>
            </a:pPr>
            <a:endParaRPr lang="en-IN" b="1" i="0" dirty="0">
              <a:effectLst/>
              <a:latin typeface="Nunito" pitchFamily="2" charset="0"/>
            </a:endParaRPr>
          </a:p>
          <a:p>
            <a:pPr algn="l" rtl="0" fontAlgn="base">
              <a:spcAft>
                <a:spcPts val="750"/>
              </a:spcAft>
              <a:buNone/>
            </a:pPr>
            <a:r>
              <a:rPr lang="en-IN" b="0" i="0" dirty="0">
                <a:effectLst/>
                <a:latin typeface="Nunito" pitchFamily="2" charset="0"/>
              </a:rPr>
              <a:t>To demonstrate how a star schema works, consider a Sales Data Warehouse where each sales transaction is stored in a central fact table and is </a:t>
            </a:r>
            <a:r>
              <a:rPr lang="en-IN" b="0" i="0" dirty="0" err="1">
                <a:effectLst/>
                <a:latin typeface="Nunito" pitchFamily="2" charset="0"/>
              </a:rPr>
              <a:t>analyzed</a:t>
            </a:r>
            <a:r>
              <a:rPr lang="en-IN" b="0" i="0" dirty="0">
                <a:effectLst/>
                <a:latin typeface="Nunito" pitchFamily="2" charset="0"/>
              </a:rPr>
              <a:t> through surrounding dimension tables. This model supports fast, flexible analysis across products, customers, time, and employees.</a:t>
            </a:r>
          </a:p>
        </p:txBody>
      </p:sp>
      <p:pic>
        <p:nvPicPr>
          <p:cNvPr id="5" name="Picture 4">
            <a:extLst>
              <a:ext uri="{FF2B5EF4-FFF2-40B4-BE49-F238E27FC236}">
                <a16:creationId xmlns:a16="http://schemas.microsoft.com/office/drawing/2014/main" id="{212F83DD-C5D7-2EBB-4C55-15A0A7ADAF75}"/>
              </a:ext>
            </a:extLst>
          </p:cNvPr>
          <p:cNvPicPr>
            <a:picLocks noChangeAspect="1"/>
          </p:cNvPicPr>
          <p:nvPr/>
        </p:nvPicPr>
        <p:blipFill>
          <a:blip r:embed="rId2"/>
          <a:stretch>
            <a:fillRect/>
          </a:stretch>
        </p:blipFill>
        <p:spPr>
          <a:xfrm>
            <a:off x="1257850" y="2039839"/>
            <a:ext cx="8583223" cy="4544059"/>
          </a:xfrm>
          <a:prstGeom prst="rect">
            <a:avLst/>
          </a:prstGeom>
        </p:spPr>
      </p:pic>
    </p:spTree>
    <p:extLst>
      <p:ext uri="{BB962C8B-B14F-4D97-AF65-F5344CB8AC3E}">
        <p14:creationId xmlns:p14="http://schemas.microsoft.com/office/powerpoint/2010/main" val="28360859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85B26-7E67-68DD-83B3-5A1A2235AA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AD90D3-08FE-C634-6A9E-4977F966BF5A}"/>
              </a:ext>
            </a:extLst>
          </p:cNvPr>
          <p:cNvSpPr txBox="1"/>
          <p:nvPr/>
        </p:nvSpPr>
        <p:spPr>
          <a:xfrm>
            <a:off x="1064173" y="643360"/>
            <a:ext cx="8636876" cy="4847481"/>
          </a:xfrm>
          <a:prstGeom prst="rect">
            <a:avLst/>
          </a:prstGeom>
          <a:noFill/>
        </p:spPr>
        <p:txBody>
          <a:bodyPr wrap="square">
            <a:spAutoFit/>
          </a:bodyPr>
          <a:lstStyle/>
          <a:p>
            <a:pPr algn="just" fontAlgn="base">
              <a:spcAft>
                <a:spcPts val="1800"/>
              </a:spcAft>
              <a:buFont typeface="Arial" panose="020B0604020202020204" pitchFamily="34" charset="0"/>
              <a:buChar char="•"/>
            </a:pPr>
            <a:r>
              <a:rPr lang="en-IN" sz="2400" b="0" i="0" dirty="0">
                <a:effectLst/>
                <a:latin typeface="Nunito" pitchFamily="2" charset="0"/>
              </a:rPr>
              <a:t>SALES fact table stores numerical measures such as total amount, quantity, and discount, along with foreign keys to each dimension.</a:t>
            </a:r>
          </a:p>
          <a:p>
            <a:pPr algn="just" fontAlgn="base">
              <a:spcAft>
                <a:spcPts val="1800"/>
              </a:spcAft>
              <a:buFont typeface="Arial" panose="020B0604020202020204" pitchFamily="34" charset="0"/>
              <a:buChar char="•"/>
            </a:pPr>
            <a:r>
              <a:rPr lang="en-IN" sz="2400" b="0" i="0" dirty="0">
                <a:effectLst/>
                <a:latin typeface="Nunito" pitchFamily="2" charset="0"/>
              </a:rPr>
              <a:t>Surrounding dimension tables provide descriptive attributes that allow the facts to be examined from different perspectives.</a:t>
            </a:r>
          </a:p>
          <a:p>
            <a:pPr algn="just" fontAlgn="base">
              <a:spcAft>
                <a:spcPts val="1800"/>
              </a:spcAft>
              <a:buFont typeface="Arial" panose="020B0604020202020204" pitchFamily="34" charset="0"/>
              <a:buChar char="•"/>
            </a:pPr>
            <a:r>
              <a:rPr lang="en-IN" sz="2400" b="0" i="0" dirty="0">
                <a:effectLst/>
                <a:latin typeface="Nunito" pitchFamily="2" charset="0"/>
              </a:rPr>
              <a:t>Product Dimension describes what was sold and the Customer Dimension identifies who purchased it.</a:t>
            </a:r>
          </a:p>
          <a:p>
            <a:pPr algn="just" fontAlgn="base">
              <a:spcAft>
                <a:spcPts val="1800"/>
              </a:spcAft>
              <a:buFont typeface="Arial" panose="020B0604020202020204" pitchFamily="34" charset="0"/>
              <a:buChar char="•"/>
            </a:pPr>
            <a:r>
              <a:rPr lang="en-IN" sz="2400" b="0" i="0" dirty="0">
                <a:effectLst/>
                <a:latin typeface="Nunito" pitchFamily="2" charset="0"/>
              </a:rPr>
              <a:t>Time Dimension indicates when the transaction occurred, and the Employee Dimension specifies who processed the sale.</a:t>
            </a:r>
          </a:p>
        </p:txBody>
      </p:sp>
    </p:spTree>
    <p:extLst>
      <p:ext uri="{BB962C8B-B14F-4D97-AF65-F5344CB8AC3E}">
        <p14:creationId xmlns:p14="http://schemas.microsoft.com/office/powerpoint/2010/main" val="25623620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0D969-B77C-A343-F803-3848A7BFE6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1B5DF2-A5C9-B1B1-57F0-855EDC6CEE4B}"/>
              </a:ext>
            </a:extLst>
          </p:cNvPr>
          <p:cNvSpPr txBox="1"/>
          <p:nvPr/>
        </p:nvSpPr>
        <p:spPr>
          <a:xfrm>
            <a:off x="1106215" y="330508"/>
            <a:ext cx="9404130" cy="5447645"/>
          </a:xfrm>
          <a:prstGeom prst="rect">
            <a:avLst/>
          </a:prstGeom>
          <a:noFill/>
        </p:spPr>
        <p:txBody>
          <a:bodyPr wrap="square">
            <a:spAutoFit/>
          </a:bodyPr>
          <a:lstStyle/>
          <a:p>
            <a:pPr>
              <a:buNone/>
            </a:pPr>
            <a:r>
              <a:rPr lang="en-IN" sz="2800" b="1" u="sng" dirty="0"/>
              <a:t>Advantages of Star Schema</a:t>
            </a:r>
          </a:p>
          <a:p>
            <a:pPr>
              <a:buNone/>
            </a:pPr>
            <a:endParaRPr lang="en-IN" dirty="0"/>
          </a:p>
          <a:p>
            <a:pPr>
              <a:buNone/>
            </a:pPr>
            <a:r>
              <a:rPr lang="en-IN" sz="2000" dirty="0"/>
              <a:t>The Star Schema is widely preferred because:</a:t>
            </a:r>
          </a:p>
          <a:p>
            <a:pPr>
              <a:buFont typeface="Arial" panose="020B0604020202020204" pitchFamily="34" charset="0"/>
              <a:buChar char="•"/>
            </a:pPr>
            <a:endParaRPr lang="en-IN" sz="2000" dirty="0"/>
          </a:p>
          <a:p>
            <a:pPr>
              <a:buFont typeface="Arial" panose="020B0604020202020204" pitchFamily="34" charset="0"/>
              <a:buChar char="•"/>
            </a:pPr>
            <a:r>
              <a:rPr lang="en-IN" sz="2000" dirty="0"/>
              <a:t>It provides </a:t>
            </a:r>
            <a:r>
              <a:rPr lang="en-IN" sz="2000" b="1" dirty="0"/>
              <a:t>high query performance</a:t>
            </a:r>
            <a:r>
              <a:rPr lang="en-IN" sz="2000" dirty="0"/>
              <a:t> due to fewer joins</a:t>
            </a:r>
          </a:p>
          <a:p>
            <a:pPr>
              <a:buFont typeface="Arial" panose="020B0604020202020204" pitchFamily="34" charset="0"/>
              <a:buChar char="•"/>
            </a:pPr>
            <a:r>
              <a:rPr lang="en-IN" sz="2000" dirty="0"/>
              <a:t>It is </a:t>
            </a:r>
            <a:r>
              <a:rPr lang="en-IN" sz="2000" b="1" dirty="0"/>
              <a:t>easy for users and analysts to understand</a:t>
            </a:r>
            <a:endParaRPr lang="en-IN" sz="2000" dirty="0"/>
          </a:p>
          <a:p>
            <a:pPr>
              <a:buFont typeface="Arial" panose="020B0604020202020204" pitchFamily="34" charset="0"/>
              <a:buChar char="•"/>
            </a:pPr>
            <a:r>
              <a:rPr lang="en-IN" sz="2000" dirty="0"/>
              <a:t>OLAP operations like </a:t>
            </a:r>
            <a:r>
              <a:rPr lang="en-IN" sz="2000" b="1" dirty="0"/>
              <a:t>slice, dice, drill-down, and roll-up</a:t>
            </a:r>
            <a:r>
              <a:rPr lang="en-IN" sz="2000" dirty="0"/>
              <a:t> are simpler</a:t>
            </a:r>
          </a:p>
          <a:p>
            <a:pPr>
              <a:buFont typeface="Arial" panose="020B0604020202020204" pitchFamily="34" charset="0"/>
              <a:buChar char="•"/>
            </a:pPr>
            <a:r>
              <a:rPr lang="en-IN" sz="2000" dirty="0"/>
              <a:t>It is well-suited for </a:t>
            </a:r>
            <a:r>
              <a:rPr lang="en-IN" sz="2000" b="1" dirty="0"/>
              <a:t>reporting and dashboards</a:t>
            </a:r>
            <a:endParaRPr lang="en-IN" sz="2000" dirty="0"/>
          </a:p>
          <a:p>
            <a:pPr>
              <a:buNone/>
            </a:pPr>
            <a:br>
              <a:rPr lang="en-IN" dirty="0"/>
            </a:br>
            <a:endParaRPr lang="en-IN" dirty="0"/>
          </a:p>
          <a:p>
            <a:pPr>
              <a:buNone/>
            </a:pPr>
            <a:r>
              <a:rPr lang="en-IN" sz="2800" b="1" u="sng" dirty="0"/>
              <a:t>Disadvantages of Star Schema</a:t>
            </a:r>
          </a:p>
          <a:p>
            <a:pPr>
              <a:buNone/>
            </a:pPr>
            <a:endParaRPr lang="en-IN" dirty="0"/>
          </a:p>
          <a:p>
            <a:pPr>
              <a:buNone/>
            </a:pPr>
            <a:r>
              <a:rPr lang="en-IN" sz="2000" dirty="0"/>
              <a:t>Despite its simplicity, the Star Schema has some limitations:</a:t>
            </a:r>
          </a:p>
          <a:p>
            <a:pPr>
              <a:buFont typeface="Arial" panose="020B0604020202020204" pitchFamily="34" charset="0"/>
              <a:buChar char="•"/>
            </a:pPr>
            <a:endParaRPr lang="en-IN" sz="2000" dirty="0"/>
          </a:p>
          <a:p>
            <a:pPr>
              <a:buFont typeface="Arial" panose="020B0604020202020204" pitchFamily="34" charset="0"/>
              <a:buChar char="•"/>
            </a:pPr>
            <a:r>
              <a:rPr lang="en-IN" sz="2000" dirty="0"/>
              <a:t>Denormalized dimensions may cause </a:t>
            </a:r>
            <a:r>
              <a:rPr lang="en-IN" sz="2000" b="1" dirty="0"/>
              <a:t>data redundancy</a:t>
            </a:r>
            <a:endParaRPr lang="en-IN" sz="2000" dirty="0"/>
          </a:p>
          <a:p>
            <a:pPr>
              <a:buFont typeface="Arial" panose="020B0604020202020204" pitchFamily="34" charset="0"/>
              <a:buChar char="•"/>
            </a:pPr>
            <a:r>
              <a:rPr lang="en-IN" sz="2000" dirty="0"/>
              <a:t>Requires </a:t>
            </a:r>
            <a:r>
              <a:rPr lang="en-IN" sz="2000" b="1" dirty="0"/>
              <a:t>more storage space</a:t>
            </a:r>
            <a:endParaRPr lang="en-IN" sz="2000" dirty="0"/>
          </a:p>
          <a:p>
            <a:pPr>
              <a:buFont typeface="Arial" panose="020B0604020202020204" pitchFamily="34" charset="0"/>
              <a:buChar char="•"/>
            </a:pPr>
            <a:r>
              <a:rPr lang="en-IN" sz="2000" dirty="0"/>
              <a:t>Not ideal when dimensions are very large or complex</a:t>
            </a:r>
          </a:p>
        </p:txBody>
      </p:sp>
    </p:spTree>
    <p:extLst>
      <p:ext uri="{BB962C8B-B14F-4D97-AF65-F5344CB8AC3E}">
        <p14:creationId xmlns:p14="http://schemas.microsoft.com/office/powerpoint/2010/main" val="36487722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256B5-9EA5-687C-E82E-44DB3A6C6DE1}"/>
            </a:ext>
          </a:extLst>
        </p:cNvPr>
        <p:cNvGrpSpPr/>
        <p:nvPr/>
      </p:nvGrpSpPr>
      <p:grpSpPr>
        <a:xfrm>
          <a:off x="0" y="0"/>
          <a:ext cx="0" cy="0"/>
          <a:chOff x="0" y="0"/>
          <a:chExt cx="0" cy="0"/>
        </a:xfrm>
      </p:grpSpPr>
    </p:spTree>
    <p:extLst>
      <p:ext uri="{BB962C8B-B14F-4D97-AF65-F5344CB8AC3E}">
        <p14:creationId xmlns:p14="http://schemas.microsoft.com/office/powerpoint/2010/main" val="571027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154E-5DD7-7F87-0353-85AAE92D7D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83B2F8-2F04-00F2-9791-3FC705E88393}"/>
              </a:ext>
            </a:extLst>
          </p:cNvPr>
          <p:cNvSpPr txBox="1"/>
          <p:nvPr/>
        </p:nvSpPr>
        <p:spPr>
          <a:xfrm>
            <a:off x="1106214" y="277353"/>
            <a:ext cx="8205952" cy="1913344"/>
          </a:xfrm>
          <a:prstGeom prst="rect">
            <a:avLst/>
          </a:prstGeom>
          <a:noFill/>
        </p:spPr>
        <p:txBody>
          <a:bodyPr wrap="square">
            <a:spAutoFit/>
          </a:bodyPr>
          <a:lstStyle/>
          <a:p>
            <a:pPr algn="l">
              <a:lnSpc>
                <a:spcPts val="2625"/>
              </a:lnSpc>
              <a:spcBef>
                <a:spcPts val="1650"/>
              </a:spcBef>
              <a:buNone/>
            </a:pPr>
            <a:r>
              <a:rPr lang="en-IN" sz="3200" b="1" i="0" u="sng" dirty="0">
                <a:solidFill>
                  <a:srgbClr val="FF0000"/>
                </a:solidFill>
                <a:effectLst/>
                <a:latin typeface="Source Sans 3"/>
              </a:rPr>
              <a:t>Snowflake Schema in Data Warehouse Model</a:t>
            </a:r>
          </a:p>
          <a:p>
            <a:pPr algn="l" rtl="0" fontAlgn="base">
              <a:spcBef>
                <a:spcPts val="750"/>
              </a:spcBef>
              <a:spcAft>
                <a:spcPts val="750"/>
              </a:spcAft>
              <a:buNone/>
            </a:pPr>
            <a:r>
              <a:rPr lang="en-IN" b="0" i="0" dirty="0">
                <a:effectLst/>
                <a:latin typeface="Nunito" pitchFamily="2" charset="0"/>
              </a:rPr>
              <a:t>A Snowflake Schema is a data warehouse </a:t>
            </a:r>
            <a:r>
              <a:rPr lang="en-IN" b="0" i="0" dirty="0" err="1">
                <a:effectLst/>
                <a:latin typeface="Nunito" pitchFamily="2" charset="0"/>
              </a:rPr>
              <a:t>modeling</a:t>
            </a:r>
            <a:r>
              <a:rPr lang="en-IN" b="0" i="0" dirty="0">
                <a:effectLst/>
                <a:latin typeface="Nunito" pitchFamily="2" charset="0"/>
              </a:rPr>
              <a:t> technique where dimension tables are normalized into multiple related sub-tables. It is an extension of the Star Schema, designed to handle complex hierarchies and reduce data redundancy. The snowflake effect applies only to dimension tables, not the fact table.</a:t>
            </a:r>
          </a:p>
        </p:txBody>
      </p:sp>
      <p:pic>
        <p:nvPicPr>
          <p:cNvPr id="5" name="Picture 4">
            <a:extLst>
              <a:ext uri="{FF2B5EF4-FFF2-40B4-BE49-F238E27FC236}">
                <a16:creationId xmlns:a16="http://schemas.microsoft.com/office/drawing/2014/main" id="{07AA4D1F-FCFA-D99B-A871-6D1A73BF8C25}"/>
              </a:ext>
            </a:extLst>
          </p:cNvPr>
          <p:cNvPicPr>
            <a:picLocks noChangeAspect="1"/>
          </p:cNvPicPr>
          <p:nvPr/>
        </p:nvPicPr>
        <p:blipFill>
          <a:blip r:embed="rId2"/>
          <a:stretch>
            <a:fillRect/>
          </a:stretch>
        </p:blipFill>
        <p:spPr>
          <a:xfrm>
            <a:off x="1719322" y="2312125"/>
            <a:ext cx="7837818" cy="4141227"/>
          </a:xfrm>
          <a:prstGeom prst="rect">
            <a:avLst/>
          </a:prstGeom>
        </p:spPr>
      </p:pic>
    </p:spTree>
    <p:extLst>
      <p:ext uri="{BB962C8B-B14F-4D97-AF65-F5344CB8AC3E}">
        <p14:creationId xmlns:p14="http://schemas.microsoft.com/office/powerpoint/2010/main" val="34512311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B8F43-C692-1CD1-EAFC-02250C45E5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BE4945-6EB3-ECD5-1F3E-8F4BAFAF7D3D}"/>
              </a:ext>
            </a:extLst>
          </p:cNvPr>
          <p:cNvSpPr txBox="1"/>
          <p:nvPr/>
        </p:nvSpPr>
        <p:spPr>
          <a:xfrm>
            <a:off x="1190297" y="419198"/>
            <a:ext cx="7554310" cy="1985159"/>
          </a:xfrm>
          <a:prstGeom prst="rect">
            <a:avLst/>
          </a:prstGeom>
          <a:noFill/>
        </p:spPr>
        <p:txBody>
          <a:bodyPr wrap="square">
            <a:spAutoFit/>
          </a:bodyPr>
          <a:lstStyle/>
          <a:p>
            <a:pPr algn="l" fontAlgn="base">
              <a:spcAft>
                <a:spcPts val="1800"/>
              </a:spcAft>
              <a:buFont typeface="Arial" panose="020B0604020202020204" pitchFamily="34" charset="0"/>
              <a:buChar char="•"/>
            </a:pPr>
            <a:r>
              <a:rPr lang="en-IN" b="0" i="0" dirty="0">
                <a:effectLst/>
                <a:latin typeface="Nunito" pitchFamily="2" charset="0"/>
              </a:rPr>
              <a:t>Dimension tables are normalized into multiple related tables, creating a hierarchical or "snowflake" structure.</a:t>
            </a:r>
          </a:p>
          <a:p>
            <a:pPr algn="l" fontAlgn="base">
              <a:spcAft>
                <a:spcPts val="1800"/>
              </a:spcAft>
              <a:buFont typeface="Arial" panose="020B0604020202020204" pitchFamily="34" charset="0"/>
              <a:buChar char="•"/>
            </a:pPr>
            <a:r>
              <a:rPr lang="en-IN" b="0" i="0" dirty="0">
                <a:effectLst/>
                <a:latin typeface="Nunito" pitchFamily="2" charset="0"/>
              </a:rPr>
              <a:t>Fact table is still located at the </a:t>
            </a:r>
            <a:r>
              <a:rPr lang="en-IN" b="0" i="0" dirty="0" err="1">
                <a:effectLst/>
                <a:latin typeface="Nunito" pitchFamily="2" charset="0"/>
              </a:rPr>
              <a:t>center</a:t>
            </a:r>
            <a:r>
              <a:rPr lang="en-IN" b="0" i="0" dirty="0">
                <a:effectLst/>
                <a:latin typeface="Nunito" pitchFamily="2" charset="0"/>
              </a:rPr>
              <a:t> of the schema, surrounded by the dimension tables. However, each dimension table is further broken down into multiple related tables, creating a </a:t>
            </a:r>
            <a:r>
              <a:rPr lang="en-IN" dirty="0">
                <a:latin typeface="Nunito" pitchFamily="2" charset="0"/>
              </a:rPr>
              <a:t>hierarchical structure</a:t>
            </a:r>
            <a:r>
              <a:rPr lang="en-IN" b="0" i="0" dirty="0">
                <a:effectLst/>
                <a:latin typeface="Nunito" pitchFamily="2" charset="0"/>
              </a:rPr>
              <a:t> that resembles a snowflake</a:t>
            </a:r>
          </a:p>
        </p:txBody>
      </p:sp>
      <p:sp>
        <p:nvSpPr>
          <p:cNvPr id="5" name="TextBox 4">
            <a:extLst>
              <a:ext uri="{FF2B5EF4-FFF2-40B4-BE49-F238E27FC236}">
                <a16:creationId xmlns:a16="http://schemas.microsoft.com/office/drawing/2014/main" id="{8D9A31EF-B207-2F7B-7FD8-2A1733F66685}"/>
              </a:ext>
            </a:extLst>
          </p:cNvPr>
          <p:cNvSpPr txBox="1"/>
          <p:nvPr/>
        </p:nvSpPr>
        <p:spPr>
          <a:xfrm>
            <a:off x="1190297" y="2568512"/>
            <a:ext cx="9004737" cy="3770263"/>
          </a:xfrm>
          <a:prstGeom prst="rect">
            <a:avLst/>
          </a:prstGeom>
          <a:noFill/>
        </p:spPr>
        <p:txBody>
          <a:bodyPr wrap="square">
            <a:spAutoFit/>
          </a:bodyPr>
          <a:lstStyle/>
          <a:p>
            <a:pPr algn="l" fontAlgn="base">
              <a:lnSpc>
                <a:spcPts val="2100"/>
              </a:lnSpc>
              <a:buNone/>
            </a:pPr>
            <a:r>
              <a:rPr lang="en-IN" sz="2400" b="1" i="0" u="sng" dirty="0">
                <a:effectLst/>
                <a:latin typeface="Nunito" pitchFamily="2" charset="0"/>
              </a:rPr>
              <a:t>Features of the Snowflake Schema</a:t>
            </a:r>
          </a:p>
          <a:p>
            <a:pPr algn="l" fontAlgn="base">
              <a:lnSpc>
                <a:spcPts val="2100"/>
              </a:lnSpc>
              <a:buNone/>
            </a:pPr>
            <a:endParaRPr lang="en-IN" b="1" i="0" dirty="0">
              <a:effectLst/>
              <a:latin typeface="Nunito" pitchFamily="2" charset="0"/>
            </a:endParaRPr>
          </a:p>
          <a:p>
            <a:pPr algn="l" fontAlgn="base">
              <a:spcAft>
                <a:spcPts val="1800"/>
              </a:spcAft>
              <a:buFont typeface="Arial" panose="020B0604020202020204" pitchFamily="34" charset="0"/>
              <a:buChar char="•"/>
            </a:pPr>
            <a:r>
              <a:rPr lang="en-IN" b="1" i="0" dirty="0">
                <a:effectLst/>
                <a:latin typeface="Nunito" pitchFamily="2" charset="0"/>
              </a:rPr>
              <a:t>Normalization</a:t>
            </a:r>
            <a:r>
              <a:rPr lang="en-IN" b="0" i="0" dirty="0">
                <a:effectLst/>
                <a:latin typeface="Nunito" pitchFamily="2" charset="0"/>
              </a:rPr>
              <a:t>: Snowflake schema uses normalized tables to reduce redundancy and improve consistency.</a:t>
            </a:r>
          </a:p>
          <a:p>
            <a:pPr algn="l" fontAlgn="base">
              <a:spcAft>
                <a:spcPts val="1800"/>
              </a:spcAft>
              <a:buFont typeface="Arial" panose="020B0604020202020204" pitchFamily="34" charset="0"/>
              <a:buChar char="•"/>
            </a:pPr>
            <a:r>
              <a:rPr lang="en-IN" b="1" i="0" dirty="0">
                <a:effectLst/>
                <a:latin typeface="Nunito" pitchFamily="2" charset="0"/>
              </a:rPr>
              <a:t>Hierarchical Structure</a:t>
            </a:r>
            <a:r>
              <a:rPr lang="en-IN" b="0" i="0" dirty="0">
                <a:effectLst/>
                <a:latin typeface="Nunito" pitchFamily="2" charset="0"/>
              </a:rPr>
              <a:t>: Built around a central fact table with connected dimension tables.</a:t>
            </a:r>
          </a:p>
          <a:p>
            <a:pPr algn="l" fontAlgn="base">
              <a:spcAft>
                <a:spcPts val="1800"/>
              </a:spcAft>
              <a:buFont typeface="Arial" panose="020B0604020202020204" pitchFamily="34" charset="0"/>
              <a:buChar char="•"/>
            </a:pPr>
            <a:r>
              <a:rPr lang="en-IN" b="1" i="0" dirty="0">
                <a:effectLst/>
                <a:latin typeface="Nunito" pitchFamily="2" charset="0"/>
              </a:rPr>
              <a:t>Multiple Levels</a:t>
            </a:r>
            <a:r>
              <a:rPr lang="en-IN" b="0" i="0" dirty="0">
                <a:effectLst/>
                <a:latin typeface="Nunito" pitchFamily="2" charset="0"/>
              </a:rPr>
              <a:t>: Dimensions can be split into multiple levels, allowing detailed drill-down analysis.</a:t>
            </a:r>
          </a:p>
          <a:p>
            <a:pPr algn="l" fontAlgn="base">
              <a:spcAft>
                <a:spcPts val="1800"/>
              </a:spcAft>
              <a:buFont typeface="Arial" panose="020B0604020202020204" pitchFamily="34" charset="0"/>
              <a:buChar char="•"/>
            </a:pPr>
            <a:r>
              <a:rPr lang="en-IN" b="1" i="0" dirty="0">
                <a:effectLst/>
                <a:latin typeface="Nunito" pitchFamily="2" charset="0"/>
              </a:rPr>
              <a:t>Joins</a:t>
            </a:r>
            <a:r>
              <a:rPr lang="en-IN" b="0" i="0" dirty="0">
                <a:effectLst/>
                <a:latin typeface="Nunito" pitchFamily="2" charset="0"/>
              </a:rPr>
              <a:t>: Requires more joins, which can slow performance on large datasets.</a:t>
            </a:r>
          </a:p>
          <a:p>
            <a:pPr algn="l" fontAlgn="base">
              <a:spcAft>
                <a:spcPts val="1800"/>
              </a:spcAft>
              <a:buFont typeface="Arial" panose="020B0604020202020204" pitchFamily="34" charset="0"/>
              <a:buChar char="•"/>
            </a:pPr>
            <a:r>
              <a:rPr lang="en-IN" b="1" i="0" dirty="0">
                <a:effectLst/>
                <a:latin typeface="Nunito" pitchFamily="2" charset="0"/>
              </a:rPr>
              <a:t>Scalability</a:t>
            </a:r>
            <a:r>
              <a:rPr lang="en-IN" b="0" i="0" dirty="0">
                <a:effectLst/>
                <a:latin typeface="Nunito" pitchFamily="2" charset="0"/>
              </a:rPr>
              <a:t>: Scales well for large data, but its complexity makes it harder to manage.</a:t>
            </a:r>
          </a:p>
        </p:txBody>
      </p:sp>
    </p:spTree>
    <p:extLst>
      <p:ext uri="{BB962C8B-B14F-4D97-AF65-F5344CB8AC3E}">
        <p14:creationId xmlns:p14="http://schemas.microsoft.com/office/powerpoint/2010/main" val="38379373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3E8E-82CA-D045-A57F-90B4ADD6F3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CD7FCF-AC5E-3FA1-7D20-280091F85240}"/>
              </a:ext>
            </a:extLst>
          </p:cNvPr>
          <p:cNvSpPr txBox="1"/>
          <p:nvPr/>
        </p:nvSpPr>
        <p:spPr>
          <a:xfrm>
            <a:off x="1158766" y="262142"/>
            <a:ext cx="9088820" cy="669414"/>
          </a:xfrm>
          <a:prstGeom prst="rect">
            <a:avLst/>
          </a:prstGeom>
          <a:noFill/>
        </p:spPr>
        <p:txBody>
          <a:bodyPr wrap="square">
            <a:spAutoFit/>
          </a:bodyPr>
          <a:lstStyle/>
          <a:p>
            <a:pPr algn="l" fontAlgn="base">
              <a:lnSpc>
                <a:spcPts val="2100"/>
              </a:lnSpc>
              <a:buNone/>
            </a:pPr>
            <a:r>
              <a:rPr lang="en-IN" sz="2000" b="1" i="0" dirty="0">
                <a:effectLst/>
                <a:latin typeface="Nunito" pitchFamily="2" charset="0"/>
              </a:rPr>
              <a:t>Example of Snowflake Schema</a:t>
            </a:r>
          </a:p>
          <a:p>
            <a:pPr algn="l" rtl="0" fontAlgn="base">
              <a:spcAft>
                <a:spcPts val="750"/>
              </a:spcAft>
              <a:buNone/>
            </a:pPr>
            <a:r>
              <a:rPr lang="en-IN" sz="2000" b="0" i="0" dirty="0">
                <a:effectLst/>
                <a:latin typeface="Nunito" pitchFamily="2" charset="0"/>
              </a:rPr>
              <a:t>Below is a simplified representation of how a snowflake schema model looks</a:t>
            </a:r>
          </a:p>
        </p:txBody>
      </p:sp>
      <p:pic>
        <p:nvPicPr>
          <p:cNvPr id="5" name="Picture 4">
            <a:extLst>
              <a:ext uri="{FF2B5EF4-FFF2-40B4-BE49-F238E27FC236}">
                <a16:creationId xmlns:a16="http://schemas.microsoft.com/office/drawing/2014/main" id="{AEE99995-97CF-62CF-0F98-257B052ACC66}"/>
              </a:ext>
            </a:extLst>
          </p:cNvPr>
          <p:cNvPicPr>
            <a:picLocks noChangeAspect="1"/>
          </p:cNvPicPr>
          <p:nvPr/>
        </p:nvPicPr>
        <p:blipFill>
          <a:blip r:embed="rId2"/>
          <a:stretch>
            <a:fillRect/>
          </a:stretch>
        </p:blipFill>
        <p:spPr>
          <a:xfrm>
            <a:off x="1281823" y="1147444"/>
            <a:ext cx="8640381" cy="4563112"/>
          </a:xfrm>
          <a:prstGeom prst="rect">
            <a:avLst/>
          </a:prstGeom>
        </p:spPr>
      </p:pic>
    </p:spTree>
    <p:extLst>
      <p:ext uri="{BB962C8B-B14F-4D97-AF65-F5344CB8AC3E}">
        <p14:creationId xmlns:p14="http://schemas.microsoft.com/office/powerpoint/2010/main" val="23876009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867D-BE82-D200-2A98-8228F36314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778FD3-082C-3741-1220-22CCC738658E}"/>
              </a:ext>
            </a:extLst>
          </p:cNvPr>
          <p:cNvSpPr txBox="1"/>
          <p:nvPr/>
        </p:nvSpPr>
        <p:spPr>
          <a:xfrm>
            <a:off x="1232338" y="303299"/>
            <a:ext cx="8405647" cy="3277820"/>
          </a:xfrm>
          <a:prstGeom prst="rect">
            <a:avLst/>
          </a:prstGeom>
          <a:noFill/>
        </p:spPr>
        <p:txBody>
          <a:bodyPr wrap="square">
            <a:spAutoFit/>
          </a:bodyPr>
          <a:lstStyle/>
          <a:p>
            <a:pPr algn="l" fontAlgn="base">
              <a:spcAft>
                <a:spcPts val="1800"/>
              </a:spcAft>
              <a:buFont typeface="Arial" panose="020B0604020202020204" pitchFamily="34" charset="0"/>
              <a:buChar char="•"/>
            </a:pPr>
            <a:r>
              <a:rPr lang="en-IN" b="0" i="0" dirty="0">
                <a:effectLst/>
                <a:latin typeface="Nunito" pitchFamily="2" charset="0"/>
              </a:rPr>
              <a:t>Employee dimension includes attributes like </a:t>
            </a:r>
            <a:r>
              <a:rPr lang="en-IN" b="0" i="0" dirty="0" err="1">
                <a:effectLst/>
                <a:latin typeface="Nunito" pitchFamily="2" charset="0"/>
              </a:rPr>
              <a:t>EmployeeID</a:t>
            </a:r>
            <a:r>
              <a:rPr lang="en-IN" b="0" i="0" dirty="0">
                <a:effectLst/>
                <a:latin typeface="Nunito" pitchFamily="2" charset="0"/>
              </a:rPr>
              <a:t>, Name, </a:t>
            </a:r>
            <a:r>
              <a:rPr lang="en-IN" b="0" i="0" dirty="0" err="1">
                <a:effectLst/>
                <a:latin typeface="Nunito" pitchFamily="2" charset="0"/>
              </a:rPr>
              <a:t>DepartmentID</a:t>
            </a:r>
            <a:r>
              <a:rPr lang="en-IN" b="0" i="0" dirty="0">
                <a:effectLst/>
                <a:latin typeface="Nunito" pitchFamily="2" charset="0"/>
              </a:rPr>
              <a:t>, Region, and Territory. </a:t>
            </a:r>
            <a:r>
              <a:rPr lang="en-IN" b="0" i="0" dirty="0" err="1">
                <a:effectLst/>
                <a:latin typeface="Nunito" pitchFamily="2" charset="0"/>
              </a:rPr>
              <a:t>DepartmentID</a:t>
            </a:r>
            <a:r>
              <a:rPr lang="en-IN" b="0" i="0" dirty="0">
                <a:effectLst/>
                <a:latin typeface="Nunito" pitchFamily="2" charset="0"/>
              </a:rPr>
              <a:t> links to the Department table, which holds department details like Name and Location.</a:t>
            </a:r>
          </a:p>
          <a:p>
            <a:pPr algn="l" fontAlgn="base">
              <a:spcAft>
                <a:spcPts val="1800"/>
              </a:spcAft>
              <a:buFont typeface="Arial" panose="020B0604020202020204" pitchFamily="34" charset="0"/>
              <a:buChar char="•"/>
            </a:pPr>
            <a:r>
              <a:rPr lang="en-IN" b="0" i="0" dirty="0">
                <a:effectLst/>
                <a:latin typeface="Nunito" pitchFamily="2" charset="0"/>
              </a:rPr>
              <a:t>Customer dimension includes </a:t>
            </a:r>
            <a:r>
              <a:rPr lang="en-IN" b="0" i="0" dirty="0" err="1">
                <a:effectLst/>
                <a:latin typeface="Nunito" pitchFamily="2" charset="0"/>
              </a:rPr>
              <a:t>CustomerID</a:t>
            </a:r>
            <a:r>
              <a:rPr lang="en-IN" b="0" i="0" dirty="0">
                <a:effectLst/>
                <a:latin typeface="Nunito" pitchFamily="2" charset="0"/>
              </a:rPr>
              <a:t>, Name, Address, and </a:t>
            </a:r>
            <a:r>
              <a:rPr lang="en-IN" b="0" i="0" dirty="0" err="1">
                <a:effectLst/>
                <a:latin typeface="Nunito" pitchFamily="2" charset="0"/>
              </a:rPr>
              <a:t>CityID</a:t>
            </a:r>
            <a:r>
              <a:rPr lang="en-IN" b="0" i="0" dirty="0">
                <a:effectLst/>
                <a:latin typeface="Nunito" pitchFamily="2" charset="0"/>
              </a:rPr>
              <a:t>. </a:t>
            </a:r>
            <a:r>
              <a:rPr lang="en-IN" b="0" i="0" dirty="0" err="1">
                <a:effectLst/>
                <a:latin typeface="Nunito" pitchFamily="2" charset="0"/>
              </a:rPr>
              <a:t>CityID</a:t>
            </a:r>
            <a:r>
              <a:rPr lang="en-IN" b="0" i="0" dirty="0">
                <a:effectLst/>
                <a:latin typeface="Nunito" pitchFamily="2" charset="0"/>
              </a:rPr>
              <a:t> links to the City table, which stores City Name, </a:t>
            </a:r>
            <a:r>
              <a:rPr lang="en-IN" b="0" i="0" dirty="0" err="1">
                <a:effectLst/>
                <a:latin typeface="Nunito" pitchFamily="2" charset="0"/>
              </a:rPr>
              <a:t>Zipcode</a:t>
            </a:r>
            <a:r>
              <a:rPr lang="en-IN" b="0" i="0" dirty="0">
                <a:effectLst/>
                <a:latin typeface="Nunito" pitchFamily="2" charset="0"/>
              </a:rPr>
              <a:t>, State, and Country.</a:t>
            </a:r>
          </a:p>
          <a:p>
            <a:pPr algn="l" fontAlgn="base">
              <a:spcAft>
                <a:spcPts val="1800"/>
              </a:spcAft>
              <a:buFont typeface="Arial" panose="020B0604020202020204" pitchFamily="34" charset="0"/>
              <a:buChar char="•"/>
            </a:pPr>
            <a:r>
              <a:rPr lang="en-IN" b="0" i="0" dirty="0">
                <a:effectLst/>
                <a:latin typeface="Nunito" pitchFamily="2" charset="0"/>
              </a:rPr>
              <a:t>Product dimension includes </a:t>
            </a:r>
            <a:r>
              <a:rPr lang="en-IN" b="0" i="0" dirty="0" err="1">
                <a:effectLst/>
                <a:latin typeface="Nunito" pitchFamily="2" charset="0"/>
              </a:rPr>
              <a:t>ProductID</a:t>
            </a:r>
            <a:r>
              <a:rPr lang="en-IN" b="0" i="0" dirty="0">
                <a:effectLst/>
                <a:latin typeface="Nunito" pitchFamily="2" charset="0"/>
              </a:rPr>
              <a:t>, ProductName, </a:t>
            </a:r>
            <a:r>
              <a:rPr lang="en-IN" b="0" i="0" dirty="0" err="1">
                <a:effectLst/>
                <a:latin typeface="Nunito" pitchFamily="2" charset="0"/>
              </a:rPr>
              <a:t>ProductCategoryID</a:t>
            </a:r>
            <a:r>
              <a:rPr lang="en-IN" b="0" i="0" dirty="0">
                <a:effectLst/>
                <a:latin typeface="Nunito" pitchFamily="2" charset="0"/>
              </a:rPr>
              <a:t>. </a:t>
            </a:r>
            <a:r>
              <a:rPr lang="en-IN" b="0" i="0" dirty="0" err="1">
                <a:effectLst/>
                <a:latin typeface="Nunito" pitchFamily="2" charset="0"/>
              </a:rPr>
              <a:t>ProductCategoryID</a:t>
            </a:r>
            <a:r>
              <a:rPr lang="en-IN" b="0" i="0" dirty="0">
                <a:effectLst/>
                <a:latin typeface="Nunito" pitchFamily="2" charset="0"/>
              </a:rPr>
              <a:t> links to the Product Category Dimension: Category Name, Description, Unit Price.</a:t>
            </a:r>
          </a:p>
          <a:p>
            <a:pPr algn="l" rtl="0" fontAlgn="base">
              <a:spcAft>
                <a:spcPts val="750"/>
              </a:spcAft>
              <a:buNone/>
            </a:pPr>
            <a:r>
              <a:rPr lang="en-IN" b="0" i="0" dirty="0">
                <a:effectLst/>
                <a:latin typeface="Nunito" pitchFamily="2" charset="0"/>
              </a:rPr>
              <a:t>These hierarchical connections form the "snowflake" structure.</a:t>
            </a:r>
          </a:p>
        </p:txBody>
      </p:sp>
    </p:spTree>
    <p:extLst>
      <p:ext uri="{BB962C8B-B14F-4D97-AF65-F5344CB8AC3E}">
        <p14:creationId xmlns:p14="http://schemas.microsoft.com/office/powerpoint/2010/main" val="19901603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98CFA-9049-4779-CC92-FFCC9BAE8B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2A70AD-C99E-EAD1-CA92-33D294E63522}"/>
              </a:ext>
            </a:extLst>
          </p:cNvPr>
          <p:cNvSpPr txBox="1"/>
          <p:nvPr/>
        </p:nvSpPr>
        <p:spPr>
          <a:xfrm>
            <a:off x="1053661" y="419907"/>
            <a:ext cx="9225455" cy="4139595"/>
          </a:xfrm>
          <a:prstGeom prst="rect">
            <a:avLst/>
          </a:prstGeom>
          <a:noFill/>
        </p:spPr>
        <p:txBody>
          <a:bodyPr wrap="square">
            <a:spAutoFit/>
          </a:bodyPr>
          <a:lstStyle/>
          <a:p>
            <a:pPr algn="l" fontAlgn="base">
              <a:lnSpc>
                <a:spcPts val="2100"/>
              </a:lnSpc>
              <a:buNone/>
            </a:pPr>
            <a:r>
              <a:rPr lang="en-IN" sz="3200" b="1" i="0" u="sng" dirty="0">
                <a:effectLst/>
                <a:latin typeface="Nunito" pitchFamily="2" charset="0"/>
              </a:rPr>
              <a:t>Characteristics of Snowflake Schema</a:t>
            </a:r>
          </a:p>
          <a:p>
            <a:pPr algn="l" fontAlgn="base">
              <a:lnSpc>
                <a:spcPts val="2100"/>
              </a:lnSpc>
              <a:buNone/>
            </a:pPr>
            <a:endParaRPr lang="en-IN" sz="3200" b="1" i="0" u="sng" dirty="0">
              <a:effectLst/>
              <a:latin typeface="Nunito" pitchFamily="2" charset="0"/>
            </a:endParaRPr>
          </a:p>
          <a:p>
            <a:pPr algn="l" fontAlgn="base">
              <a:spcAft>
                <a:spcPts val="1800"/>
              </a:spcAft>
              <a:buFont typeface="Arial" panose="020B0604020202020204" pitchFamily="34" charset="0"/>
              <a:buChar char="•"/>
            </a:pPr>
            <a:r>
              <a:rPr lang="en-IN" sz="2400" b="0" i="0" dirty="0">
                <a:effectLst/>
                <a:latin typeface="Nunito" pitchFamily="2" charset="0"/>
              </a:rPr>
              <a:t>Requires less storage because dimension data is structured.</a:t>
            </a:r>
          </a:p>
          <a:p>
            <a:pPr algn="l" fontAlgn="base">
              <a:spcAft>
                <a:spcPts val="1800"/>
              </a:spcAft>
              <a:buFont typeface="Arial" panose="020B0604020202020204" pitchFamily="34" charset="0"/>
              <a:buChar char="•"/>
            </a:pPr>
            <a:r>
              <a:rPr lang="en-IN" sz="2400" b="0" i="0" dirty="0">
                <a:effectLst/>
                <a:latin typeface="Nunito" pitchFamily="2" charset="0"/>
              </a:rPr>
              <a:t>Supports multiple hierarchies within a dimension.</a:t>
            </a:r>
          </a:p>
          <a:p>
            <a:pPr algn="l" fontAlgn="base">
              <a:spcAft>
                <a:spcPts val="1800"/>
              </a:spcAft>
              <a:buFont typeface="Arial" panose="020B0604020202020204" pitchFamily="34" charset="0"/>
              <a:buChar char="•"/>
            </a:pPr>
            <a:r>
              <a:rPr lang="en-IN" sz="2400" b="0" i="0" dirty="0">
                <a:effectLst/>
                <a:latin typeface="Nunito" pitchFamily="2" charset="0"/>
              </a:rPr>
              <a:t>Performance decreases because of extra joins.</a:t>
            </a:r>
          </a:p>
          <a:p>
            <a:pPr algn="l" fontAlgn="base">
              <a:spcAft>
                <a:spcPts val="1800"/>
              </a:spcAft>
              <a:buFont typeface="Arial" panose="020B0604020202020204" pitchFamily="34" charset="0"/>
              <a:buChar char="•"/>
            </a:pPr>
            <a:r>
              <a:rPr lang="en-IN" sz="2400" b="0" i="0" dirty="0">
                <a:effectLst/>
                <a:latin typeface="Nunito" pitchFamily="2" charset="0"/>
              </a:rPr>
              <a:t>Dimensions can be sourced from different systems and integrated cleanly.</a:t>
            </a:r>
          </a:p>
          <a:p>
            <a:pPr algn="l" fontAlgn="base">
              <a:spcAft>
                <a:spcPts val="1800"/>
              </a:spcAft>
              <a:buFont typeface="Arial" panose="020B0604020202020204" pitchFamily="34" charset="0"/>
              <a:buChar char="•"/>
            </a:pPr>
            <a:r>
              <a:rPr lang="en-IN" sz="2400" b="0" i="0" dirty="0">
                <a:effectLst/>
                <a:latin typeface="Nunito" pitchFamily="2" charset="0"/>
              </a:rPr>
              <a:t>Good when dimension tables contain attributes at different grains.</a:t>
            </a:r>
          </a:p>
        </p:txBody>
      </p:sp>
    </p:spTree>
    <p:extLst>
      <p:ext uri="{BB962C8B-B14F-4D97-AF65-F5344CB8AC3E}">
        <p14:creationId xmlns:p14="http://schemas.microsoft.com/office/powerpoint/2010/main" val="16710495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DECB-34C3-CF37-FD7E-4E4FA7A865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04ED71-7ED6-04C9-89CC-C9908E0AB32E}"/>
              </a:ext>
            </a:extLst>
          </p:cNvPr>
          <p:cNvSpPr txBox="1"/>
          <p:nvPr/>
        </p:nvSpPr>
        <p:spPr>
          <a:xfrm>
            <a:off x="1053662" y="420420"/>
            <a:ext cx="9162392" cy="5032147"/>
          </a:xfrm>
          <a:prstGeom prst="rect">
            <a:avLst/>
          </a:prstGeom>
          <a:noFill/>
        </p:spPr>
        <p:txBody>
          <a:bodyPr wrap="square">
            <a:spAutoFit/>
          </a:bodyPr>
          <a:lstStyle/>
          <a:p>
            <a:pPr algn="l" fontAlgn="base">
              <a:lnSpc>
                <a:spcPts val="2100"/>
              </a:lnSpc>
              <a:buNone/>
            </a:pPr>
            <a:r>
              <a:rPr lang="en-IN" sz="2800" b="1" i="0" u="sng" dirty="0">
                <a:effectLst/>
                <a:latin typeface="Nunito" pitchFamily="2" charset="0"/>
              </a:rPr>
              <a:t>Advantages</a:t>
            </a:r>
          </a:p>
          <a:p>
            <a:pPr algn="l" fontAlgn="base">
              <a:lnSpc>
                <a:spcPts val="2100"/>
              </a:lnSpc>
              <a:buNone/>
            </a:pPr>
            <a:endParaRPr lang="en-IN" sz="2800" b="1" i="0" u="sng" dirty="0">
              <a:effectLst/>
              <a:latin typeface="Nunito" pitchFamily="2" charset="0"/>
            </a:endParaRPr>
          </a:p>
          <a:p>
            <a:pPr algn="l" fontAlgn="base">
              <a:spcAft>
                <a:spcPts val="1800"/>
              </a:spcAft>
              <a:buFont typeface="Arial" panose="020B0604020202020204" pitchFamily="34" charset="0"/>
              <a:buChar char="•"/>
            </a:pPr>
            <a:r>
              <a:rPr lang="en-IN" b="0" i="0" dirty="0">
                <a:effectLst/>
                <a:latin typeface="Nunito" pitchFamily="2" charset="0"/>
              </a:rPr>
              <a:t>Improves data integrity through normalization.</a:t>
            </a:r>
          </a:p>
          <a:p>
            <a:pPr algn="l" fontAlgn="base">
              <a:spcAft>
                <a:spcPts val="1800"/>
              </a:spcAft>
              <a:buFont typeface="Arial" panose="020B0604020202020204" pitchFamily="34" charset="0"/>
              <a:buChar char="•"/>
            </a:pPr>
            <a:r>
              <a:rPr lang="en-IN" b="0" i="0" dirty="0">
                <a:effectLst/>
                <a:latin typeface="Nunito" pitchFamily="2" charset="0"/>
              </a:rPr>
              <a:t>Reduces redundancy and storage usage.</a:t>
            </a:r>
          </a:p>
          <a:p>
            <a:pPr algn="l" fontAlgn="base">
              <a:spcAft>
                <a:spcPts val="1800"/>
              </a:spcAft>
              <a:buFont typeface="Arial" panose="020B0604020202020204" pitchFamily="34" charset="0"/>
              <a:buChar char="•"/>
            </a:pPr>
            <a:r>
              <a:rPr lang="en-IN" b="0" i="0" dirty="0">
                <a:effectLst/>
                <a:latin typeface="Nunito" pitchFamily="2" charset="0"/>
              </a:rPr>
              <a:t>Supports detailed hierarchical drill-down.</a:t>
            </a:r>
          </a:p>
          <a:p>
            <a:pPr algn="l" fontAlgn="base">
              <a:lnSpc>
                <a:spcPts val="2100"/>
              </a:lnSpc>
              <a:buNone/>
            </a:pPr>
            <a:endParaRPr lang="en-IN" sz="2800" b="1" i="0" u="sng" dirty="0">
              <a:effectLst/>
              <a:latin typeface="Nunito" pitchFamily="2" charset="0"/>
            </a:endParaRPr>
          </a:p>
          <a:p>
            <a:pPr algn="l" fontAlgn="base">
              <a:lnSpc>
                <a:spcPts val="2100"/>
              </a:lnSpc>
              <a:buNone/>
            </a:pPr>
            <a:endParaRPr lang="en-IN" sz="2800" b="1" u="sng" dirty="0">
              <a:latin typeface="Nunito" pitchFamily="2" charset="0"/>
            </a:endParaRPr>
          </a:p>
          <a:p>
            <a:pPr algn="l" fontAlgn="base">
              <a:lnSpc>
                <a:spcPts val="2100"/>
              </a:lnSpc>
              <a:buNone/>
            </a:pPr>
            <a:r>
              <a:rPr lang="en-IN" sz="2800" b="1" i="0" u="sng" dirty="0">
                <a:effectLst/>
                <a:latin typeface="Nunito" pitchFamily="2" charset="0"/>
              </a:rPr>
              <a:t>Disadvantages</a:t>
            </a:r>
          </a:p>
          <a:p>
            <a:pPr algn="l" fontAlgn="base">
              <a:lnSpc>
                <a:spcPts val="2100"/>
              </a:lnSpc>
              <a:buNone/>
            </a:pPr>
            <a:endParaRPr lang="en-IN" sz="2800" b="1" i="0" u="sng" dirty="0">
              <a:effectLst/>
              <a:latin typeface="Nunito" pitchFamily="2" charset="0"/>
            </a:endParaRPr>
          </a:p>
          <a:p>
            <a:pPr algn="l" fontAlgn="base">
              <a:spcAft>
                <a:spcPts val="1800"/>
              </a:spcAft>
              <a:buFont typeface="Arial" panose="020B0604020202020204" pitchFamily="34" charset="0"/>
              <a:buChar char="•"/>
            </a:pPr>
            <a:r>
              <a:rPr lang="en-IN" b="0" i="0" dirty="0">
                <a:effectLst/>
                <a:latin typeface="Nunito" pitchFamily="2" charset="0"/>
              </a:rPr>
              <a:t>Increased schema complexity.</a:t>
            </a:r>
          </a:p>
          <a:p>
            <a:pPr algn="l" fontAlgn="base">
              <a:spcAft>
                <a:spcPts val="1800"/>
              </a:spcAft>
              <a:buFont typeface="Arial" panose="020B0604020202020204" pitchFamily="34" charset="0"/>
              <a:buChar char="•"/>
            </a:pPr>
            <a:r>
              <a:rPr lang="en-IN" b="0" i="0" dirty="0">
                <a:effectLst/>
                <a:latin typeface="Nunito" pitchFamily="2" charset="0"/>
              </a:rPr>
              <a:t>More joins, leading to slower query performance.</a:t>
            </a:r>
          </a:p>
          <a:p>
            <a:pPr algn="l" fontAlgn="base">
              <a:spcAft>
                <a:spcPts val="1800"/>
              </a:spcAft>
              <a:buFont typeface="Arial" panose="020B0604020202020204" pitchFamily="34" charset="0"/>
              <a:buChar char="•"/>
            </a:pPr>
            <a:r>
              <a:rPr lang="en-IN" b="0" i="0" dirty="0">
                <a:effectLst/>
                <a:latin typeface="Nunito" pitchFamily="2" charset="0"/>
              </a:rPr>
              <a:t>Normalization may offer minimal storage savings compared to the entire warehouse.</a:t>
            </a:r>
          </a:p>
          <a:p>
            <a:pPr algn="l" fontAlgn="base">
              <a:spcAft>
                <a:spcPts val="1800"/>
              </a:spcAft>
              <a:buFont typeface="Arial" panose="020B0604020202020204" pitchFamily="34" charset="0"/>
              <a:buChar char="•"/>
            </a:pPr>
            <a:r>
              <a:rPr lang="en-IN" b="0" i="0" dirty="0">
                <a:effectLst/>
                <a:latin typeface="Nunito" pitchFamily="2" charset="0"/>
              </a:rPr>
              <a:t>Not recommended unless the hierarchy is essential and widely used in queries.</a:t>
            </a:r>
          </a:p>
        </p:txBody>
      </p:sp>
    </p:spTree>
    <p:extLst>
      <p:ext uri="{BB962C8B-B14F-4D97-AF65-F5344CB8AC3E}">
        <p14:creationId xmlns:p14="http://schemas.microsoft.com/office/powerpoint/2010/main" val="40131904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FE9C-ED24-43DB-165E-FDBDB9F9C4AE}"/>
            </a:ext>
          </a:extLst>
        </p:cNvPr>
        <p:cNvGrpSpPr/>
        <p:nvPr/>
      </p:nvGrpSpPr>
      <p:grpSpPr>
        <a:xfrm>
          <a:off x="0" y="0"/>
          <a:ext cx="0" cy="0"/>
          <a:chOff x="0" y="0"/>
          <a:chExt cx="0" cy="0"/>
        </a:xfrm>
      </p:grpSpPr>
    </p:spTree>
    <p:extLst>
      <p:ext uri="{BB962C8B-B14F-4D97-AF65-F5344CB8AC3E}">
        <p14:creationId xmlns:p14="http://schemas.microsoft.com/office/powerpoint/2010/main" val="16756761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DE896-CB2B-1C0F-2A5B-3E16FFE5D5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63C18C-86C7-E5B9-1C9B-102A3EB51EA5}"/>
              </a:ext>
            </a:extLst>
          </p:cNvPr>
          <p:cNvSpPr txBox="1"/>
          <p:nvPr/>
        </p:nvSpPr>
        <p:spPr>
          <a:xfrm>
            <a:off x="840827" y="405308"/>
            <a:ext cx="9869214" cy="3223959"/>
          </a:xfrm>
          <a:prstGeom prst="rect">
            <a:avLst/>
          </a:prstGeom>
          <a:noFill/>
        </p:spPr>
        <p:txBody>
          <a:bodyPr wrap="square">
            <a:spAutoFit/>
          </a:bodyPr>
          <a:lstStyle/>
          <a:p>
            <a:pPr algn="l">
              <a:lnSpc>
                <a:spcPts val="2625"/>
              </a:lnSpc>
              <a:spcBef>
                <a:spcPts val="1650"/>
              </a:spcBef>
              <a:buNone/>
            </a:pPr>
            <a:r>
              <a:rPr lang="en-IN" sz="3200" b="1" i="0" u="sng" dirty="0">
                <a:solidFill>
                  <a:srgbClr val="FF0000"/>
                </a:solidFill>
                <a:effectLst/>
                <a:latin typeface="Source Sans 3"/>
              </a:rPr>
              <a:t>Fact Constellation Schema in Data Warehouse modelling</a:t>
            </a:r>
          </a:p>
          <a:p>
            <a:pPr algn="l">
              <a:lnSpc>
                <a:spcPts val="2625"/>
              </a:lnSpc>
              <a:spcBef>
                <a:spcPts val="1650"/>
              </a:spcBef>
              <a:buNone/>
            </a:pPr>
            <a:endParaRPr lang="en-IN" sz="3200" b="1" i="0" u="sng" dirty="0">
              <a:solidFill>
                <a:srgbClr val="FF0000"/>
              </a:solidFill>
              <a:effectLst/>
              <a:latin typeface="Source Sans 3"/>
            </a:endParaRPr>
          </a:p>
          <a:p>
            <a:pPr algn="just" rtl="0" fontAlgn="base">
              <a:spcBef>
                <a:spcPts val="750"/>
              </a:spcBef>
              <a:spcAft>
                <a:spcPts val="750"/>
              </a:spcAft>
              <a:buNone/>
            </a:pPr>
            <a:r>
              <a:rPr lang="en-IN" b="0" i="0" dirty="0">
                <a:effectLst/>
                <a:latin typeface="Nunito" pitchFamily="2" charset="0"/>
              </a:rPr>
              <a:t>Fact Constellation in Data Warehouse </a:t>
            </a:r>
            <a:r>
              <a:rPr lang="en-IN" b="0" i="0" dirty="0" err="1">
                <a:effectLst/>
                <a:latin typeface="Nunito" pitchFamily="2" charset="0"/>
              </a:rPr>
              <a:t>modeling</a:t>
            </a:r>
            <a:r>
              <a:rPr lang="en-IN" b="0" i="0" dirty="0">
                <a:effectLst/>
                <a:latin typeface="Nunito" pitchFamily="2" charset="0"/>
              </a:rPr>
              <a:t> is a schema design that integrates multiple fact tables sharing common dimensions, often referred to as a "Galaxy schema." This approach allows businesses to conduct multi-dimensional analysis across complex datasets.</a:t>
            </a:r>
          </a:p>
          <a:p>
            <a:pPr algn="l" fontAlgn="base">
              <a:spcBef>
                <a:spcPts val="750"/>
              </a:spcBef>
              <a:spcAft>
                <a:spcPts val="1800"/>
              </a:spcAft>
              <a:buFont typeface="Arial" panose="020B0604020202020204" pitchFamily="34" charset="0"/>
              <a:buChar char="•"/>
            </a:pPr>
            <a:r>
              <a:rPr lang="en-IN" b="0" i="0" dirty="0">
                <a:effectLst/>
                <a:latin typeface="Nunito" pitchFamily="2" charset="0"/>
              </a:rPr>
              <a:t>Fact Constellation Schema, also known as the Galaxy Schema, is an advanced </a:t>
            </a:r>
            <a:r>
              <a:rPr lang="en-IN" b="0" i="0" dirty="0">
                <a:effectLst/>
                <a:latin typeface="Nunito" pitchFamily="2" charset="0"/>
                <a:hlinkClick r:id="rId2">
                  <a:extLst>
                    <a:ext uri="{A12FA001-AC4F-418D-AE19-62706E023703}">
                      <ahyp:hlinkClr xmlns:ahyp="http://schemas.microsoft.com/office/drawing/2018/hyperlinkcolor" val="tx"/>
                    </a:ext>
                  </a:extLst>
                </a:hlinkClick>
              </a:rPr>
              <a:t>data </a:t>
            </a:r>
            <a:r>
              <a:rPr lang="en-IN" b="0" i="0" dirty="0" err="1">
                <a:effectLst/>
                <a:latin typeface="Nunito" pitchFamily="2" charset="0"/>
                <a:hlinkClick r:id="rId2">
                  <a:extLst>
                    <a:ext uri="{A12FA001-AC4F-418D-AE19-62706E023703}">
                      <ahyp:hlinkClr xmlns:ahyp="http://schemas.microsoft.com/office/drawing/2018/hyperlinkcolor" val="tx"/>
                    </a:ext>
                  </a:extLst>
                </a:hlinkClick>
              </a:rPr>
              <a:t>modeling</a:t>
            </a:r>
            <a:r>
              <a:rPr lang="en-IN" b="0" i="0" dirty="0">
                <a:effectLst/>
                <a:latin typeface="Nunito" pitchFamily="2" charset="0"/>
                <a:hlinkClick r:id="rId2">
                  <a:extLst>
                    <a:ext uri="{A12FA001-AC4F-418D-AE19-62706E023703}">
                      <ahyp:hlinkClr xmlns:ahyp="http://schemas.microsoft.com/office/drawing/2018/hyperlinkcolor" val="tx"/>
                    </a:ext>
                  </a:extLst>
                </a:hlinkClick>
              </a:rPr>
              <a:t> technique</a:t>
            </a:r>
            <a:r>
              <a:rPr lang="en-IN" b="0" i="0" dirty="0">
                <a:effectLst/>
                <a:latin typeface="Nunito" pitchFamily="2" charset="0"/>
              </a:rPr>
              <a:t> used in designing data warehouses. Unlike simpler models like the </a:t>
            </a:r>
            <a:r>
              <a:rPr lang="en-IN" b="0" i="0" dirty="0">
                <a:effectLst/>
                <a:latin typeface="Nunito" pitchFamily="2" charset="0"/>
                <a:hlinkClick r:id="rId3">
                  <a:extLst>
                    <a:ext uri="{A12FA001-AC4F-418D-AE19-62706E023703}">
                      <ahyp:hlinkClr xmlns:ahyp="http://schemas.microsoft.com/office/drawing/2018/hyperlinkcolor" val="tx"/>
                    </a:ext>
                  </a:extLst>
                </a:hlinkClick>
              </a:rPr>
              <a:t>Star Schema</a:t>
            </a:r>
            <a:r>
              <a:rPr lang="en-IN" b="0" i="0" dirty="0">
                <a:effectLst/>
                <a:latin typeface="Nunito" pitchFamily="2" charset="0"/>
              </a:rPr>
              <a:t> and </a:t>
            </a:r>
            <a:r>
              <a:rPr lang="en-IN" b="0" i="0" dirty="0">
                <a:effectLst/>
                <a:latin typeface="Nunito" pitchFamily="2" charset="0"/>
                <a:hlinkClick r:id="rId4">
                  <a:extLst>
                    <a:ext uri="{A12FA001-AC4F-418D-AE19-62706E023703}">
                      <ahyp:hlinkClr xmlns:ahyp="http://schemas.microsoft.com/office/drawing/2018/hyperlinkcolor" val="tx"/>
                    </a:ext>
                  </a:extLst>
                </a:hlinkClick>
              </a:rPr>
              <a:t>Snowflake Schema</a:t>
            </a:r>
            <a:r>
              <a:rPr lang="en-IN" b="0" i="0" dirty="0">
                <a:effectLst/>
                <a:latin typeface="Nunito" pitchFamily="2" charset="0"/>
              </a:rPr>
              <a:t>, the Fact Constellation Schema consists of multiple </a:t>
            </a:r>
            <a:r>
              <a:rPr lang="en-IN" b="0" i="0" dirty="0">
                <a:effectLst/>
                <a:latin typeface="Nunito" pitchFamily="2" charset="0"/>
                <a:hlinkClick r:id="rId5">
                  <a:extLst>
                    <a:ext uri="{A12FA001-AC4F-418D-AE19-62706E023703}">
                      <ahyp:hlinkClr xmlns:ahyp="http://schemas.microsoft.com/office/drawing/2018/hyperlinkcolor" val="tx"/>
                    </a:ext>
                  </a:extLst>
                </a:hlinkClick>
              </a:rPr>
              <a:t>fact tables</a:t>
            </a:r>
            <a:r>
              <a:rPr lang="en-IN" b="0" i="0" dirty="0">
                <a:effectLst/>
                <a:latin typeface="Nunito" pitchFamily="2" charset="0"/>
              </a:rPr>
              <a:t> that share common </a:t>
            </a:r>
            <a:r>
              <a:rPr lang="en-IN" b="0" i="0" dirty="0">
                <a:effectLst/>
                <a:latin typeface="Nunito" pitchFamily="2" charset="0"/>
                <a:hlinkClick r:id="rId6">
                  <a:extLst>
                    <a:ext uri="{A12FA001-AC4F-418D-AE19-62706E023703}">
                      <ahyp:hlinkClr xmlns:ahyp="http://schemas.microsoft.com/office/drawing/2018/hyperlinkcolor" val="tx"/>
                    </a:ext>
                  </a:extLst>
                </a:hlinkClick>
              </a:rPr>
              <a:t>dimensional tables</a:t>
            </a:r>
            <a:r>
              <a:rPr lang="en-IN" b="0" i="0" dirty="0">
                <a:effectLst/>
                <a:latin typeface="Nunito" pitchFamily="2" charset="0"/>
              </a:rPr>
              <a:t>.</a:t>
            </a:r>
          </a:p>
        </p:txBody>
      </p:sp>
      <p:sp>
        <p:nvSpPr>
          <p:cNvPr id="5" name="TextBox 4">
            <a:extLst>
              <a:ext uri="{FF2B5EF4-FFF2-40B4-BE49-F238E27FC236}">
                <a16:creationId xmlns:a16="http://schemas.microsoft.com/office/drawing/2014/main" id="{DB83F443-FABA-CAFD-8D1D-CA33372AB27D}"/>
              </a:ext>
            </a:extLst>
          </p:cNvPr>
          <p:cNvSpPr txBox="1"/>
          <p:nvPr/>
        </p:nvSpPr>
        <p:spPr>
          <a:xfrm>
            <a:off x="840827" y="3906266"/>
            <a:ext cx="10310649" cy="1985159"/>
          </a:xfrm>
          <a:prstGeom prst="rect">
            <a:avLst/>
          </a:prstGeom>
          <a:noFill/>
        </p:spPr>
        <p:txBody>
          <a:bodyPr wrap="square">
            <a:spAutoFit/>
          </a:bodyPr>
          <a:lstStyle/>
          <a:p>
            <a:pPr algn="l" fontAlgn="base">
              <a:spcAft>
                <a:spcPts val="1800"/>
              </a:spcAft>
              <a:buFont typeface="Arial" panose="020B0604020202020204" pitchFamily="34" charset="0"/>
              <a:buChar char="•"/>
            </a:pPr>
            <a:r>
              <a:rPr lang="en-IN" b="0" i="0" dirty="0">
                <a:effectLst/>
                <a:latin typeface="Nunito" pitchFamily="2" charset="0"/>
              </a:rPr>
              <a:t>This model is ideal for handling complex systems and large-scale analytical queries, offering flexibility for </a:t>
            </a:r>
            <a:r>
              <a:rPr lang="en-IN" b="0" i="0" u="sng" dirty="0">
                <a:effectLst/>
                <a:latin typeface="Nunito" pitchFamily="2" charset="0"/>
                <a:hlinkClick r:id="rId7">
                  <a:extLst>
                    <a:ext uri="{A12FA001-AC4F-418D-AE19-62706E023703}">
                      <ahyp:hlinkClr xmlns:ahyp="http://schemas.microsoft.com/office/drawing/2018/hyperlinkcolor" val="tx"/>
                    </a:ext>
                  </a:extLst>
                </a:hlinkClick>
              </a:rPr>
              <a:t>business intelligence</a:t>
            </a:r>
            <a:r>
              <a:rPr lang="en-IN" b="0" i="0" dirty="0">
                <a:effectLst/>
                <a:latin typeface="Nunito" pitchFamily="2" charset="0"/>
              </a:rPr>
              <a:t> and </a:t>
            </a:r>
            <a:r>
              <a:rPr lang="en-IN" b="0" i="0" u="sng" dirty="0">
                <a:effectLst/>
                <a:latin typeface="Nunito" pitchFamily="2" charset="0"/>
                <a:hlinkClick r:id="rId8">
                  <a:extLst>
                    <a:ext uri="{A12FA001-AC4F-418D-AE19-62706E023703}">
                      <ahyp:hlinkClr xmlns:ahyp="http://schemas.microsoft.com/office/drawing/2018/hyperlinkcolor" val="tx"/>
                    </a:ext>
                  </a:extLst>
                </a:hlinkClick>
              </a:rPr>
              <a:t>data mining</a:t>
            </a:r>
            <a:r>
              <a:rPr lang="en-IN" b="0" i="0" dirty="0">
                <a:effectLst/>
                <a:latin typeface="Nunito" pitchFamily="2" charset="0"/>
              </a:rPr>
              <a:t>.</a:t>
            </a:r>
          </a:p>
          <a:p>
            <a:pPr algn="l" fontAlgn="base">
              <a:spcAft>
                <a:spcPts val="1800"/>
              </a:spcAft>
              <a:buFont typeface="Arial" panose="020B0604020202020204" pitchFamily="34" charset="0"/>
              <a:buChar char="•"/>
            </a:pPr>
            <a:r>
              <a:rPr lang="en-IN" b="0" i="0" dirty="0">
                <a:effectLst/>
                <a:latin typeface="Nunito" pitchFamily="2" charset="0"/>
              </a:rPr>
              <a:t>The core components of the Fact Constellation Schema include Fact Tables and Dimension Tables. Fact tables store measurable, quantitative data, such as sales or revenue, while dimension tables store descriptive attributes like time, location, or product. These tables are interconnected, with multiple fact tables sharing the same dimension tables.</a:t>
            </a:r>
          </a:p>
        </p:txBody>
      </p:sp>
    </p:spTree>
    <p:extLst>
      <p:ext uri="{BB962C8B-B14F-4D97-AF65-F5344CB8AC3E}">
        <p14:creationId xmlns:p14="http://schemas.microsoft.com/office/powerpoint/2010/main" val="12956903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E449A-E5E3-1DFD-6C44-4F24A98C45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6E62A9-5E62-57C3-1056-D9F1E59DA8A4}"/>
              </a:ext>
            </a:extLst>
          </p:cNvPr>
          <p:cNvSpPr txBox="1"/>
          <p:nvPr/>
        </p:nvSpPr>
        <p:spPr>
          <a:xfrm>
            <a:off x="1074683" y="258294"/>
            <a:ext cx="8773510" cy="923330"/>
          </a:xfrm>
          <a:prstGeom prst="rect">
            <a:avLst/>
          </a:prstGeom>
          <a:noFill/>
        </p:spPr>
        <p:txBody>
          <a:bodyPr wrap="square">
            <a:spAutoFit/>
          </a:bodyPr>
          <a:lstStyle/>
          <a:p>
            <a:r>
              <a:rPr lang="en-IN" b="0" i="0" dirty="0">
                <a:effectLst/>
                <a:latin typeface="Nunito" pitchFamily="2" charset="0"/>
              </a:rPr>
              <a:t>Here, the pink </a:t>
            </a:r>
            <a:r>
              <a:rPr lang="en-IN" b="0" i="0" dirty="0" err="1">
                <a:effectLst/>
                <a:latin typeface="Nunito" pitchFamily="2" charset="0"/>
              </a:rPr>
              <a:t>colored</a:t>
            </a:r>
            <a:r>
              <a:rPr lang="en-IN" b="0" i="0" dirty="0">
                <a:effectLst/>
                <a:latin typeface="Nunito" pitchFamily="2" charset="0"/>
              </a:rPr>
              <a:t> Dimension tables are the common ones among both the star schemas. Green </a:t>
            </a:r>
            <a:r>
              <a:rPr lang="en-IN" b="0" i="0" dirty="0" err="1">
                <a:effectLst/>
                <a:latin typeface="Nunito" pitchFamily="2" charset="0"/>
              </a:rPr>
              <a:t>colored</a:t>
            </a:r>
            <a:r>
              <a:rPr lang="en-IN" b="0" i="0" dirty="0">
                <a:effectLst/>
                <a:latin typeface="Nunito" pitchFamily="2" charset="0"/>
              </a:rPr>
              <a:t> fact tables are the fact tables of their respective star schemas.</a:t>
            </a:r>
            <a:endParaRPr lang="en-IN" dirty="0"/>
          </a:p>
        </p:txBody>
      </p:sp>
      <p:pic>
        <p:nvPicPr>
          <p:cNvPr id="5" name="Picture 4">
            <a:extLst>
              <a:ext uri="{FF2B5EF4-FFF2-40B4-BE49-F238E27FC236}">
                <a16:creationId xmlns:a16="http://schemas.microsoft.com/office/drawing/2014/main" id="{4DF5B9DB-C701-7AC1-3E7B-A5DE7B1953F2}"/>
              </a:ext>
            </a:extLst>
          </p:cNvPr>
          <p:cNvPicPr>
            <a:picLocks noChangeAspect="1"/>
          </p:cNvPicPr>
          <p:nvPr/>
        </p:nvPicPr>
        <p:blipFill>
          <a:blip r:embed="rId2"/>
          <a:stretch>
            <a:fillRect/>
          </a:stretch>
        </p:blipFill>
        <p:spPr>
          <a:xfrm>
            <a:off x="675519" y="1314841"/>
            <a:ext cx="10840963" cy="3362794"/>
          </a:xfrm>
          <a:prstGeom prst="rect">
            <a:avLst/>
          </a:prstGeom>
        </p:spPr>
      </p:pic>
      <p:sp>
        <p:nvSpPr>
          <p:cNvPr id="7" name="TextBox 6">
            <a:extLst>
              <a:ext uri="{FF2B5EF4-FFF2-40B4-BE49-F238E27FC236}">
                <a16:creationId xmlns:a16="http://schemas.microsoft.com/office/drawing/2014/main" id="{5E44DCDC-8871-8C3E-F0AD-6AC003A82116}"/>
              </a:ext>
            </a:extLst>
          </p:cNvPr>
          <p:cNvSpPr txBox="1"/>
          <p:nvPr/>
        </p:nvSpPr>
        <p:spPr>
          <a:xfrm>
            <a:off x="675519" y="4889680"/>
            <a:ext cx="10840962" cy="1754326"/>
          </a:xfrm>
          <a:prstGeom prst="rect">
            <a:avLst/>
          </a:prstGeom>
          <a:noFill/>
        </p:spPr>
        <p:txBody>
          <a:bodyPr wrap="square">
            <a:spAutoFit/>
          </a:bodyPr>
          <a:lstStyle/>
          <a:p>
            <a:r>
              <a:rPr lang="en-IN" b="0" i="0" dirty="0">
                <a:effectLst/>
                <a:latin typeface="Nunito" pitchFamily="2" charset="0"/>
              </a:rPr>
              <a:t>In comparison to the Star Schema, which uses a single fact table and associated dimension tables, the Fact Constellation Schema is more complex and can handle various measures across multiple business areas. The Snowflake Schema is another variation where dimension tables are </a:t>
            </a:r>
            <a:r>
              <a:rPr lang="en-IN" b="0" i="0" u="sng" dirty="0">
                <a:effectLst/>
                <a:latin typeface="Nunito" pitchFamily="2" charset="0"/>
                <a:hlinkClick r:id="rId3">
                  <a:extLst>
                    <a:ext uri="{A12FA001-AC4F-418D-AE19-62706E023703}">
                      <ahyp:hlinkClr xmlns:ahyp="http://schemas.microsoft.com/office/drawing/2018/hyperlinkcolor" val="tx"/>
                    </a:ext>
                  </a:extLst>
                </a:hlinkClick>
              </a:rPr>
              <a:t>normalized</a:t>
            </a:r>
            <a:r>
              <a:rPr lang="en-IN" b="0" i="0" dirty="0">
                <a:effectLst/>
                <a:latin typeface="Nunito" pitchFamily="2" charset="0"/>
              </a:rPr>
              <a:t>. While the Snowflake Schema can be simpler to manage, the Fact Constellation Schema is better suited for organizations with more advanced data </a:t>
            </a:r>
            <a:r>
              <a:rPr lang="en-IN" b="0" i="0" dirty="0" err="1">
                <a:effectLst/>
                <a:latin typeface="Nunito" pitchFamily="2" charset="0"/>
              </a:rPr>
              <a:t>modeling</a:t>
            </a:r>
            <a:r>
              <a:rPr lang="en-IN" b="0" i="0" dirty="0">
                <a:effectLst/>
                <a:latin typeface="Nunito" pitchFamily="2" charset="0"/>
              </a:rPr>
              <a:t> needs, enabling sophisticated reporting and </a:t>
            </a:r>
            <a:r>
              <a:rPr lang="en-IN" b="0" i="0" u="sng" dirty="0">
                <a:effectLst/>
                <a:latin typeface="Nunito" pitchFamily="2" charset="0"/>
                <a:hlinkClick r:id="rId4">
                  <a:extLst>
                    <a:ext uri="{A12FA001-AC4F-418D-AE19-62706E023703}">
                      <ahyp:hlinkClr xmlns:ahyp="http://schemas.microsoft.com/office/drawing/2018/hyperlinkcolor" val="tx"/>
                    </a:ext>
                  </a:extLst>
                </a:hlinkClick>
              </a:rPr>
              <a:t>data analysis</a:t>
            </a:r>
            <a:r>
              <a:rPr lang="en-IN" b="0" i="0" dirty="0">
                <a:effectLst/>
                <a:latin typeface="Nunito" pitchFamily="2" charset="0"/>
              </a:rPr>
              <a:t> across multiple facts.</a:t>
            </a:r>
            <a:endParaRPr lang="en-IN" dirty="0"/>
          </a:p>
        </p:txBody>
      </p:sp>
    </p:spTree>
    <p:extLst>
      <p:ext uri="{BB962C8B-B14F-4D97-AF65-F5344CB8AC3E}">
        <p14:creationId xmlns:p14="http://schemas.microsoft.com/office/powerpoint/2010/main" val="5381201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DE7E3-85B7-03F1-8446-4AB6EA914C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16C6AF-FAD4-5C11-1943-EA85AAEEE2AE}"/>
              </a:ext>
            </a:extLst>
          </p:cNvPr>
          <p:cNvSpPr txBox="1"/>
          <p:nvPr/>
        </p:nvSpPr>
        <p:spPr>
          <a:xfrm>
            <a:off x="1064172" y="232935"/>
            <a:ext cx="9677399" cy="1302921"/>
          </a:xfrm>
          <a:prstGeom prst="rect">
            <a:avLst/>
          </a:prstGeom>
          <a:noFill/>
        </p:spPr>
        <p:txBody>
          <a:bodyPr wrap="square">
            <a:spAutoFit/>
          </a:bodyPr>
          <a:lstStyle/>
          <a:p>
            <a:pPr algn="l" rtl="0" fontAlgn="base">
              <a:spcAft>
                <a:spcPts val="750"/>
              </a:spcAft>
              <a:buNone/>
            </a:pPr>
            <a:r>
              <a:rPr lang="en-IN" b="1" i="0" dirty="0">
                <a:effectLst/>
                <a:latin typeface="Nunito" pitchFamily="2" charset="0"/>
              </a:rPr>
              <a:t>Example</a:t>
            </a:r>
            <a:endParaRPr lang="en-IN" b="0" i="0" dirty="0">
              <a:effectLst/>
              <a:latin typeface="Nunito" pitchFamily="2" charset="0"/>
            </a:endParaRPr>
          </a:p>
          <a:p>
            <a:pPr algn="l" rtl="0" fontAlgn="base">
              <a:spcAft>
                <a:spcPts val="750"/>
              </a:spcAft>
              <a:buNone/>
            </a:pPr>
            <a:r>
              <a:rPr lang="en-IN" b="0" i="0" dirty="0">
                <a:effectLst/>
                <a:latin typeface="Nunito" pitchFamily="2" charset="0"/>
              </a:rPr>
              <a:t>In the diagram below, we have two fact tables: Placement and Workshop, each associated with their own star schemas. These star schemas share common dimension tables, forming the Fact Constellation schema, also referred to as the Galaxy Schema.</a:t>
            </a:r>
          </a:p>
        </p:txBody>
      </p:sp>
      <p:pic>
        <p:nvPicPr>
          <p:cNvPr id="5" name="Picture 4">
            <a:extLst>
              <a:ext uri="{FF2B5EF4-FFF2-40B4-BE49-F238E27FC236}">
                <a16:creationId xmlns:a16="http://schemas.microsoft.com/office/drawing/2014/main" id="{3F085D11-3075-7B94-DE3C-FFBEC7F3B9F9}"/>
              </a:ext>
            </a:extLst>
          </p:cNvPr>
          <p:cNvPicPr>
            <a:picLocks noChangeAspect="1"/>
          </p:cNvPicPr>
          <p:nvPr/>
        </p:nvPicPr>
        <p:blipFill>
          <a:blip r:embed="rId2"/>
          <a:stretch>
            <a:fillRect/>
          </a:stretch>
        </p:blipFill>
        <p:spPr>
          <a:xfrm>
            <a:off x="972446" y="1535856"/>
            <a:ext cx="10688542" cy="5191850"/>
          </a:xfrm>
          <a:prstGeom prst="rect">
            <a:avLst/>
          </a:prstGeom>
        </p:spPr>
      </p:pic>
    </p:spTree>
    <p:extLst>
      <p:ext uri="{BB962C8B-B14F-4D97-AF65-F5344CB8AC3E}">
        <p14:creationId xmlns:p14="http://schemas.microsoft.com/office/powerpoint/2010/main" val="7214195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C2A2E-9EB3-5E01-BE7C-BB084EEE86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07E7CD-CE06-9C9F-4BAD-F801A0DA3137}"/>
              </a:ext>
            </a:extLst>
          </p:cNvPr>
          <p:cNvSpPr txBox="1"/>
          <p:nvPr/>
        </p:nvSpPr>
        <p:spPr>
          <a:xfrm>
            <a:off x="1389992" y="359457"/>
            <a:ext cx="8836573" cy="4873129"/>
          </a:xfrm>
          <a:prstGeom prst="rect">
            <a:avLst/>
          </a:prstGeom>
          <a:noFill/>
        </p:spPr>
        <p:txBody>
          <a:bodyPr wrap="square">
            <a:spAutoFit/>
          </a:bodyPr>
          <a:lstStyle/>
          <a:p>
            <a:pPr algn="l" rtl="0" fontAlgn="base">
              <a:spcAft>
                <a:spcPts val="750"/>
              </a:spcAft>
              <a:buNone/>
            </a:pPr>
            <a:r>
              <a:rPr lang="en-IN" b="1" i="0" dirty="0">
                <a:effectLst/>
                <a:latin typeface="Nunito" pitchFamily="2" charset="0"/>
              </a:rPr>
              <a:t>Fact Tables</a:t>
            </a:r>
            <a:endParaRPr lang="en-IN" b="0" i="0" dirty="0">
              <a:effectLst/>
              <a:latin typeface="Nunito" pitchFamily="2" charset="0"/>
            </a:endParaRPr>
          </a:p>
          <a:p>
            <a:pPr algn="l" fontAlgn="base">
              <a:spcAft>
                <a:spcPts val="1800"/>
              </a:spcAft>
              <a:buFont typeface="Arial" panose="020B0604020202020204" pitchFamily="34" charset="0"/>
              <a:buChar char="•"/>
            </a:pPr>
            <a:r>
              <a:rPr lang="en-IN" b="1" i="0" dirty="0">
                <a:effectLst/>
                <a:latin typeface="Nunito" pitchFamily="2" charset="0"/>
              </a:rPr>
              <a:t>Placement:</a:t>
            </a:r>
            <a:endParaRPr lang="en-IN" b="0" i="0" dirty="0">
              <a:effectLst/>
              <a:latin typeface="Nunito" pitchFamily="2" charset="0"/>
            </a:endParaRPr>
          </a:p>
          <a:p>
            <a:pPr marL="742950" lvl="1" indent="-285750" algn="l" fontAlgn="base">
              <a:spcBef>
                <a:spcPts val="375"/>
              </a:spcBef>
              <a:spcAft>
                <a:spcPts val="375"/>
              </a:spcAft>
              <a:buFont typeface="Arial" panose="020B0604020202020204" pitchFamily="34" charset="0"/>
              <a:buChar char="•"/>
            </a:pPr>
            <a:r>
              <a:rPr lang="en-IN" b="0" i="0" dirty="0">
                <a:effectLst/>
                <a:latin typeface="Nunito" pitchFamily="2" charset="0"/>
              </a:rPr>
              <a:t>Attributes: (</a:t>
            </a:r>
            <a:r>
              <a:rPr lang="en-IN" b="0" i="0" dirty="0" err="1">
                <a:effectLst/>
                <a:latin typeface="Nunito" pitchFamily="2" charset="0"/>
              </a:rPr>
              <a:t>Stud_roll</a:t>
            </a:r>
            <a:r>
              <a:rPr lang="en-IN" b="0" i="0" dirty="0">
                <a:effectLst/>
                <a:latin typeface="Nunito" pitchFamily="2" charset="0"/>
              </a:rPr>
              <a:t>, </a:t>
            </a:r>
            <a:r>
              <a:rPr lang="en-IN" b="0" i="0" dirty="0" err="1">
                <a:effectLst/>
                <a:latin typeface="Nunito" pitchFamily="2" charset="0"/>
              </a:rPr>
              <a:t>Company_id</a:t>
            </a:r>
            <a:r>
              <a:rPr lang="en-IN" b="0" i="0" dirty="0">
                <a:effectLst/>
                <a:latin typeface="Nunito" pitchFamily="2" charset="0"/>
              </a:rPr>
              <a:t>, </a:t>
            </a:r>
            <a:r>
              <a:rPr lang="en-IN" b="0" i="0" dirty="0" err="1">
                <a:effectLst/>
                <a:latin typeface="Nunito" pitchFamily="2" charset="0"/>
              </a:rPr>
              <a:t>TPO_id</a:t>
            </a:r>
            <a:r>
              <a:rPr lang="en-IN" b="0" i="0" dirty="0">
                <a:effectLst/>
                <a:latin typeface="Nunito" pitchFamily="2" charset="0"/>
              </a:rPr>
              <a:t>)</a:t>
            </a:r>
          </a:p>
          <a:p>
            <a:pPr marL="742950" lvl="1" indent="-285750" algn="l" fontAlgn="base">
              <a:spcBef>
                <a:spcPts val="375"/>
              </a:spcBef>
              <a:spcAft>
                <a:spcPts val="375"/>
              </a:spcAft>
              <a:buFont typeface="Arial" panose="020B0604020202020204" pitchFamily="34" charset="0"/>
              <a:buChar char="•"/>
            </a:pPr>
            <a:r>
              <a:rPr lang="en-IN" b="0" i="0" dirty="0">
                <a:effectLst/>
                <a:latin typeface="Nunito" pitchFamily="2" charset="0"/>
              </a:rPr>
              <a:t>Facts: (Number of students eligible, Number of students placed)</a:t>
            </a:r>
          </a:p>
          <a:p>
            <a:pPr algn="l" rtl="0" fontAlgn="base">
              <a:spcAft>
                <a:spcPts val="750"/>
              </a:spcAft>
              <a:buNone/>
            </a:pPr>
            <a:r>
              <a:rPr lang="en-IN" b="0" i="0" dirty="0">
                <a:effectLst/>
                <a:latin typeface="Nunito" pitchFamily="2" charset="0"/>
              </a:rPr>
              <a:t>The Placement fact table records data related to student placements. It connects to the </a:t>
            </a:r>
            <a:r>
              <a:rPr lang="en-IN" b="1" i="0" dirty="0">
                <a:effectLst/>
                <a:latin typeface="Nunito" pitchFamily="2" charset="0"/>
              </a:rPr>
              <a:t>Company</a:t>
            </a:r>
            <a:r>
              <a:rPr lang="en-IN" b="0" i="0" dirty="0">
                <a:effectLst/>
                <a:latin typeface="Nunito" pitchFamily="2" charset="0"/>
              </a:rPr>
              <a:t>, </a:t>
            </a:r>
            <a:r>
              <a:rPr lang="en-IN" b="1" i="0" dirty="0">
                <a:effectLst/>
                <a:latin typeface="Nunito" pitchFamily="2" charset="0"/>
              </a:rPr>
              <a:t>Student</a:t>
            </a:r>
            <a:r>
              <a:rPr lang="en-IN" b="0" i="0" dirty="0">
                <a:effectLst/>
                <a:latin typeface="Nunito" pitchFamily="2" charset="0"/>
              </a:rPr>
              <a:t>, and </a:t>
            </a:r>
            <a:r>
              <a:rPr lang="en-IN" b="1" i="0" dirty="0">
                <a:effectLst/>
                <a:latin typeface="Nunito" pitchFamily="2" charset="0"/>
              </a:rPr>
              <a:t>TPO</a:t>
            </a:r>
            <a:r>
              <a:rPr lang="en-IN" b="0" i="0" dirty="0">
                <a:effectLst/>
                <a:latin typeface="Nunito" pitchFamily="2" charset="0"/>
              </a:rPr>
              <a:t> dimension tables.</a:t>
            </a:r>
          </a:p>
          <a:p>
            <a:pPr algn="l" rtl="0" fontAlgn="base">
              <a:spcAft>
                <a:spcPts val="750"/>
              </a:spcAft>
              <a:buNone/>
            </a:pPr>
            <a:endParaRPr lang="en-IN" b="0" i="0" dirty="0">
              <a:effectLst/>
              <a:latin typeface="Nunito" pitchFamily="2" charset="0"/>
            </a:endParaRPr>
          </a:p>
          <a:p>
            <a:pPr algn="l" fontAlgn="base">
              <a:spcAft>
                <a:spcPts val="1800"/>
              </a:spcAft>
              <a:buFont typeface="Arial" panose="020B0604020202020204" pitchFamily="34" charset="0"/>
              <a:buChar char="•"/>
            </a:pPr>
            <a:r>
              <a:rPr lang="en-IN" b="1" i="0" dirty="0">
                <a:effectLst/>
                <a:latin typeface="Nunito" pitchFamily="2" charset="0"/>
              </a:rPr>
              <a:t>Workshop:</a:t>
            </a:r>
            <a:endParaRPr lang="en-IN" b="0" i="0" dirty="0">
              <a:effectLst/>
              <a:latin typeface="Nunito" pitchFamily="2" charset="0"/>
            </a:endParaRPr>
          </a:p>
          <a:p>
            <a:pPr marL="742950" lvl="1" indent="-285750" algn="l" fontAlgn="base">
              <a:spcBef>
                <a:spcPts val="375"/>
              </a:spcBef>
              <a:spcAft>
                <a:spcPts val="375"/>
              </a:spcAft>
              <a:buFont typeface="Arial" panose="020B0604020202020204" pitchFamily="34" charset="0"/>
              <a:buChar char="•"/>
            </a:pPr>
            <a:r>
              <a:rPr lang="en-IN" b="0" i="0" dirty="0">
                <a:effectLst/>
                <a:latin typeface="Nunito" pitchFamily="2" charset="0"/>
              </a:rPr>
              <a:t>Attributes: (</a:t>
            </a:r>
            <a:r>
              <a:rPr lang="en-IN" b="0" i="0" dirty="0" err="1">
                <a:effectLst/>
                <a:latin typeface="Nunito" pitchFamily="2" charset="0"/>
              </a:rPr>
              <a:t>Stud_roll</a:t>
            </a:r>
            <a:r>
              <a:rPr lang="en-IN" b="0" i="0" dirty="0">
                <a:effectLst/>
                <a:latin typeface="Nunito" pitchFamily="2" charset="0"/>
              </a:rPr>
              <a:t>, </a:t>
            </a:r>
            <a:r>
              <a:rPr lang="en-IN" b="0" i="0" dirty="0" err="1">
                <a:effectLst/>
                <a:latin typeface="Nunito" pitchFamily="2" charset="0"/>
              </a:rPr>
              <a:t>Institute_id</a:t>
            </a:r>
            <a:r>
              <a:rPr lang="en-IN" b="0" i="0" dirty="0">
                <a:effectLst/>
                <a:latin typeface="Nunito" pitchFamily="2" charset="0"/>
              </a:rPr>
              <a:t>, </a:t>
            </a:r>
            <a:r>
              <a:rPr lang="en-IN" b="0" i="0" dirty="0" err="1">
                <a:effectLst/>
                <a:latin typeface="Nunito" pitchFamily="2" charset="0"/>
              </a:rPr>
              <a:t>TPO_id</a:t>
            </a:r>
            <a:r>
              <a:rPr lang="en-IN" b="0" i="0" dirty="0">
                <a:effectLst/>
                <a:latin typeface="Nunito" pitchFamily="2" charset="0"/>
              </a:rPr>
              <a:t>)</a:t>
            </a:r>
          </a:p>
          <a:p>
            <a:pPr marL="742950" lvl="1" indent="-285750" algn="l" fontAlgn="base">
              <a:spcBef>
                <a:spcPts val="375"/>
              </a:spcBef>
              <a:spcAft>
                <a:spcPts val="375"/>
              </a:spcAft>
              <a:buFont typeface="Arial" panose="020B0604020202020204" pitchFamily="34" charset="0"/>
              <a:buChar char="•"/>
            </a:pPr>
            <a:r>
              <a:rPr lang="en-IN" b="0" i="0" dirty="0">
                <a:effectLst/>
                <a:latin typeface="Nunito" pitchFamily="2" charset="0"/>
              </a:rPr>
              <a:t>Facts: (Number of students selected, Number of students attended)</a:t>
            </a:r>
          </a:p>
          <a:p>
            <a:pPr algn="l" rtl="0" fontAlgn="base">
              <a:spcAft>
                <a:spcPts val="750"/>
              </a:spcAft>
              <a:buNone/>
            </a:pPr>
            <a:r>
              <a:rPr lang="en-IN" b="0" i="0" dirty="0">
                <a:effectLst/>
                <a:latin typeface="Nunito" pitchFamily="2" charset="0"/>
              </a:rPr>
              <a:t>The Workshop fact table captures information related to workshops attended by students. It is connected to the Student, TPO, and Training Institute dimension tables.</a:t>
            </a:r>
          </a:p>
        </p:txBody>
      </p:sp>
    </p:spTree>
    <p:extLst>
      <p:ext uri="{BB962C8B-B14F-4D97-AF65-F5344CB8AC3E}">
        <p14:creationId xmlns:p14="http://schemas.microsoft.com/office/powerpoint/2010/main" val="16938635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2F608-EC18-43BF-D05A-EC267CCF0D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0CA227-DA26-62FC-5ADE-2FD32CE59DBB}"/>
              </a:ext>
            </a:extLst>
          </p:cNvPr>
          <p:cNvSpPr txBox="1"/>
          <p:nvPr/>
        </p:nvSpPr>
        <p:spPr>
          <a:xfrm>
            <a:off x="872360" y="569273"/>
            <a:ext cx="10741572" cy="4821833"/>
          </a:xfrm>
          <a:prstGeom prst="rect">
            <a:avLst/>
          </a:prstGeom>
          <a:noFill/>
        </p:spPr>
        <p:txBody>
          <a:bodyPr wrap="square">
            <a:spAutoFit/>
          </a:bodyPr>
          <a:lstStyle/>
          <a:p>
            <a:pPr algn="l" rtl="0" fontAlgn="base">
              <a:spcAft>
                <a:spcPts val="750"/>
              </a:spcAft>
              <a:buNone/>
            </a:pPr>
            <a:r>
              <a:rPr lang="en-IN" b="1" i="0" dirty="0">
                <a:effectLst/>
                <a:latin typeface="Nunito" pitchFamily="2" charset="0"/>
              </a:rPr>
              <a:t>Dimension Tables</a:t>
            </a:r>
            <a:endParaRPr lang="en-IN" b="0" i="0" dirty="0">
              <a:effectLst/>
              <a:latin typeface="Nunito" pitchFamily="2" charset="0"/>
            </a:endParaRPr>
          </a:p>
          <a:p>
            <a:pPr algn="l" fontAlgn="base">
              <a:spcAft>
                <a:spcPts val="1800"/>
              </a:spcAft>
              <a:buFont typeface="Arial" panose="020B0604020202020204" pitchFamily="34" charset="0"/>
              <a:buChar char="•"/>
            </a:pPr>
            <a:r>
              <a:rPr lang="en-IN" b="1" i="0" dirty="0">
                <a:effectLst/>
                <a:latin typeface="Nunito" pitchFamily="2" charset="0"/>
              </a:rPr>
              <a:t>Company:</a:t>
            </a:r>
            <a:r>
              <a:rPr lang="en-IN" b="0" i="0" dirty="0">
                <a:effectLst/>
                <a:latin typeface="Nunito" pitchFamily="2" charset="0"/>
              </a:rPr>
              <a:t> Contains attributes like (</a:t>
            </a:r>
            <a:r>
              <a:rPr lang="en-IN" b="0" i="0" dirty="0" err="1">
                <a:effectLst/>
                <a:latin typeface="Nunito" pitchFamily="2" charset="0"/>
              </a:rPr>
              <a:t>Company_id</a:t>
            </a:r>
            <a:r>
              <a:rPr lang="en-IN" b="0" i="0" dirty="0">
                <a:effectLst/>
                <a:latin typeface="Nunito" pitchFamily="2" charset="0"/>
              </a:rPr>
              <a:t>, Name, </a:t>
            </a:r>
            <a:r>
              <a:rPr lang="en-IN" b="0" i="0" dirty="0" err="1">
                <a:effectLst/>
                <a:latin typeface="Nunito" pitchFamily="2" charset="0"/>
              </a:rPr>
              <a:t>Offer_package</a:t>
            </a:r>
            <a:r>
              <a:rPr lang="en-IN" b="0" i="0" dirty="0">
                <a:effectLst/>
                <a:latin typeface="Nunito" pitchFamily="2" charset="0"/>
              </a:rPr>
              <a:t>).</a:t>
            </a:r>
          </a:p>
          <a:p>
            <a:pPr algn="l" fontAlgn="base">
              <a:spcAft>
                <a:spcPts val="1800"/>
              </a:spcAft>
              <a:buFont typeface="Arial" panose="020B0604020202020204" pitchFamily="34" charset="0"/>
              <a:buChar char="•"/>
            </a:pPr>
            <a:r>
              <a:rPr lang="en-IN" b="1" i="0" dirty="0">
                <a:effectLst/>
                <a:latin typeface="Nunito" pitchFamily="2" charset="0"/>
              </a:rPr>
              <a:t>Student:</a:t>
            </a:r>
            <a:r>
              <a:rPr lang="en-IN" b="0" i="0" dirty="0">
                <a:effectLst/>
                <a:latin typeface="Nunito" pitchFamily="2" charset="0"/>
              </a:rPr>
              <a:t> Contains attributes like (</a:t>
            </a:r>
            <a:r>
              <a:rPr lang="en-IN" b="0" i="0" dirty="0" err="1">
                <a:effectLst/>
                <a:latin typeface="Nunito" pitchFamily="2" charset="0"/>
              </a:rPr>
              <a:t>Stud_roll</a:t>
            </a:r>
            <a:r>
              <a:rPr lang="en-IN" b="0" i="0" dirty="0">
                <a:effectLst/>
                <a:latin typeface="Nunito" pitchFamily="2" charset="0"/>
              </a:rPr>
              <a:t>, Name, CGPA).</a:t>
            </a:r>
          </a:p>
          <a:p>
            <a:pPr algn="l" fontAlgn="base">
              <a:spcAft>
                <a:spcPts val="1800"/>
              </a:spcAft>
              <a:buFont typeface="Arial" panose="020B0604020202020204" pitchFamily="34" charset="0"/>
              <a:buChar char="•"/>
            </a:pPr>
            <a:r>
              <a:rPr lang="en-IN" b="1" i="0" dirty="0">
                <a:effectLst/>
                <a:latin typeface="Nunito" pitchFamily="2" charset="0"/>
              </a:rPr>
              <a:t>TPO (Training and Placement Officer):</a:t>
            </a:r>
            <a:r>
              <a:rPr lang="en-IN" b="0" i="0" dirty="0">
                <a:effectLst/>
                <a:latin typeface="Nunito" pitchFamily="2" charset="0"/>
              </a:rPr>
              <a:t> Contains attributes like (</a:t>
            </a:r>
            <a:r>
              <a:rPr lang="en-IN" b="0" i="0" dirty="0" err="1">
                <a:effectLst/>
                <a:latin typeface="Nunito" pitchFamily="2" charset="0"/>
              </a:rPr>
              <a:t>TPO_id</a:t>
            </a:r>
            <a:r>
              <a:rPr lang="en-IN" b="0" i="0" dirty="0">
                <a:effectLst/>
                <a:latin typeface="Nunito" pitchFamily="2" charset="0"/>
              </a:rPr>
              <a:t>, Name, Age).</a:t>
            </a:r>
          </a:p>
          <a:p>
            <a:pPr algn="l" fontAlgn="base">
              <a:spcAft>
                <a:spcPts val="1800"/>
              </a:spcAft>
              <a:buFont typeface="Arial" panose="020B0604020202020204" pitchFamily="34" charset="0"/>
              <a:buChar char="•"/>
            </a:pPr>
            <a:r>
              <a:rPr lang="en-IN" b="1" i="0" dirty="0">
                <a:effectLst/>
                <a:latin typeface="Nunito" pitchFamily="2" charset="0"/>
              </a:rPr>
              <a:t>Training Institute:</a:t>
            </a:r>
            <a:r>
              <a:rPr lang="en-IN" b="0" i="0" dirty="0">
                <a:effectLst/>
                <a:latin typeface="Nunito" pitchFamily="2" charset="0"/>
              </a:rPr>
              <a:t> Contains attributes like (</a:t>
            </a:r>
            <a:r>
              <a:rPr lang="en-IN" b="0" i="0" dirty="0" err="1">
                <a:effectLst/>
                <a:latin typeface="Nunito" pitchFamily="2" charset="0"/>
              </a:rPr>
              <a:t>Institute_id</a:t>
            </a:r>
            <a:r>
              <a:rPr lang="en-IN" b="0" i="0" dirty="0">
                <a:effectLst/>
                <a:latin typeface="Nunito" pitchFamily="2" charset="0"/>
              </a:rPr>
              <a:t>, Name, </a:t>
            </a:r>
            <a:r>
              <a:rPr lang="en-IN" b="0" i="0" dirty="0" err="1">
                <a:effectLst/>
                <a:latin typeface="Nunito" pitchFamily="2" charset="0"/>
              </a:rPr>
              <a:t>Full_course_fee</a:t>
            </a:r>
            <a:r>
              <a:rPr lang="en-IN" b="0" i="0" dirty="0">
                <a:effectLst/>
                <a:latin typeface="Nunito" pitchFamily="2" charset="0"/>
              </a:rPr>
              <a:t>).</a:t>
            </a:r>
          </a:p>
          <a:p>
            <a:pPr algn="just" rtl="0" fontAlgn="base">
              <a:spcAft>
                <a:spcPts val="750"/>
              </a:spcAft>
              <a:buNone/>
            </a:pPr>
            <a:r>
              <a:rPr lang="en-IN" b="0" i="0" dirty="0">
                <a:effectLst/>
                <a:latin typeface="Nunito" pitchFamily="2" charset="0"/>
              </a:rPr>
              <a:t>The Placement fact table connects to the Company, Student, and TPO dimension tables, forming a star schema. The Workshop fact table connects to the Student, TPO, and Training Institute dimension tables, forming another star schema. Both star schemas share the Student and TPO dimension tables, thus combining into a Fact Constellation Schema.</a:t>
            </a:r>
          </a:p>
          <a:p>
            <a:pPr algn="just" rtl="0" fontAlgn="base">
              <a:spcAft>
                <a:spcPts val="750"/>
              </a:spcAft>
              <a:buNone/>
            </a:pPr>
            <a:r>
              <a:rPr lang="en-IN" b="0" i="0" dirty="0">
                <a:effectLst/>
                <a:latin typeface="Nunito" pitchFamily="2" charset="0"/>
              </a:rPr>
              <a:t>This structure allows for complex analysis across different aspects of the student data, such as placement and workshop participation, using shared dimensions. The fact tables (Placement and Workshop) represent different business processes, and by sharing common dimensions (like Student and TPO), this schema offers a powerful way to </a:t>
            </a:r>
            <a:r>
              <a:rPr lang="en-IN" b="0" i="0" dirty="0" err="1">
                <a:effectLst/>
                <a:latin typeface="Nunito" pitchFamily="2" charset="0"/>
              </a:rPr>
              <a:t>analyze</a:t>
            </a:r>
            <a:r>
              <a:rPr lang="en-IN" b="0" i="0" dirty="0">
                <a:effectLst/>
                <a:latin typeface="Nunito" pitchFamily="2" charset="0"/>
              </a:rPr>
              <a:t> and process data in a data warehouse.</a:t>
            </a:r>
          </a:p>
        </p:txBody>
      </p:sp>
    </p:spTree>
    <p:extLst>
      <p:ext uri="{BB962C8B-B14F-4D97-AF65-F5344CB8AC3E}">
        <p14:creationId xmlns:p14="http://schemas.microsoft.com/office/powerpoint/2010/main" val="14112088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7EC5A-5B03-2BAA-D84B-9EDC394E37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DE0E46-F217-0E7B-8FB1-5E4668518053}"/>
              </a:ext>
            </a:extLst>
          </p:cNvPr>
          <p:cNvSpPr txBox="1"/>
          <p:nvPr/>
        </p:nvSpPr>
        <p:spPr>
          <a:xfrm>
            <a:off x="872359" y="460109"/>
            <a:ext cx="10174013" cy="5155257"/>
          </a:xfrm>
          <a:prstGeom prst="rect">
            <a:avLst/>
          </a:prstGeom>
          <a:noFill/>
        </p:spPr>
        <p:txBody>
          <a:bodyPr wrap="square">
            <a:spAutoFit/>
          </a:bodyPr>
          <a:lstStyle/>
          <a:p>
            <a:pPr algn="l" fontAlgn="base">
              <a:lnSpc>
                <a:spcPts val="2100"/>
              </a:lnSpc>
              <a:buNone/>
            </a:pPr>
            <a:r>
              <a:rPr lang="en-IN" sz="2400" b="1" i="0" u="sng" dirty="0">
                <a:effectLst/>
                <a:latin typeface="Nunito" pitchFamily="2" charset="0"/>
              </a:rPr>
              <a:t>Benefits of Fact Constellation</a:t>
            </a:r>
          </a:p>
          <a:p>
            <a:pPr algn="l" fontAlgn="base">
              <a:lnSpc>
                <a:spcPts val="2100"/>
              </a:lnSpc>
              <a:buNone/>
            </a:pPr>
            <a:endParaRPr lang="en-IN" sz="2400" b="1" i="0" u="sng" dirty="0">
              <a:effectLst/>
              <a:latin typeface="Nunito" pitchFamily="2" charset="0"/>
            </a:endParaRPr>
          </a:p>
          <a:p>
            <a:pPr algn="l" fontAlgn="base">
              <a:spcAft>
                <a:spcPts val="1800"/>
              </a:spcAft>
              <a:buFont typeface="Arial" panose="020B0604020202020204" pitchFamily="34" charset="0"/>
              <a:buChar char="•"/>
            </a:pPr>
            <a:r>
              <a:rPr lang="en-IN" b="1" i="0" dirty="0">
                <a:effectLst/>
                <a:latin typeface="Nunito" pitchFamily="2" charset="0"/>
              </a:rPr>
              <a:t>Enhanced Query Performance:</a:t>
            </a:r>
            <a:r>
              <a:rPr lang="en-IN" b="0" i="0" dirty="0">
                <a:effectLst/>
                <a:latin typeface="Nunito" pitchFamily="2" charset="0"/>
              </a:rPr>
              <a:t> Fact Constellation improves query performance by organizing multiple fact tables around shared dimensions, reducing query complexity and minimizing the need for large joins, thus speeding up data retrieval.</a:t>
            </a:r>
          </a:p>
          <a:p>
            <a:pPr algn="l" fontAlgn="base">
              <a:spcAft>
                <a:spcPts val="1800"/>
              </a:spcAft>
              <a:buFont typeface="Arial" panose="020B0604020202020204" pitchFamily="34" charset="0"/>
              <a:buChar char="•"/>
            </a:pPr>
            <a:r>
              <a:rPr lang="en-IN" b="1" i="0" dirty="0">
                <a:effectLst/>
                <a:latin typeface="Nunito" pitchFamily="2" charset="0"/>
              </a:rPr>
              <a:t>Flexibility in Reporting and Analysis:</a:t>
            </a:r>
            <a:r>
              <a:rPr lang="en-IN" b="0" i="0" dirty="0">
                <a:effectLst/>
                <a:latin typeface="Nunito" pitchFamily="2" charset="0"/>
              </a:rPr>
              <a:t> It offers flexibility in reporting by connecting multiple fact tables to common dimensions, allowing dynamic and customizable aggregation of data across different business metrics.</a:t>
            </a:r>
          </a:p>
          <a:p>
            <a:pPr algn="l" fontAlgn="base">
              <a:spcAft>
                <a:spcPts val="1800"/>
              </a:spcAft>
              <a:buFont typeface="Arial" panose="020B0604020202020204" pitchFamily="34" charset="0"/>
              <a:buChar char="•"/>
            </a:pPr>
            <a:r>
              <a:rPr lang="en-IN" b="1" i="0" dirty="0">
                <a:effectLst/>
                <a:latin typeface="Nunito" pitchFamily="2" charset="0"/>
              </a:rPr>
              <a:t>Improved Scalability:</a:t>
            </a:r>
            <a:r>
              <a:rPr lang="en-IN" b="0" i="0" dirty="0">
                <a:effectLst/>
                <a:latin typeface="Nunito" pitchFamily="2" charset="0"/>
              </a:rPr>
              <a:t> Fact Constellation efficiently handles large datasets by distributing data across fact tables and shared dimensions, ensuring scalability as data volumes grow.</a:t>
            </a:r>
          </a:p>
          <a:p>
            <a:pPr algn="l" fontAlgn="base">
              <a:spcAft>
                <a:spcPts val="1800"/>
              </a:spcAft>
              <a:buFont typeface="Arial" panose="020B0604020202020204" pitchFamily="34" charset="0"/>
              <a:buChar char="•"/>
            </a:pPr>
            <a:r>
              <a:rPr lang="en-IN" b="1" i="0" dirty="0">
                <a:effectLst/>
                <a:latin typeface="Nunito" pitchFamily="2" charset="0"/>
              </a:rPr>
              <a:t>Simplified Data Management:</a:t>
            </a:r>
            <a:r>
              <a:rPr lang="en-IN" b="0" i="0" dirty="0">
                <a:effectLst/>
                <a:latin typeface="Nunito" pitchFamily="2" charset="0"/>
              </a:rPr>
              <a:t> Its modular approach supports data partitioning, simplifying maintenance and optimizing storage, while allowing easy updates without disrupting the data model.</a:t>
            </a:r>
          </a:p>
          <a:p>
            <a:pPr algn="l" fontAlgn="base">
              <a:spcAft>
                <a:spcPts val="1800"/>
              </a:spcAft>
              <a:buFont typeface="Arial" panose="020B0604020202020204" pitchFamily="34" charset="0"/>
              <a:buChar char="•"/>
            </a:pPr>
            <a:r>
              <a:rPr lang="en-IN" b="1" i="0" dirty="0">
                <a:effectLst/>
                <a:latin typeface="Nunito" pitchFamily="2" charset="0"/>
              </a:rPr>
              <a:t>Enhanced Data Consistency:</a:t>
            </a:r>
            <a:r>
              <a:rPr lang="en-IN" b="0" i="0" dirty="0">
                <a:effectLst/>
                <a:latin typeface="Nunito" pitchFamily="2" charset="0"/>
              </a:rPr>
              <a:t> By sharing common dimensions, Fact Constellation ensures data consistency across the warehouse, reducing duplication and conflicts, which enhances reporting</a:t>
            </a:r>
          </a:p>
        </p:txBody>
      </p:sp>
    </p:spTree>
    <p:extLst>
      <p:ext uri="{BB962C8B-B14F-4D97-AF65-F5344CB8AC3E}">
        <p14:creationId xmlns:p14="http://schemas.microsoft.com/office/powerpoint/2010/main" val="28103095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1F031-B6C5-EF7C-8EDD-972EFDE8FE91}"/>
            </a:ext>
          </a:extLst>
        </p:cNvPr>
        <p:cNvGrpSpPr/>
        <p:nvPr/>
      </p:nvGrpSpPr>
      <p:grpSpPr>
        <a:xfrm>
          <a:off x="0" y="0"/>
          <a:ext cx="0" cy="0"/>
          <a:chOff x="0" y="0"/>
          <a:chExt cx="0" cy="0"/>
        </a:xfrm>
      </p:grpSpPr>
    </p:spTree>
    <p:extLst>
      <p:ext uri="{BB962C8B-B14F-4D97-AF65-F5344CB8AC3E}">
        <p14:creationId xmlns:p14="http://schemas.microsoft.com/office/powerpoint/2010/main" val="148749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F0DB-6B74-6A8C-C37C-20A5630C1255}"/>
            </a:ext>
          </a:extLst>
        </p:cNvPr>
        <p:cNvGrpSpPr/>
        <p:nvPr/>
      </p:nvGrpSpPr>
      <p:grpSpPr>
        <a:xfrm>
          <a:off x="0" y="0"/>
          <a:ext cx="0" cy="0"/>
          <a:chOff x="0" y="0"/>
          <a:chExt cx="0" cy="0"/>
        </a:xfrm>
      </p:grpSpPr>
    </p:spTree>
    <p:extLst>
      <p:ext uri="{BB962C8B-B14F-4D97-AF65-F5344CB8AC3E}">
        <p14:creationId xmlns:p14="http://schemas.microsoft.com/office/powerpoint/2010/main" val="27081694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BFEA1-997A-AA94-7415-1DA068B9973E}"/>
            </a:ext>
          </a:extLst>
        </p:cNvPr>
        <p:cNvGrpSpPr/>
        <p:nvPr/>
      </p:nvGrpSpPr>
      <p:grpSpPr>
        <a:xfrm>
          <a:off x="0" y="0"/>
          <a:ext cx="0" cy="0"/>
          <a:chOff x="0" y="0"/>
          <a:chExt cx="0" cy="0"/>
        </a:xfrm>
      </p:grpSpPr>
    </p:spTree>
    <p:extLst>
      <p:ext uri="{BB962C8B-B14F-4D97-AF65-F5344CB8AC3E}">
        <p14:creationId xmlns:p14="http://schemas.microsoft.com/office/powerpoint/2010/main" val="35765336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3A091-0429-8827-EFF6-B4A3430250C3}"/>
            </a:ext>
          </a:extLst>
        </p:cNvPr>
        <p:cNvGrpSpPr/>
        <p:nvPr/>
      </p:nvGrpSpPr>
      <p:grpSpPr>
        <a:xfrm>
          <a:off x="0" y="0"/>
          <a:ext cx="0" cy="0"/>
          <a:chOff x="0" y="0"/>
          <a:chExt cx="0" cy="0"/>
        </a:xfrm>
      </p:grpSpPr>
    </p:spTree>
    <p:extLst>
      <p:ext uri="{BB962C8B-B14F-4D97-AF65-F5344CB8AC3E}">
        <p14:creationId xmlns:p14="http://schemas.microsoft.com/office/powerpoint/2010/main" val="21140055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455E-81B4-192E-A1E0-113C3F5F4371}"/>
            </a:ext>
          </a:extLst>
        </p:cNvPr>
        <p:cNvGrpSpPr/>
        <p:nvPr/>
      </p:nvGrpSpPr>
      <p:grpSpPr>
        <a:xfrm>
          <a:off x="0" y="0"/>
          <a:ext cx="0" cy="0"/>
          <a:chOff x="0" y="0"/>
          <a:chExt cx="0" cy="0"/>
        </a:xfrm>
      </p:grpSpPr>
    </p:spTree>
    <p:extLst>
      <p:ext uri="{BB962C8B-B14F-4D97-AF65-F5344CB8AC3E}">
        <p14:creationId xmlns:p14="http://schemas.microsoft.com/office/powerpoint/2010/main" val="343127938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DF44-4768-9986-BC10-0ABA8653356F}"/>
            </a:ext>
          </a:extLst>
        </p:cNvPr>
        <p:cNvGrpSpPr/>
        <p:nvPr/>
      </p:nvGrpSpPr>
      <p:grpSpPr>
        <a:xfrm>
          <a:off x="0" y="0"/>
          <a:ext cx="0" cy="0"/>
          <a:chOff x="0" y="0"/>
          <a:chExt cx="0" cy="0"/>
        </a:xfrm>
      </p:grpSpPr>
    </p:spTree>
    <p:extLst>
      <p:ext uri="{BB962C8B-B14F-4D97-AF65-F5344CB8AC3E}">
        <p14:creationId xmlns:p14="http://schemas.microsoft.com/office/powerpoint/2010/main" val="21542702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9344-6256-CC7E-86C6-ED9EF5CC713F}"/>
            </a:ext>
          </a:extLst>
        </p:cNvPr>
        <p:cNvGrpSpPr/>
        <p:nvPr/>
      </p:nvGrpSpPr>
      <p:grpSpPr>
        <a:xfrm>
          <a:off x="0" y="0"/>
          <a:ext cx="0" cy="0"/>
          <a:chOff x="0" y="0"/>
          <a:chExt cx="0" cy="0"/>
        </a:xfrm>
      </p:grpSpPr>
    </p:spTree>
    <p:extLst>
      <p:ext uri="{BB962C8B-B14F-4D97-AF65-F5344CB8AC3E}">
        <p14:creationId xmlns:p14="http://schemas.microsoft.com/office/powerpoint/2010/main" val="31356872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75B0D-EF59-4786-C8F0-EB5C85FBCE04}"/>
            </a:ext>
          </a:extLst>
        </p:cNvPr>
        <p:cNvGrpSpPr/>
        <p:nvPr/>
      </p:nvGrpSpPr>
      <p:grpSpPr>
        <a:xfrm>
          <a:off x="0" y="0"/>
          <a:ext cx="0" cy="0"/>
          <a:chOff x="0" y="0"/>
          <a:chExt cx="0" cy="0"/>
        </a:xfrm>
      </p:grpSpPr>
    </p:spTree>
    <p:extLst>
      <p:ext uri="{BB962C8B-B14F-4D97-AF65-F5344CB8AC3E}">
        <p14:creationId xmlns:p14="http://schemas.microsoft.com/office/powerpoint/2010/main" val="16969299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63DF9-D9D2-AA65-61C1-4BFD0CD524FE}"/>
            </a:ext>
          </a:extLst>
        </p:cNvPr>
        <p:cNvGrpSpPr/>
        <p:nvPr/>
      </p:nvGrpSpPr>
      <p:grpSpPr>
        <a:xfrm>
          <a:off x="0" y="0"/>
          <a:ext cx="0" cy="0"/>
          <a:chOff x="0" y="0"/>
          <a:chExt cx="0" cy="0"/>
        </a:xfrm>
      </p:grpSpPr>
    </p:spTree>
    <p:extLst>
      <p:ext uri="{BB962C8B-B14F-4D97-AF65-F5344CB8AC3E}">
        <p14:creationId xmlns:p14="http://schemas.microsoft.com/office/powerpoint/2010/main" val="10590638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7A08A-06F0-5EAB-9F01-086DE058A6A8}"/>
            </a:ext>
          </a:extLst>
        </p:cNvPr>
        <p:cNvGrpSpPr/>
        <p:nvPr/>
      </p:nvGrpSpPr>
      <p:grpSpPr>
        <a:xfrm>
          <a:off x="0" y="0"/>
          <a:ext cx="0" cy="0"/>
          <a:chOff x="0" y="0"/>
          <a:chExt cx="0" cy="0"/>
        </a:xfrm>
      </p:grpSpPr>
    </p:spTree>
    <p:extLst>
      <p:ext uri="{BB962C8B-B14F-4D97-AF65-F5344CB8AC3E}">
        <p14:creationId xmlns:p14="http://schemas.microsoft.com/office/powerpoint/2010/main" val="32171302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1F28-0B30-2136-27B1-CCE0EDC439F0}"/>
            </a:ext>
          </a:extLst>
        </p:cNvPr>
        <p:cNvGrpSpPr/>
        <p:nvPr/>
      </p:nvGrpSpPr>
      <p:grpSpPr>
        <a:xfrm>
          <a:off x="0" y="0"/>
          <a:ext cx="0" cy="0"/>
          <a:chOff x="0" y="0"/>
          <a:chExt cx="0" cy="0"/>
        </a:xfrm>
      </p:grpSpPr>
    </p:spTree>
    <p:extLst>
      <p:ext uri="{BB962C8B-B14F-4D97-AF65-F5344CB8AC3E}">
        <p14:creationId xmlns:p14="http://schemas.microsoft.com/office/powerpoint/2010/main" val="27040039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403</TotalTime>
  <Words>6641</Words>
  <Application>Microsoft Office PowerPoint</Application>
  <PresentationFormat>Widescreen</PresentationFormat>
  <Paragraphs>924</Paragraphs>
  <Slides>100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Arial</vt:lpstr>
      <vt:lpstr>Calibri</vt:lpstr>
      <vt:lpstr>Nunito</vt:lpstr>
      <vt:lpstr>Source Sans 3</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Devesh Kumar</dc:creator>
  <cp:lastModifiedBy>Devesh Kumar</cp:lastModifiedBy>
  <cp:revision>45</cp:revision>
  <dcterms:created xsi:type="dcterms:W3CDTF">2026-01-14T14:39:30Z</dcterms:created>
  <dcterms:modified xsi:type="dcterms:W3CDTF">2026-01-21T04:18:35Z</dcterms:modified>
</cp:coreProperties>
</file>