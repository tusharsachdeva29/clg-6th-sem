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5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1" r:id="rId90"/>
    <p:sldId id="332" r:id="rId91"/>
    <p:sldId id="333" r:id="rId92"/>
    <p:sldId id="334" r:id="rId93"/>
    <p:sldId id="335" r:id="rId94"/>
    <p:sldId id="336" r:id="rId95"/>
    <p:sldId id="337" r:id="rId96"/>
    <p:sldId id="338" r:id="rId97"/>
    <p:sldId id="339" r:id="rId98"/>
    <p:sldId id="340" r:id="rId99"/>
    <p:sldId id="341" r:id="rId100"/>
    <p:sldId id="342" r:id="rId101"/>
    <p:sldId id="343" r:id="rId102"/>
    <p:sldId id="344" r:id="rId103"/>
    <p:sldId id="345" r:id="rId104"/>
    <p:sldId id="346" r:id="rId10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5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78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33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3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47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6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7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10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0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305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8046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5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021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408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41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7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7776C-8F0B-4D7D-91AE-4048DE02FB1F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BB0E8F-1F8E-491E-B3B6-F6DF5A6EA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23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2ABBB2-44B6-F535-7D7C-2538697068DD}"/>
              </a:ext>
            </a:extLst>
          </p:cNvPr>
          <p:cNvSpPr txBox="1"/>
          <p:nvPr/>
        </p:nvSpPr>
        <p:spPr>
          <a:xfrm>
            <a:off x="1027184" y="289650"/>
            <a:ext cx="8852539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600" b="1" i="1" dirty="0">
                <a:solidFill>
                  <a:schemeClr val="accent2">
                    <a:lumMod val="75000"/>
                  </a:schemeClr>
                </a:solidFill>
              </a:rPr>
              <a:t>Data Warehouse </a:t>
            </a:r>
          </a:p>
          <a:p>
            <a:pPr>
              <a:buNone/>
            </a:pPr>
            <a:r>
              <a:rPr lang="en-IN" sz="6600" b="1" i="1" dirty="0">
                <a:solidFill>
                  <a:schemeClr val="accent2">
                    <a:lumMod val="75000"/>
                  </a:schemeClr>
                </a:solidFill>
              </a:rPr>
              <a:t>and Data Mining </a:t>
            </a:r>
          </a:p>
          <a:p>
            <a:pPr>
              <a:buNone/>
            </a:pPr>
            <a:endParaRPr lang="en-IN" sz="6000" b="1" dirty="0"/>
          </a:p>
          <a:p>
            <a:pPr>
              <a:buNone/>
            </a:pPr>
            <a:r>
              <a:rPr lang="en-IN" sz="6000" b="1" dirty="0"/>
              <a:t>               UNIT - 3</a:t>
            </a:r>
            <a:endParaRPr lang="en-IN" sz="6000" dirty="0"/>
          </a:p>
          <a:p>
            <a:pPr>
              <a:buNone/>
            </a:pPr>
            <a:br>
              <a:rPr lang="en-IN" sz="4000" dirty="0"/>
            </a:br>
            <a:r>
              <a:rPr lang="en-IN" sz="4000" dirty="0"/>
              <a:t>Department: CSE (AI)</a:t>
            </a:r>
            <a:br>
              <a:rPr lang="en-IN" sz="4000" dirty="0"/>
            </a:br>
            <a:r>
              <a:rPr lang="en-IN" sz="4000" dirty="0"/>
              <a:t>Semester: 6</a:t>
            </a:r>
            <a:r>
              <a:rPr lang="en-IN" sz="4000" baseline="30000" dirty="0"/>
              <a:t>TH</a:t>
            </a:r>
            <a:r>
              <a:rPr lang="en-IN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4988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E3AEB-1FBC-7571-8DC6-7EE20CE4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FD07B1-558C-5DCC-E350-30FDC87C6218}"/>
              </a:ext>
            </a:extLst>
          </p:cNvPr>
          <p:cNvSpPr txBox="1"/>
          <p:nvPr/>
        </p:nvSpPr>
        <p:spPr>
          <a:xfrm>
            <a:off x="1095703" y="323728"/>
            <a:ext cx="8184931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SYLLABUS OF UNIT 3 </a:t>
            </a:r>
          </a:p>
          <a:p>
            <a:endParaRPr lang="en-IN" dirty="0"/>
          </a:p>
          <a:p>
            <a:pPr algn="just"/>
            <a:r>
              <a:rPr lang="en-IN" dirty="0"/>
              <a:t>OLAP in the Data Warehouse: Demand for Online Analytical Processing, limitations of other analysis methods- OLAP is the answer, OLAP definitions and rules, OLAP characteristics, major features and functions, hyper cubes.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OLAP Operations: Drill-down and roll-up, slice-and-dice , pivot or rotation, OLAP models, overview of variations, the MOLAP model, the ROLAP model, the DOLAP model, ROLAP versus MOLAP, OLAP implementation considerations.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Query and Reporting, Executive Information Systems (EIS), Data Warehouse and Business Strategy.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Advanced Data warehouse Techniques: Document oriented NoSQL Databases- </a:t>
            </a:r>
            <a:r>
              <a:rPr lang="en-IN" dirty="0" err="1"/>
              <a:t>MangoDB</a:t>
            </a:r>
            <a:r>
              <a:rPr lang="en-IN" dirty="0"/>
              <a:t>, CouchDB; Graph Databases-Neo4J, Infinite Graph.</a:t>
            </a:r>
          </a:p>
        </p:txBody>
      </p:sp>
    </p:spTree>
    <p:extLst>
      <p:ext uri="{BB962C8B-B14F-4D97-AF65-F5344CB8AC3E}">
        <p14:creationId xmlns:p14="http://schemas.microsoft.com/office/powerpoint/2010/main" val="230738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BD27-B6C4-1584-50CE-9C3BFC76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676DCC-145C-48E7-1A36-6412E291219F}"/>
              </a:ext>
            </a:extLst>
          </p:cNvPr>
          <p:cNvSpPr txBox="1"/>
          <p:nvPr/>
        </p:nvSpPr>
        <p:spPr>
          <a:xfrm>
            <a:off x="885497" y="190143"/>
            <a:ext cx="84266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dirty="0"/>
              <a:t>Imagine a </a:t>
            </a:r>
            <a:r>
              <a:rPr lang="en-IN" sz="2000" b="1" dirty="0"/>
              <a:t>big supermarket chain</a:t>
            </a:r>
            <a:r>
              <a:rPr lang="en-IN" sz="2000" dirty="0"/>
              <a:t> like Reliance or Big Bazaar.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dirty="0"/>
              <a:t>Every day: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Thousands of customers buy products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Bills are generated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Payments are recorded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dirty="0"/>
              <a:t>All this data is stored in a </a:t>
            </a:r>
            <a:r>
              <a:rPr lang="en-IN" sz="2000" b="1" dirty="0"/>
              <a:t>database</a:t>
            </a:r>
            <a:r>
              <a:rPr lang="en-IN" sz="2000" dirty="0"/>
              <a:t>.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dirty="0"/>
              <a:t>Now the </a:t>
            </a:r>
            <a:r>
              <a:rPr lang="en-IN" sz="2000" b="1" dirty="0"/>
              <a:t>store manager</a:t>
            </a:r>
            <a:r>
              <a:rPr lang="en-IN" sz="2000" dirty="0"/>
              <a:t> asks questions like: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Which product sold the most </a:t>
            </a:r>
            <a:r>
              <a:rPr lang="en-IN" sz="2000" b="1" dirty="0"/>
              <a:t>last year</a:t>
            </a:r>
            <a:r>
              <a:rPr lang="en-IN" sz="2000" dirty="0"/>
              <a:t>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In which </a:t>
            </a:r>
            <a:r>
              <a:rPr lang="en-IN" sz="2000" b="1" dirty="0"/>
              <a:t>city</a:t>
            </a:r>
            <a:r>
              <a:rPr lang="en-IN" sz="2000" dirty="0"/>
              <a:t> did sales increase the most?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How did </a:t>
            </a:r>
            <a:r>
              <a:rPr lang="en-IN" sz="2000" b="1" dirty="0"/>
              <a:t>festival season sales</a:t>
            </a:r>
            <a:r>
              <a:rPr lang="en-IN" sz="2000" dirty="0"/>
              <a:t> compare with normal months?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/>
              <a:t>What is the </a:t>
            </a:r>
            <a:r>
              <a:rPr lang="en-IN" sz="2000" b="1" dirty="0"/>
              <a:t>monthly trend</a:t>
            </a:r>
            <a:r>
              <a:rPr lang="en-IN" sz="2000" dirty="0"/>
              <a:t> of profit for the last 5 years?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dirty="0"/>
              <a:t>👉 These are </a:t>
            </a:r>
            <a:r>
              <a:rPr lang="en-IN" sz="2000" b="1" dirty="0"/>
              <a:t>analysis questions</a:t>
            </a:r>
            <a:r>
              <a:rPr lang="en-IN" sz="2000" dirty="0"/>
              <a:t>, not daily transaction questions.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dirty="0"/>
              <a:t>To answer such questions </a:t>
            </a:r>
            <a:r>
              <a:rPr lang="en-IN" sz="2000" b="1" dirty="0"/>
              <a:t>quickly and accurately</a:t>
            </a:r>
            <a:r>
              <a:rPr lang="en-IN" sz="2000" dirty="0"/>
              <a:t>, we need </a:t>
            </a:r>
            <a:r>
              <a:rPr lang="en-IN" sz="3600" b="1" dirty="0"/>
              <a:t>OLAP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525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6013-C353-9FBD-8C17-89EB6159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A5B1C-838B-32FD-E112-4D3C99C627D5}"/>
              </a:ext>
            </a:extLst>
          </p:cNvPr>
          <p:cNvSpPr txBox="1"/>
          <p:nvPr/>
        </p:nvSpPr>
        <p:spPr>
          <a:xfrm>
            <a:off x="800100" y="122166"/>
            <a:ext cx="1010832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Demand for Online Analytical Processing </a:t>
            </a:r>
          </a:p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(OLAP)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What Does “Demand” Mean Here?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As organizations grow, their data becomes: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</a:t>
            </a:r>
            <a:r>
              <a:rPr lang="en-IN" b="1" dirty="0"/>
              <a:t>large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Very </a:t>
            </a:r>
            <a:r>
              <a:rPr lang="en-IN" b="1" dirty="0"/>
              <a:t>complex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Spread across </a:t>
            </a:r>
            <a:r>
              <a:rPr lang="en-IN" b="1" dirty="0"/>
              <a:t>many years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Managers, analysts, and executives </a:t>
            </a:r>
            <a:r>
              <a:rPr lang="en-IN" b="1" dirty="0"/>
              <a:t>need answers fast</a:t>
            </a:r>
            <a:r>
              <a:rPr lang="en-IN" dirty="0"/>
              <a:t> to make decisions.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Why Traditional Databases Are Not Enough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Traditional databases (OLTP systems) are designed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Insert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Update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Delete data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They are </a:t>
            </a:r>
            <a:r>
              <a:rPr lang="en-IN" b="1" dirty="0"/>
              <a:t>not designed for analysis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908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8759-5E15-2F2E-833E-F17B0096A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1FFC2-4DE1-3921-9812-332DF853D97C}"/>
              </a:ext>
            </a:extLst>
          </p:cNvPr>
          <p:cNvSpPr txBox="1"/>
          <p:nvPr/>
        </p:nvSpPr>
        <p:spPr>
          <a:xfrm>
            <a:off x="801415" y="178676"/>
            <a:ext cx="102554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Example</a:t>
            </a:r>
          </a:p>
          <a:p>
            <a:pPr algn="just">
              <a:buNone/>
            </a:pPr>
            <a:endParaRPr lang="en-IN" b="1" dirty="0"/>
          </a:p>
          <a:p>
            <a:pPr algn="just">
              <a:buNone/>
            </a:pPr>
            <a:r>
              <a:rPr lang="en-IN" dirty="0"/>
              <a:t>A sales executive asks:</a:t>
            </a:r>
          </a:p>
          <a:p>
            <a:pPr algn="just">
              <a:buNone/>
            </a:pPr>
            <a:r>
              <a:rPr lang="en-IN" dirty="0"/>
              <a:t>“Show me total sales of mobile phones in Haryana, Rajasthan, and Delhi from 2020 to 2024, year-wise and month-wise.”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dirty="0"/>
              <a:t>To answer this using simple SQL: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Huge tables are scanned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Multiple joins are required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Query takes a long time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dirty="0"/>
              <a:t>⛔ This delays decision-making.</a:t>
            </a:r>
          </a:p>
          <a:p>
            <a:pPr algn="just"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Why OLAP Is Needed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dirty="0"/>
              <a:t>OLAP systems: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Store </a:t>
            </a:r>
            <a:r>
              <a:rPr lang="en-IN" b="1" dirty="0"/>
              <a:t>summarized data</a:t>
            </a:r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Allow </a:t>
            </a:r>
            <a:r>
              <a:rPr lang="en-IN" b="1" dirty="0"/>
              <a:t>fast analysis</a:t>
            </a:r>
            <a:endParaRPr lang="en-IN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dirty="0"/>
              <a:t>Provide </a:t>
            </a:r>
            <a:r>
              <a:rPr lang="en-IN" b="1" dirty="0"/>
              <a:t>interactive results</a:t>
            </a:r>
            <a:endParaRPr lang="en-IN" dirty="0"/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dirty="0"/>
              <a:t>📌 </a:t>
            </a:r>
            <a:r>
              <a:rPr lang="en-IN" b="1" dirty="0"/>
              <a:t>Hence, the demand for OLAP arises from the need for fast and flexible decision support.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20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4820D-7478-0DEF-BBA0-77337EE5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F30F4-CDAA-427F-8173-AE4A3B328B99}"/>
              </a:ext>
            </a:extLst>
          </p:cNvPr>
          <p:cNvSpPr txBox="1"/>
          <p:nvPr/>
        </p:nvSpPr>
        <p:spPr>
          <a:xfrm>
            <a:off x="801414" y="399844"/>
            <a:ext cx="865789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Limitations of Traditional Analysis Methods</a:t>
            </a:r>
          </a:p>
          <a:p>
            <a:pPr>
              <a:buNone/>
            </a:pPr>
            <a:endParaRPr lang="en-IN" sz="4400" b="1" dirty="0"/>
          </a:p>
          <a:p>
            <a:pPr>
              <a:buNone/>
            </a:pPr>
            <a:r>
              <a:rPr lang="en-IN" sz="2800" dirty="0"/>
              <a:t>Traditional analysis methods mainly include: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Manual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Simple SQL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Spreadsheet-based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OLTP-based reporting</a:t>
            </a:r>
          </a:p>
        </p:txBody>
      </p:sp>
    </p:spTree>
    <p:extLst>
      <p:ext uri="{BB962C8B-B14F-4D97-AF65-F5344CB8AC3E}">
        <p14:creationId xmlns:p14="http://schemas.microsoft.com/office/powerpoint/2010/main" val="328990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AB399-F54C-78ED-57C3-5B2341A5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22804-ED14-EDE8-A499-8CB327F2AD5B}"/>
              </a:ext>
            </a:extLst>
          </p:cNvPr>
          <p:cNvSpPr txBox="1"/>
          <p:nvPr/>
        </p:nvSpPr>
        <p:spPr>
          <a:xfrm>
            <a:off x="1095704" y="310166"/>
            <a:ext cx="730206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Why “OLAP is the Answer”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b="1" dirty="0"/>
          </a:p>
          <a:p>
            <a:pPr algn="just">
              <a:buNone/>
            </a:pPr>
            <a:r>
              <a:rPr lang="en-IN" sz="2800" b="1" dirty="0"/>
              <a:t>Because OLAP Solves All These Problems</a:t>
            </a:r>
          </a:p>
          <a:p>
            <a:pPr algn="just">
              <a:buNone/>
            </a:pPr>
            <a:endParaRPr lang="en-IN" sz="2800" dirty="0"/>
          </a:p>
          <a:p>
            <a:pPr algn="just">
              <a:buNone/>
            </a:pPr>
            <a:r>
              <a:rPr lang="en-IN" sz="2800" dirty="0"/>
              <a:t>OLAP provides: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Fast query response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Multidimensional view of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Interactive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Summarized and detailed views</a:t>
            </a:r>
          </a:p>
        </p:txBody>
      </p:sp>
    </p:spTree>
    <p:extLst>
      <p:ext uri="{BB962C8B-B14F-4D97-AF65-F5344CB8AC3E}">
        <p14:creationId xmlns:p14="http://schemas.microsoft.com/office/powerpoint/2010/main" val="3079458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2A98-48CC-9D62-4F14-4724EA9A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5D0796-0CA4-C65E-6E32-3CB5EE1DAA4A}"/>
              </a:ext>
            </a:extLst>
          </p:cNvPr>
          <p:cNvSpPr txBox="1"/>
          <p:nvPr/>
        </p:nvSpPr>
        <p:spPr>
          <a:xfrm>
            <a:off x="906516" y="105013"/>
            <a:ext cx="8552793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Example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dirty="0"/>
              <a:t>Manager first asks: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“Show yearly sales.”</a:t>
            </a:r>
          </a:p>
          <a:p>
            <a:pPr>
              <a:buNone/>
            </a:pPr>
            <a:r>
              <a:rPr lang="en-IN" sz="2400" dirty="0"/>
              <a:t>Then:</a:t>
            </a:r>
          </a:p>
          <a:p>
            <a:pPr>
              <a:buNone/>
            </a:pPr>
            <a:r>
              <a:rPr lang="en-IN" sz="2400" dirty="0"/>
              <a:t>“Break it region-wise.”</a:t>
            </a:r>
          </a:p>
          <a:p>
            <a:pPr>
              <a:buNone/>
            </a:pPr>
            <a:r>
              <a:rPr lang="en-IN" sz="2400" dirty="0"/>
              <a:t>Then:</a:t>
            </a:r>
          </a:p>
          <a:p>
            <a:pPr>
              <a:buNone/>
            </a:pPr>
            <a:r>
              <a:rPr lang="en-IN" sz="2400" dirty="0"/>
              <a:t>“Now show product-wise.”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In traditional systems: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Each question = new complex query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In OLAP: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Data cube already exists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Just </a:t>
            </a:r>
            <a:r>
              <a:rPr lang="en-IN" sz="2400" b="1" dirty="0"/>
              <a:t>rotate, drill, or slice</a:t>
            </a:r>
            <a:endParaRPr lang="en-IN" sz="2400" dirty="0"/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📌 OLAP makes analysis </a:t>
            </a:r>
            <a:r>
              <a:rPr lang="en-IN" sz="2400" b="1" dirty="0"/>
              <a:t>easy, fast, and flexible</a:t>
            </a:r>
            <a:r>
              <a:rPr lang="en-IN" sz="2400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6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72A3-4E99-1EB1-DF2F-59992668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9321A-871A-D769-18EC-010BE29C656F}"/>
              </a:ext>
            </a:extLst>
          </p:cNvPr>
          <p:cNvSpPr txBox="1"/>
          <p:nvPr/>
        </p:nvSpPr>
        <p:spPr>
          <a:xfrm>
            <a:off x="990599" y="369498"/>
            <a:ext cx="885759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What Is OLAP?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b="1" dirty="0"/>
              <a:t>OLAP (Online Analytical Processing)</a:t>
            </a:r>
            <a:r>
              <a:rPr lang="en-IN" sz="2400" dirty="0"/>
              <a:t> is a technology used to: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large volumes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From multiple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At high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To support decision making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Standard Definition</a:t>
            </a:r>
          </a:p>
          <a:p>
            <a:pPr>
              <a:buNone/>
            </a:pPr>
            <a:endParaRPr lang="en-IN" sz="2400" i="1" dirty="0"/>
          </a:p>
          <a:p>
            <a:pPr>
              <a:buNone/>
            </a:pPr>
            <a:r>
              <a:rPr lang="en-IN" sz="2400" i="1" dirty="0"/>
              <a:t>OLAP is an approach to quickly answer multi-dimensional analytical queries on large datasets stored in a data warehouse.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6736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BD76D-ABEF-A509-8955-DFDF163D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08FB9-AE6E-288F-5FD7-EA25D4E04F36}"/>
              </a:ext>
            </a:extLst>
          </p:cNvPr>
          <p:cNvSpPr txBox="1"/>
          <p:nvPr/>
        </p:nvSpPr>
        <p:spPr>
          <a:xfrm>
            <a:off x="938049" y="312581"/>
            <a:ext cx="8605344" cy="585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25"/>
              </a:lnSpc>
              <a:spcBef>
                <a:spcPts val="1650"/>
              </a:spcBef>
              <a:buNone/>
            </a:pPr>
            <a:r>
              <a:rPr lang="en-IN" sz="3600" b="1" i="1" u="sng" dirty="0">
                <a:solidFill>
                  <a:schemeClr val="accent2">
                    <a:lumMod val="75000"/>
                  </a:schemeClr>
                </a:solidFill>
                <a:effectLst/>
                <a:latin typeface="Source Sans 3"/>
              </a:rPr>
              <a:t>OLAP Guidelines (Codd's Rule)</a:t>
            </a:r>
          </a:p>
          <a:p>
            <a:pPr algn="l" rtl="0" fontAlgn="base">
              <a:spcBef>
                <a:spcPts val="750"/>
              </a:spcBef>
              <a:spcAft>
                <a:spcPts val="750"/>
              </a:spcAft>
              <a:buNone/>
            </a:pP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effectLst/>
                <a:latin typeface="Nunito" pitchFamily="2" charset="0"/>
              </a:rPr>
              <a:t>OLAP (Online Analytical Processing) is a powerful technology designed to support complex analytical queries, data exploration, and decision-making in business environments. 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0" i="0" dirty="0">
                <a:effectLst/>
                <a:latin typeface="Nunito" pitchFamily="2" charset="0"/>
              </a:rPr>
              <a:t>In 1993, Dr. E. F. Codd, the father of the relational database model, proposed 12 rules to define the features and standards that a true OLAP system must follow. These are commonly known as Codd’s OLAP Rules or OLAP Guidelines.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400" b="1" i="1" dirty="0">
                <a:effectLst/>
                <a:latin typeface="Nunito" pitchFamily="2" charset="0"/>
              </a:rPr>
              <a:t>Note:</a:t>
            </a:r>
            <a:r>
              <a:rPr lang="en-IN" sz="2400" b="0" i="1" dirty="0">
                <a:effectLst/>
                <a:latin typeface="Nunito" pitchFamily="2" charset="0"/>
              </a:rPr>
              <a:t> The purpose of these guidelines is to differentiate true OLAP systems from simple query tools or data retrieval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7158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B770-DB54-30F8-3B36-11593341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14E3D0-8D5D-4E8E-476B-15908861A480}"/>
              </a:ext>
            </a:extLst>
          </p:cNvPr>
          <p:cNvSpPr txBox="1"/>
          <p:nvPr/>
        </p:nvSpPr>
        <p:spPr>
          <a:xfrm>
            <a:off x="793531" y="213317"/>
            <a:ext cx="10268607" cy="615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Codd’s 12 Rules (Guidelines) for OLAP Systems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1. Multidimensional Conceptual View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An OLAP system must provide a multidimensional view of data for effective analysis.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should be organized into dimensions (e.g., Time, Product, Location).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Enables users to view data hierarchically, such as Year -&gt; Quarter -&gt; Month.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Facilitates operations like Drill Down, Roll Up, Slice, and Dice easily.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2. Transparency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system should be transparent to the user, integrating seamlessly with data sources and tools.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Users should not need to know the physical data storage details.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from multiple sources should appear as a single unified view.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Integration with front-end tools (Excel, dashboards, etc.) must be smooth and consistent.</a:t>
            </a:r>
          </a:p>
        </p:txBody>
      </p:sp>
    </p:spTree>
    <p:extLst>
      <p:ext uri="{BB962C8B-B14F-4D97-AF65-F5344CB8AC3E}">
        <p14:creationId xmlns:p14="http://schemas.microsoft.com/office/powerpoint/2010/main" val="2094304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3CA9-78ED-E222-3B4A-83030CAF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981B8-501D-5A91-DD42-71FFBC452D2E}"/>
              </a:ext>
            </a:extLst>
          </p:cNvPr>
          <p:cNvSpPr txBox="1"/>
          <p:nvPr/>
        </p:nvSpPr>
        <p:spPr>
          <a:xfrm>
            <a:off x="966950" y="452961"/>
            <a:ext cx="9659007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3. Accessibility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system should provide easy access to data across different sources.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Should connect with multiple databases (relational, flat files, etc.).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retrieval must be consistent regardless of the source.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Supports extraction and integration from heterogeneous environments.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4. Consistent Reporting Performance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performance of queries and reports must remain stable even as data grows.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Response time should be predictable and efficient.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Query performance should not degrade with large datasets.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Pre-aggregation and indexing can be used to ensure speed.</a:t>
            </a:r>
          </a:p>
        </p:txBody>
      </p:sp>
    </p:spTree>
    <p:extLst>
      <p:ext uri="{BB962C8B-B14F-4D97-AF65-F5344CB8AC3E}">
        <p14:creationId xmlns:p14="http://schemas.microsoft.com/office/powerpoint/2010/main" val="411966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5589-C303-A7D6-BD17-3597C139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B76F3-6F64-520F-82B8-CE016F4D23B5}"/>
              </a:ext>
            </a:extLst>
          </p:cNvPr>
          <p:cNvSpPr txBox="1"/>
          <p:nvPr/>
        </p:nvSpPr>
        <p:spPr>
          <a:xfrm>
            <a:off x="1019503" y="353451"/>
            <a:ext cx="8132379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5. Client/Server Architecture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OLAP systems should follow a distributed client/server model.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Data storage and analysis should be separated for better scalability.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Multiple clients can access the OLAP server concurrently.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Enables modular design and efficient resource utilization.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6. Generic Dimensionality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All dimensions should be treated uniformly by the OLAP engine.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System should not waste space storing empty cells.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Memory and storage must be optimized dynamically.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Enhances performance and reduces cube size drastically.</a:t>
            </a:r>
          </a:p>
        </p:txBody>
      </p:sp>
    </p:spTree>
    <p:extLst>
      <p:ext uri="{BB962C8B-B14F-4D97-AF65-F5344CB8AC3E}">
        <p14:creationId xmlns:p14="http://schemas.microsoft.com/office/powerpoint/2010/main" val="158496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EA6B-4E03-04EF-524D-2CF24E64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93272-83FC-B54C-279B-DCF71614C982}"/>
              </a:ext>
            </a:extLst>
          </p:cNvPr>
          <p:cNvSpPr txBox="1"/>
          <p:nvPr/>
        </p:nvSpPr>
        <p:spPr>
          <a:xfrm>
            <a:off x="966951" y="461521"/>
            <a:ext cx="9249103" cy="5934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latin typeface="Nunito" pitchFamily="2" charset="0"/>
              </a:rPr>
              <a:t>7</a:t>
            </a: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. Multi-User Support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OLAP systems must support concurrent access by multiple users.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Multiple analysts should be able to work simultaneously without conflict.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Concurrency control must ensure data consistency and isolation.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User privileges and security should be properly managed.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latin typeface="Nunito" pitchFamily="2" charset="0"/>
              </a:rPr>
              <a:t>8</a:t>
            </a: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. Unrestricted Cross-Dimensional Operations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system should allow flexible calculations across dimensions.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Users can combine measures from different dimensions freely.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Should support complex and ad-hoc calculations (e.g., profit margin by region and quarter).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No limitation on which dimensions can interact in analysis.</a:t>
            </a:r>
          </a:p>
        </p:txBody>
      </p:sp>
    </p:spTree>
    <p:extLst>
      <p:ext uri="{BB962C8B-B14F-4D97-AF65-F5344CB8AC3E}">
        <p14:creationId xmlns:p14="http://schemas.microsoft.com/office/powerpoint/2010/main" val="282795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E611-4944-0DC6-C964-FA73488F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BFE199-2261-9E24-9C2C-B6374A36CC74}"/>
              </a:ext>
            </a:extLst>
          </p:cNvPr>
          <p:cNvSpPr txBox="1"/>
          <p:nvPr/>
        </p:nvSpPr>
        <p:spPr>
          <a:xfrm>
            <a:off x="945932" y="496865"/>
            <a:ext cx="8216461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latin typeface="Nunito" pitchFamily="2" charset="0"/>
              </a:rPr>
              <a:t>9</a:t>
            </a: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. Intuitive Data Manipulation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Users should be able to explore and modify data intuitively.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Drag-and-drop or point-and-click interfaces for analysis.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No need for complex query languages or programming knowledge.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Supports interactive operations like pivoting, sorting, and filtering.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10. Flexible Reporting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system must provide dynamic and customizable reporting capabilities.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Users can design reports as per their analytical needs.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Allows creation of summaries, comparisons, and charts on the fly.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Dimensions and measures can be rearranged easily during reporting.</a:t>
            </a:r>
          </a:p>
        </p:txBody>
      </p:sp>
    </p:spTree>
    <p:extLst>
      <p:ext uri="{BB962C8B-B14F-4D97-AF65-F5344CB8AC3E}">
        <p14:creationId xmlns:p14="http://schemas.microsoft.com/office/powerpoint/2010/main" val="56804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CFC5-7031-E20E-8AD8-9E31E363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04EABB-BB93-01CC-4F81-F95EA4FBF8FC}"/>
              </a:ext>
            </a:extLst>
          </p:cNvPr>
          <p:cNvSpPr txBox="1"/>
          <p:nvPr/>
        </p:nvSpPr>
        <p:spPr>
          <a:xfrm>
            <a:off x="935421" y="410919"/>
            <a:ext cx="9017876" cy="600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11. Unlimited Dimensions and Aggregation Levels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OLAP model should not restrict the number of dimensions or hierarchy levels.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Supports multiple dimensions (e.g., Time, Product, Region, Customer).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Allows deep hierarchies (e.g., Year -&gt; Quarter -&gt; Month -&gt; Week).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Enables highly detailed and comprehensive analysis.</a:t>
            </a: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1" i="1" u="sng" dirty="0">
                <a:solidFill>
                  <a:srgbClr val="273239"/>
                </a:solidFill>
                <a:effectLst/>
                <a:latin typeface="Nunito" pitchFamily="2" charset="0"/>
              </a:rPr>
              <a:t>12. Treatment of Missing Values</a:t>
            </a:r>
            <a:endParaRPr lang="en-IN" b="1" i="1" u="sng" dirty="0">
              <a:solidFill>
                <a:srgbClr val="273239"/>
              </a:solidFill>
              <a:latin typeface="Nunito" pitchFamily="2" charset="0"/>
            </a:endParaRPr>
          </a:p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Missing or null data must be handled appropriately without affecting results.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Key points: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System should distinguish between zero and missing values.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Aggregations should remain accurate despite incomplete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Provides meaningful interpretations for null entries in reports.</a:t>
            </a:r>
          </a:p>
        </p:txBody>
      </p:sp>
    </p:spTree>
    <p:extLst>
      <p:ext uri="{BB962C8B-B14F-4D97-AF65-F5344CB8AC3E}">
        <p14:creationId xmlns:p14="http://schemas.microsoft.com/office/powerpoint/2010/main" val="153360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2C305-1C0A-86B3-8778-1DA457A3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682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BA1D-9016-33AD-2088-0DA36BFF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D494BB-FB0B-4279-5779-8DA39A832822}"/>
              </a:ext>
            </a:extLst>
          </p:cNvPr>
          <p:cNvSpPr txBox="1"/>
          <p:nvPr/>
        </p:nvSpPr>
        <p:spPr>
          <a:xfrm>
            <a:off x="1305911" y="253885"/>
            <a:ext cx="818493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  <a:effectLst/>
                <a:latin typeface="Manrope"/>
              </a:rPr>
              <a:t>What are OLAP cubes?</a:t>
            </a:r>
          </a:p>
          <a:p>
            <a:pPr algn="l">
              <a:buNone/>
            </a:pPr>
            <a:endParaRPr lang="en-IN" b="0" i="0" dirty="0">
              <a:solidFill>
                <a:srgbClr val="3F454F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  <a:t>OLAP cubes are a multidimensional representation of data. </a:t>
            </a:r>
            <a:b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</a:br>
            <a:endParaRPr lang="en-IN" sz="2400" b="0" i="0" dirty="0">
              <a:solidFill>
                <a:srgbClr val="3F454F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  <a:t>To understand the multidimensional array of OLAP cubes, let us start simple - with a 2-dimensional representation we all know: Microsoft Excel.</a:t>
            </a:r>
            <a:b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</a:br>
            <a:endParaRPr lang="en-IN" sz="2400" b="0" i="0" dirty="0">
              <a:solidFill>
                <a:srgbClr val="3F454F"/>
              </a:solidFill>
              <a:effectLst/>
              <a:latin typeface="Manrope"/>
            </a:endParaRPr>
          </a:p>
          <a:p>
            <a:pPr algn="l">
              <a:buNone/>
            </a:pPr>
            <a: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  <a:t>Excel spreadsheets organize data into two dimensions: rows for each entry, and columns for attributes of that entry: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485742-F7C9-FEAE-07EB-DA1FA6E7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11" y="4070314"/>
            <a:ext cx="8526065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50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F424-E9C3-5814-1641-FBF6ABB23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2ACBD6-9DF8-58F6-E8A3-54F6BDCA9E2E}"/>
              </a:ext>
            </a:extLst>
          </p:cNvPr>
          <p:cNvSpPr txBox="1"/>
          <p:nvPr/>
        </p:nvSpPr>
        <p:spPr>
          <a:xfrm>
            <a:off x="1148256" y="331866"/>
            <a:ext cx="79326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solidFill>
                  <a:srgbClr val="3F454F"/>
                </a:solidFill>
                <a:effectLst/>
                <a:latin typeface="Manrope"/>
              </a:rPr>
              <a:t>OLAP cubes go one step further and aggregate data across dimensions. For example, an OLAP cube could aggregate total sales amount across three dimensions: city, product, and time.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792C2-BA87-C9D6-0957-3444FB37B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19" y="1836273"/>
            <a:ext cx="6246075" cy="468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42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C3A4-20F5-0D6E-FDD7-3723A88F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E5FA4-5A9C-8880-BEE3-7BB8F65F3980}"/>
              </a:ext>
            </a:extLst>
          </p:cNvPr>
          <p:cNvSpPr txBox="1"/>
          <p:nvPr/>
        </p:nvSpPr>
        <p:spPr>
          <a:xfrm>
            <a:off x="1158766" y="232865"/>
            <a:ext cx="799574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What Is a Hypercube?</a:t>
            </a:r>
          </a:p>
          <a:p>
            <a:pPr>
              <a:buNone/>
            </a:pPr>
            <a:endParaRPr lang="en-IN" dirty="0"/>
          </a:p>
          <a:p>
            <a:pPr algn="just">
              <a:buNone/>
            </a:pPr>
            <a:r>
              <a:rPr lang="en-IN" sz="2400" dirty="0"/>
              <a:t>A </a:t>
            </a:r>
            <a:r>
              <a:rPr lang="en-IN" sz="2400" b="1" dirty="0"/>
              <a:t>hypercube</a:t>
            </a:r>
            <a:r>
              <a:rPr lang="en-IN" sz="2400" dirty="0"/>
              <a:t> is a </a:t>
            </a:r>
            <a:r>
              <a:rPr lang="en-IN" sz="2400" b="1" dirty="0"/>
              <a:t>multi-dimensional data structure</a:t>
            </a:r>
            <a:r>
              <a:rPr lang="en-IN" sz="2400" dirty="0"/>
              <a:t> used in OLAP to store and </a:t>
            </a:r>
            <a:r>
              <a:rPr lang="en-IN" sz="2400" dirty="0" err="1"/>
              <a:t>analyze</a:t>
            </a:r>
            <a:r>
              <a:rPr lang="en-IN" sz="2400" dirty="0"/>
              <a:t> data.</a:t>
            </a:r>
          </a:p>
          <a:p>
            <a:pPr algn="just">
              <a:buNone/>
            </a:pPr>
            <a:endParaRPr lang="en-IN" sz="2400" b="1" dirty="0"/>
          </a:p>
          <a:p>
            <a:pPr algn="just">
              <a:buNone/>
            </a:pPr>
            <a:r>
              <a:rPr lang="en-IN" sz="2400" b="1" dirty="0"/>
              <a:t>A hypercube is an extension of a data cube that can store and represent data in more than three dimensions.</a:t>
            </a: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1 dimension → Line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2 dimensions → Table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/>
              <a:t>3 dimensions → Cube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/>
              <a:t>More than 3 dimensions → Hypercube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1022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6E7C-5EAF-A331-72AC-8B910683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0F533-26A1-BA51-F74A-9600B1E402D3}"/>
              </a:ext>
            </a:extLst>
          </p:cNvPr>
          <p:cNvSpPr txBox="1"/>
          <p:nvPr/>
        </p:nvSpPr>
        <p:spPr>
          <a:xfrm>
            <a:off x="780393" y="430695"/>
            <a:ext cx="915188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Real-world business data is </a:t>
            </a:r>
            <a:r>
              <a:rPr lang="en-IN" sz="2400" b="1" dirty="0"/>
              <a:t>not limited to just 3 dimensions</a:t>
            </a:r>
            <a:r>
              <a:rPr lang="en-IN" sz="2400" dirty="0"/>
              <a:t>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For example, sales data may depend on: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Customer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Channel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Promotion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That is </a:t>
            </a:r>
            <a:r>
              <a:rPr lang="en-IN" sz="2400" b="1" dirty="0"/>
              <a:t>6 dimensions</a:t>
            </a:r>
            <a:r>
              <a:rPr lang="en-IN" sz="2400" dirty="0"/>
              <a:t>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📌 A normal cube is not enough → we need a </a:t>
            </a:r>
            <a:r>
              <a:rPr lang="en-IN" sz="2400" b="1" dirty="0"/>
              <a:t>hypercube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4710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30FD-6871-E612-80CC-83B23B7A2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4FA9B7-AB99-CF12-E828-6E8CC3147056}"/>
              </a:ext>
            </a:extLst>
          </p:cNvPr>
          <p:cNvSpPr txBox="1"/>
          <p:nvPr/>
        </p:nvSpPr>
        <p:spPr>
          <a:xfrm>
            <a:off x="1221827" y="371364"/>
            <a:ext cx="781706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i="1" u="sng" dirty="0">
                <a:solidFill>
                  <a:schemeClr val="accent2">
                    <a:lumMod val="75000"/>
                  </a:schemeClr>
                </a:solidFill>
              </a:rPr>
              <a:t>What Are OLAP Operations?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OLAP operations are a set of actions that allow users to interactively explore and </a:t>
            </a:r>
            <a:r>
              <a:rPr lang="en-IN" b="1" dirty="0" err="1"/>
              <a:t>analyze</a:t>
            </a:r>
            <a:r>
              <a:rPr lang="en-IN" b="1" dirty="0"/>
              <a:t> multidimensional data stored in OLAP cubes.</a:t>
            </a: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Using OLAP operations, users can: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Move from summary to detail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 data from different angles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 on specific parts of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Change the way data is viewed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DA433-3A68-2CB0-11BA-593936A82F0E}"/>
              </a:ext>
            </a:extLst>
          </p:cNvPr>
          <p:cNvSpPr txBox="1"/>
          <p:nvPr/>
        </p:nvSpPr>
        <p:spPr>
          <a:xfrm>
            <a:off x="1221827" y="3878769"/>
            <a:ext cx="61012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most important OLAP operations are:</a:t>
            </a:r>
          </a:p>
          <a:p>
            <a:pPr>
              <a:buNone/>
            </a:pPr>
            <a:endParaRPr lang="en-IN" sz="2400" dirty="0"/>
          </a:p>
          <a:p>
            <a:pPr>
              <a:buFont typeface="+mj-lt"/>
              <a:buAutoNum type="arabicPeriod"/>
            </a:pPr>
            <a:r>
              <a:rPr lang="en-IN" sz="2400" dirty="0"/>
              <a:t>Drill-down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Roll-up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Slice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Dice</a:t>
            </a:r>
          </a:p>
          <a:p>
            <a:pPr>
              <a:buFont typeface="+mj-lt"/>
              <a:buAutoNum type="arabicPeriod"/>
            </a:pPr>
            <a:r>
              <a:rPr lang="en-IN" sz="2400" dirty="0"/>
              <a:t>Pivot (Rotation)</a:t>
            </a:r>
          </a:p>
        </p:txBody>
      </p:sp>
    </p:spTree>
    <p:extLst>
      <p:ext uri="{BB962C8B-B14F-4D97-AF65-F5344CB8AC3E}">
        <p14:creationId xmlns:p14="http://schemas.microsoft.com/office/powerpoint/2010/main" val="109539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7DCA3-4286-66E8-99D8-C025E241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9D93A8-6586-B2F0-D733-C817BFDD2344}"/>
              </a:ext>
            </a:extLst>
          </p:cNvPr>
          <p:cNvSpPr txBox="1"/>
          <p:nvPr/>
        </p:nvSpPr>
        <p:spPr>
          <a:xfrm>
            <a:off x="1158765" y="235409"/>
            <a:ext cx="8195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is based on a multidimensional data model, where data is represented in the form of cubes, also known as hyper-cubes. Each cube consists of dimensions (e.g., Location, Time, Product) and measures (e.g., Sales, Profit).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6C70A-9FF8-7A99-43D9-A871D5E9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33" y="1382450"/>
            <a:ext cx="5792008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207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0ACB-67DD-F475-683C-B7D67E54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367E33-6813-7621-BEBD-4C21C1141EA3}"/>
              </a:ext>
            </a:extLst>
          </p:cNvPr>
          <p:cNvSpPr txBox="1"/>
          <p:nvPr/>
        </p:nvSpPr>
        <p:spPr>
          <a:xfrm>
            <a:off x="1253359" y="254400"/>
            <a:ext cx="6101254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3200" b="1" i="1" u="sng" dirty="0">
                <a:solidFill>
                  <a:srgbClr val="FF0000"/>
                </a:solidFill>
                <a:effectLst/>
                <a:latin typeface="Nunito" pitchFamily="2" charset="0"/>
              </a:rPr>
              <a:t>1. Drill 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16464-61AD-40A1-EDAA-18C9CF66FE03}"/>
              </a:ext>
            </a:extLst>
          </p:cNvPr>
          <p:cNvSpPr txBox="1"/>
          <p:nvPr/>
        </p:nvSpPr>
        <p:spPr>
          <a:xfrm>
            <a:off x="1253359" y="857664"/>
            <a:ext cx="3863783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Drill Down operation provides a more detailed view of the data.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It moves from a summary level to a lower level in the concept hierarchy (for example, from Year -&gt; Quarter -&gt; Month).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How it works:</a:t>
            </a: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Moving down in the hierarchy &amp; adding new dimensions for more granularity.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Viewing sales data for 2024 -&gt; Q1 -&gt; January instead of only yearly totals.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5D86EC-A135-8B5B-F19C-821E42AF7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035" y="617961"/>
            <a:ext cx="6140302" cy="571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5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D365-F45A-9A0D-0156-6DAC11C5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8EFB86-EFC3-7D25-A0A9-70776B5C0E61}"/>
              </a:ext>
            </a:extLst>
          </p:cNvPr>
          <p:cNvSpPr txBox="1"/>
          <p:nvPr/>
        </p:nvSpPr>
        <p:spPr>
          <a:xfrm>
            <a:off x="1106214" y="314890"/>
            <a:ext cx="6101254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3200" b="1" i="1" u="sng" dirty="0">
                <a:solidFill>
                  <a:srgbClr val="FF0000"/>
                </a:solidFill>
                <a:effectLst/>
                <a:latin typeface="Nunito" pitchFamily="2" charset="0"/>
              </a:rPr>
              <a:t>2. Roll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C793C-988C-FF49-4FB2-6E3D2BF62972}"/>
              </a:ext>
            </a:extLst>
          </p:cNvPr>
          <p:cNvSpPr txBox="1"/>
          <p:nvPr/>
        </p:nvSpPr>
        <p:spPr>
          <a:xfrm>
            <a:off x="1106214" y="1104022"/>
            <a:ext cx="4156840" cy="3965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Roll Up operation is the opposite of Drill Down.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It aggregates or summarizes data to provide a higher-level overview.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How it works:</a:t>
            </a: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Climbing up in the concept hierarchy &amp; reducing the number of dimensions.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Aggregating sales data from City -&gt; Country or from Month -&gt; Quarter.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FD5594-5EA2-4A59-1AB0-2572933F9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14" y="1104022"/>
            <a:ext cx="6518505" cy="508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7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70D15-5D66-FE5F-0DB0-A092F2FF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AE7D50-F5D8-CDA1-B038-F2E12FBC266D}"/>
              </a:ext>
            </a:extLst>
          </p:cNvPr>
          <p:cNvSpPr txBox="1"/>
          <p:nvPr/>
        </p:nvSpPr>
        <p:spPr>
          <a:xfrm>
            <a:off x="1064173" y="443586"/>
            <a:ext cx="6101254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3200" b="1" i="1" u="sng" dirty="0">
                <a:solidFill>
                  <a:srgbClr val="FF0000"/>
                </a:solidFill>
                <a:effectLst/>
                <a:latin typeface="Nunito" pitchFamily="2" charset="0"/>
              </a:rPr>
              <a:t>3. Slice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19853-5996-19F6-8140-26E61725B8AC}"/>
              </a:ext>
            </a:extLst>
          </p:cNvPr>
          <p:cNvSpPr txBox="1"/>
          <p:nvPr/>
        </p:nvSpPr>
        <p:spPr>
          <a:xfrm>
            <a:off x="1064173" y="1105689"/>
            <a:ext cx="3949261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Slice operation selects a single dimension from the cube, creating a new sub-cube with reduced dimensionality.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It helps focus on a specific data slice for analysis.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Selecting Time = "Q1" to </a:t>
            </a:r>
            <a:r>
              <a:rPr lang="en-IN" sz="2000" b="0" i="1" dirty="0" err="1">
                <a:solidFill>
                  <a:srgbClr val="273239"/>
                </a:solidFill>
                <a:effectLst/>
                <a:latin typeface="Nunito" pitchFamily="2" charset="0"/>
              </a:rPr>
              <a:t>analyze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sales across all products and regions for the first quarter.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7F23D-4F0F-5930-614E-3E498367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07" y="1105689"/>
            <a:ext cx="5530378" cy="51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51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769B-BB3C-E8DB-7813-D7CFA74E9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E1654-97B4-5FE7-2539-20D84A43C306}"/>
              </a:ext>
            </a:extLst>
          </p:cNvPr>
          <p:cNvSpPr txBox="1"/>
          <p:nvPr/>
        </p:nvSpPr>
        <p:spPr>
          <a:xfrm>
            <a:off x="1158766" y="438387"/>
            <a:ext cx="6101254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3200" b="1" i="1" u="sng" dirty="0">
                <a:solidFill>
                  <a:srgbClr val="FF0000"/>
                </a:solidFill>
                <a:effectLst/>
                <a:latin typeface="Nunito" pitchFamily="2" charset="0"/>
              </a:rPr>
              <a:t>4. Dice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BFD30-5DD3-D231-F6AB-BC39A432FD6C}"/>
              </a:ext>
            </a:extLst>
          </p:cNvPr>
          <p:cNvSpPr txBox="1"/>
          <p:nvPr/>
        </p:nvSpPr>
        <p:spPr>
          <a:xfrm>
            <a:off x="1053663" y="1240458"/>
            <a:ext cx="4022834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Dice operation selects data from the cube by applying filters on two or more dimensions to form a sub-cube.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results in a smaller cube focused on these specific dimensions.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Selecting: Location = "Delhi" or "Kolkata", Time = "Q1" or "Q2" &amp; Item = "Car" or "Bus"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5A67AE-4E52-CA28-A202-34A0633E2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980" y="801948"/>
            <a:ext cx="5653231" cy="507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59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9451-FEF4-ECE7-5BDA-A70B77D5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EAB6E6-870B-7E92-CB8E-27E497486D77}"/>
              </a:ext>
            </a:extLst>
          </p:cNvPr>
          <p:cNvSpPr txBox="1"/>
          <p:nvPr/>
        </p:nvSpPr>
        <p:spPr>
          <a:xfrm>
            <a:off x="1158766" y="525097"/>
            <a:ext cx="6101254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IN" sz="3200" b="1" i="1" u="sng" dirty="0">
                <a:solidFill>
                  <a:srgbClr val="FF0000"/>
                </a:solidFill>
                <a:effectLst/>
                <a:latin typeface="Nunito" pitchFamily="2" charset="0"/>
              </a:rPr>
              <a:t>5. Pivot (Rotation)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554B7-8C68-A14D-6337-6B7F6F89715F}"/>
              </a:ext>
            </a:extLst>
          </p:cNvPr>
          <p:cNvSpPr txBox="1"/>
          <p:nvPr/>
        </p:nvSpPr>
        <p:spPr>
          <a:xfrm>
            <a:off x="1158766" y="1326406"/>
            <a:ext cx="420151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Pivot operation (also known as Rotation) reorients the cube to provide a different view of the data.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It helps users visualize data from different perspectives by rotating rows and columns.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IN" sz="2000" b="1" i="1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  <a:r>
              <a:rPr lang="en-IN" sz="2000" b="0" i="1" dirty="0">
                <a:solidFill>
                  <a:srgbClr val="273239"/>
                </a:solidFill>
                <a:effectLst/>
                <a:latin typeface="Nunito" pitchFamily="2" charset="0"/>
              </a:rPr>
              <a:t> Swapping the Time and Location axes to compare sales by quarter across different regions.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875B30-FF75-980E-AC7A-0BE4C1AF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5" y="1326406"/>
            <a:ext cx="5419857" cy="50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62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E581-432B-A849-3840-D5E264929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59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79BC6-89FA-26C1-F8C6-15487F366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7F206-A233-5141-9BDF-577B632D553D}"/>
              </a:ext>
            </a:extLst>
          </p:cNvPr>
          <p:cNvSpPr txBox="1"/>
          <p:nvPr/>
        </p:nvSpPr>
        <p:spPr>
          <a:xfrm>
            <a:off x="969580" y="156242"/>
            <a:ext cx="98665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retail company stores its </a:t>
            </a:r>
            <a:r>
              <a:rPr lang="en-IN" b="1" dirty="0"/>
              <a:t>sales data</a:t>
            </a:r>
            <a:r>
              <a:rPr lang="en-IN" dirty="0"/>
              <a:t> in a data warehouse with the following dimensions: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Time:</a:t>
            </a:r>
            <a:r>
              <a:rPr lang="en-IN" dirty="0"/>
              <a:t> Year → Quarter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Region:</a:t>
            </a:r>
            <a:r>
              <a:rPr lang="en-IN" dirty="0"/>
              <a:t> North, South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Product:</a:t>
            </a:r>
            <a:r>
              <a:rPr lang="en-IN" dirty="0"/>
              <a:t> Mobile, 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Measure:</a:t>
            </a:r>
            <a:r>
              <a:rPr lang="en-IN" dirty="0"/>
              <a:t> Sales (in ₹ lakhs)</a:t>
            </a:r>
          </a:p>
          <a:p>
            <a:pPr>
              <a:buNone/>
            </a:pPr>
            <a:r>
              <a:rPr lang="en-IN" dirty="0"/>
              <a:t>The </a:t>
            </a:r>
            <a:r>
              <a:rPr lang="en-IN" b="1" dirty="0"/>
              <a:t>sales data for the year 2023</a:t>
            </a:r>
            <a:r>
              <a:rPr lang="en-IN" dirty="0"/>
              <a:t> is shown below: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3DADFE-24D7-0CCF-AEC3-12C58C01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07130"/>
              </p:ext>
            </p:extLst>
          </p:nvPr>
        </p:nvGraphicFramePr>
        <p:xfrm>
          <a:off x="1056236" y="2192628"/>
          <a:ext cx="8596312" cy="3291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703708543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301644055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70212873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277034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09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55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15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455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500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00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03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42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586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001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FB3D-78EA-F25A-23D5-65E12978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C6081-B74E-C857-AC33-975DFC6C765E}"/>
              </a:ext>
            </a:extLst>
          </p:cNvPr>
          <p:cNvSpPr txBox="1"/>
          <p:nvPr/>
        </p:nvSpPr>
        <p:spPr>
          <a:xfrm>
            <a:off x="843453" y="74236"/>
            <a:ext cx="90993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0000"/>
                </a:solidFill>
              </a:rPr>
              <a:t>Roll-Up Operation:</a:t>
            </a:r>
          </a:p>
          <a:p>
            <a:br>
              <a:rPr lang="en-IN" dirty="0"/>
            </a:br>
            <a:r>
              <a:rPr lang="en-IN" dirty="0"/>
              <a:t>Perform a roll-up operation to calculate the </a:t>
            </a:r>
            <a:r>
              <a:rPr lang="en-IN" b="1" dirty="0"/>
              <a:t>total yearly sales for each region</a:t>
            </a:r>
            <a:r>
              <a:rPr lang="en-IN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15C4F-6D83-C215-3C27-ECD3E144A107}"/>
              </a:ext>
            </a:extLst>
          </p:cNvPr>
          <p:cNvSpPr txBox="1"/>
          <p:nvPr/>
        </p:nvSpPr>
        <p:spPr>
          <a:xfrm>
            <a:off x="843453" y="1582340"/>
            <a:ext cx="103500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Roll-up</a:t>
            </a:r>
            <a:r>
              <a:rPr lang="en-IN" dirty="0"/>
              <a:t> here means going from </a:t>
            </a:r>
            <a:r>
              <a:rPr lang="en-IN" b="1" dirty="0"/>
              <a:t>Quarter level → Year level</a:t>
            </a:r>
            <a:r>
              <a:rPr lang="en-IN" dirty="0"/>
              <a:t> by </a:t>
            </a:r>
            <a:r>
              <a:rPr lang="en-IN" b="1" dirty="0"/>
              <a:t>summing sales</a:t>
            </a:r>
            <a:r>
              <a:rPr lang="en-IN" dirty="0"/>
              <a:t> for each region across all products and quarters.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North (Yearly total)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North total = 120 + 180 + 140 + 200</a:t>
            </a:r>
            <a:br>
              <a:rPr lang="en-IN" dirty="0"/>
            </a:br>
            <a:r>
              <a:rPr lang="en-IN" dirty="0"/>
              <a:t>= (120 + 180) + (140 + 200)</a:t>
            </a:r>
            <a:br>
              <a:rPr lang="en-IN" dirty="0"/>
            </a:br>
            <a:r>
              <a:rPr lang="en-IN" dirty="0"/>
              <a:t>= 300 + 340</a:t>
            </a:r>
            <a:br>
              <a:rPr lang="en-IN" dirty="0"/>
            </a:br>
            <a:r>
              <a:rPr lang="en-IN" dirty="0"/>
              <a:t>= </a:t>
            </a:r>
            <a:r>
              <a:rPr lang="en-IN" b="1" dirty="0"/>
              <a:t>640 ₹ lakhs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South (Yearly total)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South total = 100 + 150 + 110 + 160</a:t>
            </a:r>
            <a:br>
              <a:rPr lang="en-IN" dirty="0"/>
            </a:br>
            <a:r>
              <a:rPr lang="en-IN" dirty="0"/>
              <a:t>= (100 + 150) + (110 + 160)</a:t>
            </a:r>
            <a:br>
              <a:rPr lang="en-IN" dirty="0"/>
            </a:br>
            <a:r>
              <a:rPr lang="en-IN" dirty="0"/>
              <a:t>= 250 + 270</a:t>
            </a:r>
            <a:br>
              <a:rPr lang="en-IN" dirty="0"/>
            </a:br>
            <a:r>
              <a:rPr lang="en-IN" dirty="0"/>
              <a:t>= </a:t>
            </a:r>
            <a:r>
              <a:rPr lang="en-IN" b="1" dirty="0"/>
              <a:t>520 ₹ lakhs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263902-39B4-3765-6F7B-AA839CE4A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708262"/>
              </p:ext>
            </p:extLst>
          </p:nvPr>
        </p:nvGraphicFramePr>
        <p:xfrm>
          <a:off x="6676644" y="5387000"/>
          <a:ext cx="4671903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55737">
                  <a:extLst>
                    <a:ext uri="{9D8B030D-6E8A-4147-A177-3AD203B41FA5}">
                      <a16:colId xmlns:a16="http://schemas.microsoft.com/office/drawing/2014/main" val="3396497169"/>
                    </a:ext>
                  </a:extLst>
                </a:gridCol>
                <a:gridCol w="3216166">
                  <a:extLst>
                    <a:ext uri="{9D8B030D-6E8A-4147-A177-3AD203B41FA5}">
                      <a16:colId xmlns:a16="http://schemas.microsoft.com/office/drawing/2014/main" val="1098787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Sales in 2023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915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20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1399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3BE34D-35FF-11D5-F7DC-8C264488F79E}"/>
              </a:ext>
            </a:extLst>
          </p:cNvPr>
          <p:cNvSpPr txBox="1"/>
          <p:nvPr/>
        </p:nvSpPr>
        <p:spPr>
          <a:xfrm>
            <a:off x="6529552" y="4824709"/>
            <a:ext cx="4138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 (Roll-Up Output)</a:t>
            </a:r>
          </a:p>
        </p:txBody>
      </p:sp>
    </p:spTree>
    <p:extLst>
      <p:ext uri="{BB962C8B-B14F-4D97-AF65-F5344CB8AC3E}">
        <p14:creationId xmlns:p14="http://schemas.microsoft.com/office/powerpoint/2010/main" val="1878576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E65A-F8A9-98B7-175A-6068CDA7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A0219-E58A-AA7A-B0E8-F86DF9B77487}"/>
              </a:ext>
            </a:extLst>
          </p:cNvPr>
          <p:cNvSpPr txBox="1"/>
          <p:nvPr/>
        </p:nvSpPr>
        <p:spPr>
          <a:xfrm>
            <a:off x="927537" y="43458"/>
            <a:ext cx="10833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0000"/>
                </a:solidFill>
              </a:rPr>
              <a:t>Drill-Down Operation:</a:t>
            </a:r>
          </a:p>
          <a:p>
            <a:br>
              <a:rPr lang="en-IN" dirty="0"/>
            </a:br>
            <a:r>
              <a:rPr lang="en-IN" dirty="0"/>
              <a:t>Starting from </a:t>
            </a:r>
            <a:r>
              <a:rPr lang="en-IN" b="1" dirty="0"/>
              <a:t>region-wise yearly sales</a:t>
            </a:r>
            <a:r>
              <a:rPr lang="en-IN" dirty="0"/>
              <a:t>, drill down to show </a:t>
            </a:r>
            <a:r>
              <a:rPr lang="en-IN" b="1" dirty="0"/>
              <a:t>quarter-wise sales for the North region</a:t>
            </a:r>
            <a:r>
              <a:rPr lang="en-IN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9032E-F976-E89D-4356-46CCA2EB8589}"/>
              </a:ext>
            </a:extLst>
          </p:cNvPr>
          <p:cNvSpPr txBox="1"/>
          <p:nvPr/>
        </p:nvSpPr>
        <p:spPr>
          <a:xfrm>
            <a:off x="927537" y="1120676"/>
            <a:ext cx="111173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Drill-down</a:t>
            </a:r>
            <a:r>
              <a:rPr lang="en-IN" dirty="0"/>
              <a:t> means moving from </a:t>
            </a:r>
            <a:r>
              <a:rPr lang="en-IN" b="1" dirty="0"/>
              <a:t>summary → detail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We already have North yearly total (640). Now we break it into </a:t>
            </a:r>
            <a:r>
              <a:rPr lang="en-IN" b="1" dirty="0"/>
              <a:t>Q1 and Q2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North Q1 total</a:t>
            </a:r>
          </a:p>
          <a:p>
            <a:pPr>
              <a:buNone/>
            </a:pPr>
            <a:r>
              <a:rPr lang="en-IN" dirty="0"/>
              <a:t>North Q1 = Mobile 120 + Laptop 180 = </a:t>
            </a:r>
            <a:r>
              <a:rPr lang="en-IN" b="1" dirty="0"/>
              <a:t>300 ₹ lakhs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North Q2 total</a:t>
            </a:r>
          </a:p>
          <a:p>
            <a:pPr>
              <a:buNone/>
            </a:pPr>
            <a:r>
              <a:rPr lang="en-IN" dirty="0"/>
              <a:t>North Q2 = Mobile 140 + Laptop 200 = </a:t>
            </a:r>
            <a:r>
              <a:rPr lang="en-IN" b="1" dirty="0"/>
              <a:t>340 ₹ lakhs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Drill-down Output (North, Quarter-wise)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61C031-A2ED-18FE-9B0E-FE81A25D9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016312"/>
              </p:ext>
            </p:extLst>
          </p:nvPr>
        </p:nvGraphicFramePr>
        <p:xfrm>
          <a:off x="927537" y="4404005"/>
          <a:ext cx="8596311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35162259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7080245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350959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51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857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982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08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8406-B3F6-6502-5E10-7CAF47EC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7331C-5A29-DDDD-1C02-38BDBDEFDD52}"/>
              </a:ext>
            </a:extLst>
          </p:cNvPr>
          <p:cNvSpPr txBox="1"/>
          <p:nvPr/>
        </p:nvSpPr>
        <p:spPr>
          <a:xfrm>
            <a:off x="990600" y="82310"/>
            <a:ext cx="98140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0000"/>
                </a:solidFill>
              </a:rPr>
              <a:t>Slice Operation:</a:t>
            </a:r>
          </a:p>
          <a:p>
            <a:br>
              <a:rPr lang="en-IN" dirty="0"/>
            </a:br>
            <a:r>
              <a:rPr lang="en-IN" dirty="0"/>
              <a:t>Apply a slice operation for </a:t>
            </a:r>
            <a:r>
              <a:rPr lang="en-IN" b="1" dirty="0"/>
              <a:t>Product = Mobile</a:t>
            </a:r>
            <a:r>
              <a:rPr lang="en-IN" dirty="0"/>
              <a:t> and show the resulting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4306C-3791-D06E-AFC7-B928BA82B01B}"/>
              </a:ext>
            </a:extLst>
          </p:cNvPr>
          <p:cNvSpPr txBox="1"/>
          <p:nvPr/>
        </p:nvSpPr>
        <p:spPr>
          <a:xfrm>
            <a:off x="990600" y="1256776"/>
            <a:ext cx="9908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Slice</a:t>
            </a:r>
            <a:r>
              <a:rPr lang="en-IN" dirty="0"/>
              <a:t> means fixing </a:t>
            </a:r>
            <a:r>
              <a:rPr lang="en-IN" b="1" dirty="0"/>
              <a:t>one dimension value</a:t>
            </a:r>
            <a:r>
              <a:rPr lang="en-IN" dirty="0"/>
              <a:t>.</a:t>
            </a:r>
          </a:p>
          <a:p>
            <a:br>
              <a:rPr lang="en-IN" dirty="0"/>
            </a:br>
            <a:r>
              <a:rPr lang="en-IN" dirty="0"/>
              <a:t>Here we fix </a:t>
            </a:r>
            <a:r>
              <a:rPr lang="en-IN" b="1" dirty="0"/>
              <a:t>Product = Mobile</a:t>
            </a:r>
            <a:r>
              <a:rPr lang="en-IN" dirty="0"/>
              <a:t> and keep other dimensions (Quarter, Region).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6A70-999A-4496-3E98-781CA0C4B8C2}"/>
              </a:ext>
            </a:extLst>
          </p:cNvPr>
          <p:cNvSpPr txBox="1"/>
          <p:nvPr/>
        </p:nvSpPr>
        <p:spPr>
          <a:xfrm>
            <a:off x="990600" y="2374603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Slice Output (Only Mobile rows)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FB49DF-254C-16CF-78A6-6BA371CD2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79158"/>
              </p:ext>
            </p:extLst>
          </p:nvPr>
        </p:nvGraphicFramePr>
        <p:xfrm>
          <a:off x="990600" y="2938432"/>
          <a:ext cx="8596312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14556056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643565512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599012586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297815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95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81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500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60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551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19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5B1F-AF86-D465-B683-8AF7FA66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5AF6D0-E039-21A6-85BC-66765DB75388}"/>
              </a:ext>
            </a:extLst>
          </p:cNvPr>
          <p:cNvSpPr txBox="1"/>
          <p:nvPr/>
        </p:nvSpPr>
        <p:spPr>
          <a:xfrm>
            <a:off x="990601" y="170482"/>
            <a:ext cx="610125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i="1" u="sng" dirty="0">
                <a:solidFill>
                  <a:srgbClr val="FF0000"/>
                </a:solidFill>
              </a:rPr>
              <a:t>Dice Operation: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Perform a dice operation for the following conditions: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Region = North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 = 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Quarter = Q1 and Q2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D7618-736F-F47C-44F5-F008B37EA77C}"/>
              </a:ext>
            </a:extLst>
          </p:cNvPr>
          <p:cNvSpPr txBox="1"/>
          <p:nvPr/>
        </p:nvSpPr>
        <p:spPr>
          <a:xfrm>
            <a:off x="990601" y="2121676"/>
            <a:ext cx="10329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Dice</a:t>
            </a:r>
            <a:r>
              <a:rPr lang="en-IN" dirty="0"/>
              <a:t> means selecting a subset using </a:t>
            </a:r>
            <a:r>
              <a:rPr lang="en-IN" b="1" dirty="0"/>
              <a:t>multiple conditions</a:t>
            </a:r>
            <a:r>
              <a:rPr lang="en-IN" dirty="0"/>
              <a:t> (more than one dimension).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Conditions: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Region = North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 = Laptop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Quarter ∈ {Q1, Q2}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Dice Output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DCE25B-F3AA-A334-CEF6-7BD0CC53A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33291"/>
              </p:ext>
            </p:extLst>
          </p:nvPr>
        </p:nvGraphicFramePr>
        <p:xfrm>
          <a:off x="990601" y="4975804"/>
          <a:ext cx="8596312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103275114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03872393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905472181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533222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Sales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110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61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87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357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D1B6-8F8D-BBB2-E32F-C62F28AD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732FA5-202C-2A60-F937-5C6B38D2C7B5}"/>
              </a:ext>
            </a:extLst>
          </p:cNvPr>
          <p:cNvSpPr txBox="1"/>
          <p:nvPr/>
        </p:nvSpPr>
        <p:spPr>
          <a:xfrm>
            <a:off x="1011620" y="0"/>
            <a:ext cx="107389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1" u="sng" dirty="0">
                <a:solidFill>
                  <a:srgbClr val="FF0000"/>
                </a:solidFill>
              </a:rPr>
              <a:t>Pivot Operation:</a:t>
            </a:r>
          </a:p>
          <a:p>
            <a:br>
              <a:rPr lang="en-IN" dirty="0"/>
            </a:br>
            <a:r>
              <a:rPr lang="en-IN" dirty="0"/>
              <a:t>Apply a pivot operation to display </a:t>
            </a:r>
            <a:r>
              <a:rPr lang="en-IN" b="1" dirty="0"/>
              <a:t>products as columns and regions as rows</a:t>
            </a:r>
            <a:r>
              <a:rPr lang="en-IN" dirty="0"/>
              <a:t>, showing total sales.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1AD7B-38F3-7A56-A94C-7D1A2C324E7D}"/>
              </a:ext>
            </a:extLst>
          </p:cNvPr>
          <p:cNvSpPr txBox="1"/>
          <p:nvPr/>
        </p:nvSpPr>
        <p:spPr>
          <a:xfrm>
            <a:off x="1011620" y="1117598"/>
            <a:ext cx="108230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Pivot</a:t>
            </a:r>
            <a:r>
              <a:rPr lang="en-IN" dirty="0"/>
              <a:t> means changing the </a:t>
            </a:r>
            <a:r>
              <a:rPr lang="en-IN" b="1" dirty="0"/>
              <a:t>data orientation</a:t>
            </a:r>
            <a:r>
              <a:rPr lang="en-IN" dirty="0"/>
              <a:t> (rows/columns), not changing values.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First compute totals per (Region, Product) across Q1+Q2:</a:t>
            </a:r>
          </a:p>
          <a:p>
            <a:pPr>
              <a:buNone/>
            </a:pPr>
            <a:br>
              <a:rPr lang="en-IN" b="1" dirty="0"/>
            </a:br>
            <a:r>
              <a:rPr lang="en-IN" b="1" dirty="0"/>
              <a:t>North 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North Mobile = 120 + 140 = </a:t>
            </a:r>
            <a:r>
              <a:rPr lang="en-IN" b="1" dirty="0"/>
              <a:t>260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North Laptop = 180 + 200 = </a:t>
            </a:r>
            <a:r>
              <a:rPr lang="en-IN" b="1" dirty="0"/>
              <a:t>380</a:t>
            </a: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South totals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South Mobile = 100 + 110 = </a:t>
            </a:r>
            <a:r>
              <a:rPr lang="en-IN" b="1" dirty="0"/>
              <a:t>210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South Laptop = 150 + 160 = </a:t>
            </a:r>
            <a:r>
              <a:rPr lang="en-IN" b="1" dirty="0"/>
              <a:t>310</a:t>
            </a:r>
            <a:endParaRPr lang="en-IN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Pivot Output (Region as rows, Product as columns)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D04550-D0F8-861D-3620-6FF954FD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81864"/>
              </p:ext>
            </p:extLst>
          </p:nvPr>
        </p:nvGraphicFramePr>
        <p:xfrm>
          <a:off x="1098277" y="5002869"/>
          <a:ext cx="8596311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90485180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97653737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209740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(₹ lakhs)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 (₹ lakhs)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48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71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11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475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E17B-6450-5CC6-154E-2FA88C7A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030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just"/>
            <a:r>
              <a:rPr dirty="0"/>
              <a:t>OLAP Servers and Its Types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OLAP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9154"/>
            <a:ext cx="9233921" cy="3880773"/>
          </a:xfrm>
        </p:spPr>
        <p:txBody>
          <a:bodyPr>
            <a:normAutofit/>
          </a:bodyPr>
          <a:lstStyle/>
          <a:p>
            <a:r>
              <a:rPr sz="3200" dirty="0"/>
              <a:t>An OLAP server is a specialized system that performs fast, multidimensional analysis on data stored in a data warehouse.</a:t>
            </a:r>
          </a:p>
          <a:p>
            <a:pPr lvl="1"/>
            <a:r>
              <a:rPr sz="2800" dirty="0"/>
              <a:t>It sits between the data warehouse and BI tools.</a:t>
            </a:r>
          </a:p>
          <a:p>
            <a:pPr lvl="1"/>
            <a:r>
              <a:rPr sz="2800" dirty="0"/>
              <a:t>It creates and manages data cubes/hypercubes.</a:t>
            </a:r>
          </a:p>
          <a:p>
            <a:pPr lvl="1"/>
            <a:r>
              <a:rPr sz="2800" dirty="0"/>
              <a:t>It executes OLAP operations: drill-down, roll-up, slice, dice, pivot.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Do We Need OLAP Servers?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118307" cy="3880773"/>
          </a:xfrm>
        </p:spPr>
        <p:txBody>
          <a:bodyPr>
            <a:noAutofit/>
          </a:bodyPr>
          <a:lstStyle/>
          <a:p>
            <a:pPr algn="just"/>
            <a:r>
              <a:rPr sz="2800" dirty="0"/>
              <a:t>Traditional databases are optimized for transactions (OLTP), not analysis.</a:t>
            </a:r>
            <a:endParaRPr lang="en-IN" sz="2800" dirty="0"/>
          </a:p>
          <a:p>
            <a:pPr algn="just"/>
            <a:r>
              <a:rPr sz="2800" dirty="0"/>
              <a:t>Analytical queries are complex and slow on raw transactional data.</a:t>
            </a:r>
            <a:endParaRPr lang="en-IN" sz="2800" dirty="0"/>
          </a:p>
          <a:p>
            <a:pPr algn="just"/>
            <a:r>
              <a:rPr sz="2800" dirty="0"/>
              <a:t>OLAP servers provide fast response for decision-making queries.</a:t>
            </a:r>
            <a:endParaRPr lang="en-IN" sz="2800" dirty="0"/>
          </a:p>
          <a:p>
            <a:pPr algn="just"/>
            <a:r>
              <a:rPr sz="2800" dirty="0"/>
              <a:t>They support interactive and multidimensional analysis.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OLAP Server in DW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OLTP Systems → ETL → Data Warehouse → OLAP Server → BI/OLAP Tools</a:t>
            </a:r>
          </a:p>
          <a:p>
            <a:pPr lvl="1"/>
            <a:r>
              <a:rPr sz="2800" dirty="0"/>
              <a:t>OLAP server acts as middleware for analytical processing.</a:t>
            </a:r>
          </a:p>
          <a:p>
            <a:pPr lvl="1"/>
            <a:r>
              <a:rPr sz="2800" dirty="0"/>
              <a:t>Users interact via dashboards; server handles computation.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OLAP Servers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MOLAP (Multidimensional OLAP)</a:t>
            </a:r>
            <a:endParaRPr lang="en-IN" sz="3600" dirty="0"/>
          </a:p>
          <a:p>
            <a:r>
              <a:rPr lang="en-IN" sz="3600" dirty="0"/>
              <a:t>ROLAP (Relational OLAP)</a:t>
            </a:r>
          </a:p>
          <a:p>
            <a:r>
              <a:rPr lang="en-IN" sz="3600" dirty="0"/>
              <a:t>HOLAP (Hybrid OLAP)</a:t>
            </a:r>
          </a:p>
          <a:p>
            <a:pPr marL="0" indent="0">
              <a:buNone/>
            </a:pPr>
            <a:endParaRPr lang="en-IN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MOLAP (Multidimensional OLAP)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Stores data in multidimensional cube structures.</a:t>
            </a:r>
          </a:p>
          <a:p>
            <a:pPr lvl="1"/>
            <a:r>
              <a:rPr sz="2800" dirty="0"/>
              <a:t>Aggregations are pre-computed and stored.</a:t>
            </a:r>
          </a:p>
          <a:p>
            <a:pPr lvl="1"/>
            <a:r>
              <a:rPr sz="2800" dirty="0"/>
              <a:t>Very fast query response for analytical queries.</a:t>
            </a:r>
          </a:p>
          <a:p>
            <a:pPr lvl="1"/>
            <a:r>
              <a:rPr sz="2800" dirty="0"/>
              <a:t>Best for moderate-sized, stable datasets.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MOLAP: Example,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Example: Retail sales cube with Time, Region, Product dimensions.</a:t>
            </a:r>
          </a:p>
          <a:p>
            <a:pPr lvl="1"/>
            <a:r>
              <a:rPr sz="2800" dirty="0"/>
              <a:t>Advantages: Extremely fast, excellent multidimensional analysis.</a:t>
            </a:r>
          </a:p>
          <a:p>
            <a:pPr lvl="1"/>
            <a:r>
              <a:rPr sz="2800" dirty="0"/>
              <a:t>Limitations: High storage cost, limited scalability, cube rebuild time.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844" y="306552"/>
            <a:ext cx="8596668" cy="1320800"/>
          </a:xfrm>
        </p:spPr>
        <p:txBody>
          <a:bodyPr/>
          <a:lstStyle/>
          <a:p>
            <a:r>
              <a:rPr dirty="0"/>
              <a:t>ROLAP (Relational OLAP)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844" y="1785007"/>
            <a:ext cx="8596668" cy="3880773"/>
          </a:xfrm>
        </p:spPr>
        <p:txBody>
          <a:bodyPr>
            <a:normAutofit/>
          </a:bodyPr>
          <a:lstStyle/>
          <a:p>
            <a:r>
              <a:rPr sz="3200" dirty="0"/>
              <a:t>Data remains in relational tables (star/snowflake schema).</a:t>
            </a:r>
          </a:p>
          <a:p>
            <a:pPr lvl="1"/>
            <a:r>
              <a:rPr sz="2800" dirty="0"/>
              <a:t>OLAP operations are translated into SQL queries.</a:t>
            </a:r>
          </a:p>
          <a:p>
            <a:pPr lvl="1"/>
            <a:r>
              <a:rPr sz="2800" dirty="0"/>
              <a:t>Scales well for very large datasets.</a:t>
            </a:r>
          </a:p>
          <a:p>
            <a:pPr lvl="1"/>
            <a:r>
              <a:rPr sz="2800" dirty="0"/>
              <a:t>Uses existing RDBMS technology.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ROLAP: Example,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Example: Telecom call records analyzed via SQL aggregations.</a:t>
            </a:r>
          </a:p>
          <a:p>
            <a:pPr lvl="1"/>
            <a:r>
              <a:rPr sz="2800" dirty="0"/>
              <a:t>Advantages: High scalability, storage efficient, flexible schema.</a:t>
            </a:r>
          </a:p>
          <a:p>
            <a:pPr lvl="1"/>
            <a:r>
              <a:rPr sz="2800" dirty="0"/>
              <a:t>Limitations: Slower than MOLAP, complex SQL, DB tuning required.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HOLAP (Hybrid OLAP)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Combines MOLAP and ROLAP approaches.</a:t>
            </a:r>
          </a:p>
          <a:p>
            <a:pPr lvl="1"/>
            <a:r>
              <a:rPr sz="2800" dirty="0"/>
              <a:t>Summary data stored in cubes; detailed data in relational tables.</a:t>
            </a:r>
          </a:p>
          <a:p>
            <a:pPr lvl="1"/>
            <a:r>
              <a:rPr sz="2800" dirty="0"/>
              <a:t>Balances speed and scalability.</a:t>
            </a:r>
          </a:p>
          <a:p>
            <a:pPr lvl="1"/>
            <a:r>
              <a:rPr sz="2800" dirty="0"/>
              <a:t>Used in large enterprise BI systems.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HOLAP: Example, 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Example: Retail chain dashboards (cubes) with bill-level drill-down (tables).</a:t>
            </a:r>
          </a:p>
          <a:p>
            <a:pPr lvl="1"/>
            <a:r>
              <a:rPr sz="2800" dirty="0"/>
              <a:t>Advantages: Fast summaries, scalable details, efficient storage.</a:t>
            </a:r>
          </a:p>
          <a:p>
            <a:pPr lvl="1"/>
            <a:r>
              <a:rPr sz="2800" dirty="0"/>
              <a:t>Limitations: More complex architecture, higher cost, cube processing.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OLAP Server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MOLAP: Cube storage, very fast, limited scalability</a:t>
            </a:r>
            <a:r>
              <a:rPr lang="en-IN" sz="3200" dirty="0"/>
              <a:t>.</a:t>
            </a:r>
          </a:p>
          <a:p>
            <a:r>
              <a:rPr sz="2800" dirty="0"/>
              <a:t>ROLAP: Table storage, highly scalable, slower queries</a:t>
            </a:r>
            <a:r>
              <a:rPr lang="en-IN" sz="2800" dirty="0"/>
              <a:t>.</a:t>
            </a:r>
          </a:p>
          <a:p>
            <a:r>
              <a:rPr sz="2800" dirty="0"/>
              <a:t>HOLAP: Hybrid storage, balanced performance and scalability.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 OLAP Server?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Use MOLAP for fast dashboards with moderate data size.</a:t>
            </a:r>
            <a:endParaRPr lang="en-IN" sz="3200" dirty="0"/>
          </a:p>
          <a:p>
            <a:r>
              <a:rPr sz="2800" dirty="0"/>
              <a:t>Use ROLAP for very large datasets requiring scalability</a:t>
            </a:r>
            <a:r>
              <a:rPr lang="en-IN" sz="2800" dirty="0"/>
              <a:t>.</a:t>
            </a:r>
          </a:p>
          <a:p>
            <a:r>
              <a:rPr sz="2800" dirty="0"/>
              <a:t>Use HOLAP when both fast summaries and detailed drill-down are needed.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OLAP servers enable fast, multidimensional analysis for decision support.</a:t>
            </a:r>
          </a:p>
          <a:p>
            <a:pPr lvl="1"/>
            <a:r>
              <a:rPr sz="2800" dirty="0"/>
              <a:t>Three main types: MOLAP, ROLAP, HOLAP.</a:t>
            </a:r>
          </a:p>
          <a:p>
            <a:pPr lvl="1"/>
            <a:r>
              <a:rPr sz="2800" dirty="0"/>
              <a:t>Choice depends on data size, performance needs, and scalability.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4BC0-E004-5F2B-81D3-5B71EF26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536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BDDD-E6F8-14EF-1F62-7B5D7DA7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4232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D090-82B4-2FF0-F794-E1621662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125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A444-7598-74F5-8BA3-32CC17DBF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558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D07A5-ABA4-EAEA-4B71-A8F84369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916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80E6-2BD8-F28D-13E6-FEA4B5DB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76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6A1D-D287-4C6B-8B0F-4677D969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8076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1F9A-3739-EE32-D232-5CB6206F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172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D49A9-D0F2-4F15-CEA5-CD243B70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5324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237C7-50BE-3220-F354-9CDDE5C0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4957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1FAF7-CE7D-DDED-3704-655719FA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2818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44567-A830-D484-0ADE-B5DBCB63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4404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EA8A-26F8-1170-A3F2-7016E2E8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7333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579D0-0DE4-A65E-2C91-C750543A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1484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44F7-41CA-BFB9-2D6A-302AB12F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716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F683-8BB2-D80C-8BA5-EF614860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8311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68EC-7841-BA0C-FE45-D5611982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7540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B662-D110-487B-C950-665C33D67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541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7386-EF33-7971-8038-77B4D195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8915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1CD2-A036-7097-B81F-89D02891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2570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F02B-BA4B-AA57-2BAD-17C4C9B0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5639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11E3-96A9-BC88-CF3E-32F24E26C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8173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50A64-5169-9D33-09B4-484219B1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7425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015A-F6BD-BCC1-9BEF-521628EC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815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75F61-2496-A22C-7360-5188833E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6432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F99D-B1F9-9A55-11F1-64C14481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1337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3909-A962-E20D-D578-BDF3AB45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2098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FC4D-4975-DB12-BC75-ED509B1B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5900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7B68-31FA-9D38-246C-21CB1370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8418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530D-F338-D245-6D09-6874F6E5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6833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8FF3-4D91-069F-8409-B03B763D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8569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9BE4-9542-AA44-CE16-B5FDB028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0364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2788-9D41-4AE0-1C27-16282620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0199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270E-5DCB-881F-49C0-34A7DD28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474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0EAE-5B1C-A5B6-09E4-ECFA4D24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4748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6780-E490-E8F7-A600-1209F9216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8377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5154-69F4-ABB2-E5A0-821D31DA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2357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C4D4-BEF1-ECC5-DDB9-6414CA07F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992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ED6D-DEFF-1A59-A341-05275CAE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8326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1B60-3DF6-40F0-4F89-A5893255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3281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4688-C0B8-68D1-4B90-3E000FF9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7832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47DD-3F21-CF87-09DE-AD4BC64E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5361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23EB2-9A8C-48DE-BA63-DF78DE9A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5404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0ACB-D70C-46DB-85D5-0D671DC6E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9780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2A73-17A7-B27A-FE3E-2084064D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0187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5D79-006B-830D-92F7-E035B1F9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15097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81A4-5331-B1AF-F811-27202898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4285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56D1-64A8-34DB-0277-B6DBD469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67759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C96D-FE8E-86E2-1F7C-20DF1EBB5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0873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A307-18EF-51EA-3C10-A0A03F0E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669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E762-51F3-251E-D030-23C03AD38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44586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A8F5-EE1F-C847-4D9C-1A6C69F8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4227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3ED4-9D6E-7D16-7481-62016061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3292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3DA3-1A4F-9FEE-76C6-02AA4F5C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1544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396</TotalTime>
  <Words>3027</Words>
  <Application>Microsoft Office PowerPoint</Application>
  <PresentationFormat>Widescreen</PresentationFormat>
  <Paragraphs>484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Arial</vt:lpstr>
      <vt:lpstr>Manrope</vt:lpstr>
      <vt:lpstr>Nunito</vt:lpstr>
      <vt:lpstr>Source Sans 3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OLAP Servers and Its Types</vt:lpstr>
      <vt:lpstr>What is an OLAP Server?</vt:lpstr>
      <vt:lpstr>Why Do We Need OLAP Servers?</vt:lpstr>
      <vt:lpstr>OLAP Server in DW Architecture</vt:lpstr>
      <vt:lpstr>Types of OLAP Servers</vt:lpstr>
      <vt:lpstr>MOLAP (Multidimensional OLAP)</vt:lpstr>
      <vt:lpstr>MOLAP: Example, Advantages &amp; Limitations</vt:lpstr>
      <vt:lpstr>ROLAP (Relational OLAP)</vt:lpstr>
      <vt:lpstr>ROLAP: Example, Advantages &amp; Limitations</vt:lpstr>
      <vt:lpstr>HOLAP (Hybrid OLAP)</vt:lpstr>
      <vt:lpstr>HOLAP: Example, Advantages &amp; Limitations</vt:lpstr>
      <vt:lpstr>Comparison of OLAP Server Types</vt:lpstr>
      <vt:lpstr>When to Use Which OLAP Server?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Devesh Kumar</dc:creator>
  <cp:lastModifiedBy>Devesh Kumar</cp:lastModifiedBy>
  <cp:revision>23</cp:revision>
  <dcterms:created xsi:type="dcterms:W3CDTF">2026-01-22T03:52:03Z</dcterms:created>
  <dcterms:modified xsi:type="dcterms:W3CDTF">2026-01-29T03:33:24Z</dcterms:modified>
</cp:coreProperties>
</file>