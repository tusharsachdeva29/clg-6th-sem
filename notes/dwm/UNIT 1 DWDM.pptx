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68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65" r:id="rId38"/>
    <p:sldId id="269" r:id="rId39"/>
    <p:sldId id="270" r:id="rId40"/>
    <p:sldId id="271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9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097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74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651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293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878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795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40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656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753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574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910502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672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358718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898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072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18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144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3A7E8EE-0AB2-D894-8B67-E564691AED8D}"/>
              </a:ext>
            </a:extLst>
          </p:cNvPr>
          <p:cNvSpPr txBox="1"/>
          <p:nvPr/>
        </p:nvSpPr>
        <p:spPr>
          <a:xfrm>
            <a:off x="1061571" y="302359"/>
            <a:ext cx="8550137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6000" b="1" dirty="0"/>
              <a:t>Data Warehousing and Data Mining</a:t>
            </a:r>
          </a:p>
          <a:p>
            <a:pPr>
              <a:buNone/>
            </a:pPr>
            <a:endParaRPr lang="en-IN" sz="6000" b="1" dirty="0"/>
          </a:p>
          <a:p>
            <a:pPr>
              <a:buNone/>
            </a:pPr>
            <a:r>
              <a:rPr lang="en-IN" sz="6000" b="1" dirty="0"/>
              <a:t>               UNIT - 1</a:t>
            </a:r>
            <a:br>
              <a:rPr lang="en-IN" sz="6000" dirty="0"/>
            </a:br>
            <a:br>
              <a:rPr lang="en-IN" sz="4000" dirty="0"/>
            </a:br>
            <a:r>
              <a:rPr lang="en-IN" sz="4000" dirty="0"/>
              <a:t>Department: CSE (AI)</a:t>
            </a:r>
            <a:br>
              <a:rPr lang="en-IN" sz="4000" dirty="0"/>
            </a:br>
            <a:r>
              <a:rPr lang="en-IN" sz="4000" dirty="0"/>
              <a:t>Semester: 6</a:t>
            </a:r>
            <a:r>
              <a:rPr lang="en-IN" sz="4000" baseline="30000" dirty="0"/>
              <a:t>TH</a:t>
            </a:r>
            <a:r>
              <a:rPr lang="en-IN" sz="4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27719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2887F-0477-FA1B-214E-02B2FE943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159664-6B0B-9366-9584-D5B9CF5FED6A}"/>
              </a:ext>
            </a:extLst>
          </p:cNvPr>
          <p:cNvSpPr txBox="1"/>
          <p:nvPr/>
        </p:nvSpPr>
        <p:spPr>
          <a:xfrm>
            <a:off x="1470992" y="663402"/>
            <a:ext cx="6102626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This subject deals with handling large volumes of data and extracting useful information from it.</a:t>
            </a:r>
          </a:p>
          <a:p>
            <a:br>
              <a:rPr lang="en-IN" sz="2800" dirty="0"/>
            </a:br>
            <a:r>
              <a:rPr lang="en-IN" sz="2800" dirty="0"/>
              <a:t>We study how data is stored efficiently and how meaningful patterns are discovered from that data.</a:t>
            </a:r>
          </a:p>
          <a:p>
            <a:br>
              <a:rPr lang="en-IN" sz="2800" dirty="0"/>
            </a:br>
            <a:r>
              <a:rPr lang="en-IN" sz="2800" dirty="0"/>
              <a:t>It focuses on supporting analysis, reporting, and decision making.</a:t>
            </a:r>
          </a:p>
        </p:txBody>
      </p:sp>
    </p:spTree>
    <p:extLst>
      <p:ext uri="{BB962C8B-B14F-4D97-AF65-F5344CB8AC3E}">
        <p14:creationId xmlns:p14="http://schemas.microsoft.com/office/powerpoint/2010/main" val="1472002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C0EC3-D361-3F62-00B5-FAC357427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397B48-248F-D952-630B-E638C6734939}"/>
              </a:ext>
            </a:extLst>
          </p:cNvPr>
          <p:cNvSpPr txBox="1"/>
          <p:nvPr/>
        </p:nvSpPr>
        <p:spPr>
          <a:xfrm>
            <a:off x="1262269" y="457922"/>
            <a:ext cx="9064487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u="sng" dirty="0"/>
              <a:t>Why Do We Need Data Warehousing and Data Mining?</a:t>
            </a:r>
          </a:p>
          <a:p>
            <a:pPr>
              <a:buNone/>
            </a:pPr>
            <a:endParaRPr lang="en-IN" sz="2800" b="1" dirty="0"/>
          </a:p>
          <a:p>
            <a:pPr>
              <a:buNone/>
            </a:pPr>
            <a:r>
              <a:rPr lang="en-IN" sz="2800" dirty="0"/>
              <a:t>Today, organizations generate huge amounts of data every day.</a:t>
            </a:r>
          </a:p>
          <a:p>
            <a:pPr>
              <a:buNone/>
            </a:pPr>
            <a:br>
              <a:rPr lang="en-IN" sz="2800" dirty="0"/>
            </a:br>
            <a:r>
              <a:rPr lang="en-IN" sz="2800" dirty="0"/>
              <a:t>Traditional databases are not enough for analysis and long-term decisions.</a:t>
            </a:r>
          </a:p>
          <a:p>
            <a:pPr>
              <a:buNone/>
            </a:pPr>
            <a:br>
              <a:rPr lang="en-IN" sz="2800" dirty="0"/>
            </a:br>
            <a:r>
              <a:rPr lang="en-IN" sz="2800" dirty="0"/>
              <a:t>We need special systems to store historical data and </a:t>
            </a:r>
            <a:r>
              <a:rPr lang="en-IN" sz="2800" dirty="0" err="1"/>
              <a:t>analyze</a:t>
            </a:r>
            <a:r>
              <a:rPr lang="en-IN" sz="2800" dirty="0"/>
              <a:t> it effectively.</a:t>
            </a:r>
          </a:p>
          <a:p>
            <a:pPr>
              <a:buNone/>
            </a:pPr>
            <a:br>
              <a:rPr lang="en-IN" sz="2800" dirty="0"/>
            </a:br>
            <a:r>
              <a:rPr lang="en-IN" sz="2800" dirty="0"/>
              <a:t>This subject helps organizations make data-driven decisions.</a:t>
            </a:r>
          </a:p>
          <a:p>
            <a:pPr>
              <a:buNone/>
            </a:pPr>
            <a:br>
              <a:rPr lang="en-IN" sz="2000" dirty="0"/>
            </a:b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693443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58123-1B6E-520C-4D4F-BAD5A9E62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56571C-FA35-C0A1-3E2F-FDD228DEDE38}"/>
              </a:ext>
            </a:extLst>
          </p:cNvPr>
          <p:cNvSpPr txBox="1"/>
          <p:nvPr/>
        </p:nvSpPr>
        <p:spPr>
          <a:xfrm>
            <a:off x="1242390" y="545429"/>
            <a:ext cx="8537713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u="sng" dirty="0"/>
              <a:t>What is Data Warehousing?</a:t>
            </a:r>
          </a:p>
          <a:p>
            <a:pPr>
              <a:buNone/>
            </a:pPr>
            <a:endParaRPr lang="en-IN" sz="2400" b="1" dirty="0"/>
          </a:p>
          <a:p>
            <a:pPr>
              <a:buNone/>
            </a:pPr>
            <a:r>
              <a:rPr lang="en-IN" sz="2400" dirty="0"/>
              <a:t>Data Warehousing is the process of collecting data from multiple sources and storing it in a central repository.</a:t>
            </a:r>
          </a:p>
          <a:p>
            <a:pPr>
              <a:buNone/>
            </a:pPr>
            <a:br>
              <a:rPr lang="en-IN" sz="2400" dirty="0"/>
            </a:br>
            <a:r>
              <a:rPr lang="en-IN" sz="2400" dirty="0"/>
              <a:t>It stores large volumes of historical data in an organized manner.</a:t>
            </a:r>
          </a:p>
          <a:p>
            <a:pPr>
              <a:buNone/>
            </a:pPr>
            <a:br>
              <a:rPr lang="en-IN" sz="2400" dirty="0"/>
            </a:br>
            <a:r>
              <a:rPr lang="en-IN" sz="2400" dirty="0"/>
              <a:t>The main purpose of a data warehouse is analysis, reporting, and decision support.</a:t>
            </a:r>
          </a:p>
          <a:p>
            <a:pPr>
              <a:buNone/>
            </a:pPr>
            <a:br>
              <a:rPr lang="en-IN" sz="2400" dirty="0"/>
            </a:br>
            <a:r>
              <a:rPr lang="en-IN" sz="2400" dirty="0"/>
              <a:t>It is not used for daily transactions.</a:t>
            </a:r>
          </a:p>
        </p:txBody>
      </p:sp>
    </p:spTree>
    <p:extLst>
      <p:ext uri="{BB962C8B-B14F-4D97-AF65-F5344CB8AC3E}">
        <p14:creationId xmlns:p14="http://schemas.microsoft.com/office/powerpoint/2010/main" val="1487548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C5B75-4EE6-2A4B-A716-38B8828F3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9DC1F3-A81F-9450-EB62-17DB26D72BB6}"/>
              </a:ext>
            </a:extLst>
          </p:cNvPr>
          <p:cNvSpPr txBox="1"/>
          <p:nvPr/>
        </p:nvSpPr>
        <p:spPr>
          <a:xfrm>
            <a:off x="1302025" y="673990"/>
            <a:ext cx="881600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Data Warehousing – Real Life Example</a:t>
            </a:r>
          </a:p>
          <a:p>
            <a:pPr>
              <a:buNone/>
            </a:pPr>
            <a:endParaRPr lang="en-IN" sz="2400" b="1" dirty="0"/>
          </a:p>
          <a:p>
            <a:pPr>
              <a:buNone/>
            </a:pPr>
            <a:r>
              <a:rPr lang="en-IN" sz="2400" dirty="0"/>
              <a:t>Consider a college management system.</a:t>
            </a:r>
          </a:p>
          <a:p>
            <a:pPr>
              <a:buNone/>
            </a:pPr>
            <a:br>
              <a:rPr lang="en-IN" sz="2400" dirty="0"/>
            </a:br>
            <a:r>
              <a:rPr lang="en-IN" sz="2400" dirty="0"/>
              <a:t>Daily activities like attendance, fee payment, and marks entry are stored in databases.</a:t>
            </a:r>
          </a:p>
          <a:p>
            <a:pPr>
              <a:buNone/>
            </a:pPr>
            <a:br>
              <a:rPr lang="en-IN" sz="2400" dirty="0"/>
            </a:br>
            <a:r>
              <a:rPr lang="en-IN" sz="2400" dirty="0"/>
              <a:t>A data warehouse stores past data of many years.</a:t>
            </a:r>
          </a:p>
          <a:p>
            <a:pPr>
              <a:buNone/>
            </a:pPr>
            <a:br>
              <a:rPr lang="en-IN" sz="2400" dirty="0"/>
            </a:br>
            <a:r>
              <a:rPr lang="en-IN" sz="2400" dirty="0"/>
              <a:t>It helps management </a:t>
            </a:r>
            <a:r>
              <a:rPr lang="en-IN" sz="2400" dirty="0" err="1"/>
              <a:t>analyze</a:t>
            </a:r>
            <a:r>
              <a:rPr lang="en-IN" sz="2400" dirty="0"/>
              <a:t> admission trends, pass percentages, and course performance.</a:t>
            </a:r>
          </a:p>
        </p:txBody>
      </p:sp>
    </p:spTree>
    <p:extLst>
      <p:ext uri="{BB962C8B-B14F-4D97-AF65-F5344CB8AC3E}">
        <p14:creationId xmlns:p14="http://schemas.microsoft.com/office/powerpoint/2010/main" val="3672075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96A7B-7316-00AB-9357-E6A329B4B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04975C-8537-3CE1-1F54-C6D8569F4BB8}"/>
              </a:ext>
            </a:extLst>
          </p:cNvPr>
          <p:cNvSpPr txBox="1"/>
          <p:nvPr/>
        </p:nvSpPr>
        <p:spPr>
          <a:xfrm>
            <a:off x="1401417" y="565308"/>
            <a:ext cx="8825948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u="sng" dirty="0"/>
              <a:t>What is Data Mining?</a:t>
            </a:r>
          </a:p>
          <a:p>
            <a:pPr>
              <a:buNone/>
            </a:pPr>
            <a:endParaRPr lang="en-IN" sz="2400" b="1" dirty="0"/>
          </a:p>
          <a:p>
            <a:pPr>
              <a:buNone/>
            </a:pPr>
            <a:r>
              <a:rPr lang="en-IN" sz="2400" dirty="0"/>
              <a:t>Data Mining is the process of discovering useful patterns, trends, and knowledge from large datasets.</a:t>
            </a:r>
          </a:p>
          <a:p>
            <a:pPr>
              <a:buNone/>
            </a:pPr>
            <a:br>
              <a:rPr lang="en-IN" sz="2400" dirty="0"/>
            </a:br>
            <a:r>
              <a:rPr lang="en-IN" sz="2400" dirty="0"/>
              <a:t>It helps in prediction, classification, and pattern discovery.</a:t>
            </a:r>
          </a:p>
          <a:p>
            <a:pPr>
              <a:buNone/>
            </a:pPr>
            <a:br>
              <a:rPr lang="en-IN" sz="2400" dirty="0"/>
            </a:br>
            <a:r>
              <a:rPr lang="en-IN" sz="2400" dirty="0"/>
              <a:t>Data mining answers questions like “what will happen next?”</a:t>
            </a:r>
          </a:p>
          <a:p>
            <a:pPr>
              <a:buNone/>
            </a:pPr>
            <a:br>
              <a:rPr lang="en-IN" sz="2400" dirty="0"/>
            </a:br>
            <a:r>
              <a:rPr lang="en-IN" sz="2400" dirty="0"/>
              <a:t>It works mainly on data stored in data warehouses.</a:t>
            </a:r>
          </a:p>
        </p:txBody>
      </p:sp>
    </p:spTree>
    <p:extLst>
      <p:ext uri="{BB962C8B-B14F-4D97-AF65-F5344CB8AC3E}">
        <p14:creationId xmlns:p14="http://schemas.microsoft.com/office/powerpoint/2010/main" val="2504427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B034A-F6CD-14CC-80E7-2FC64FADF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96BA6B-572A-FB49-31F8-0B484FA568B8}"/>
              </a:ext>
            </a:extLst>
          </p:cNvPr>
          <p:cNvSpPr txBox="1"/>
          <p:nvPr/>
        </p:nvSpPr>
        <p:spPr>
          <a:xfrm>
            <a:off x="1381539" y="634233"/>
            <a:ext cx="896509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Data Mining – Real Life Example</a:t>
            </a:r>
          </a:p>
          <a:p>
            <a:pPr>
              <a:buNone/>
            </a:pPr>
            <a:endParaRPr lang="en-IN" sz="2400" b="1" dirty="0"/>
          </a:p>
          <a:p>
            <a:pPr>
              <a:buNone/>
            </a:pPr>
            <a:r>
              <a:rPr lang="en-IN" sz="2400" dirty="0"/>
              <a:t>Online shopping websites </a:t>
            </a:r>
            <a:r>
              <a:rPr lang="en-IN" sz="2400" dirty="0" err="1"/>
              <a:t>analyze</a:t>
            </a:r>
            <a:r>
              <a:rPr lang="en-IN" sz="2400" dirty="0"/>
              <a:t> customer purchase history.</a:t>
            </a:r>
          </a:p>
          <a:p>
            <a:pPr>
              <a:buNone/>
            </a:pPr>
            <a:br>
              <a:rPr lang="en-IN" sz="2400" dirty="0"/>
            </a:br>
            <a:r>
              <a:rPr lang="en-IN" sz="2400" dirty="0"/>
              <a:t>They identify buying patterns and recommend products.</a:t>
            </a:r>
          </a:p>
          <a:p>
            <a:pPr>
              <a:buNone/>
            </a:pPr>
            <a:br>
              <a:rPr lang="en-IN" sz="2400" dirty="0"/>
            </a:br>
            <a:r>
              <a:rPr lang="en-IN" sz="2400" dirty="0"/>
              <a:t>Healthcare systems use it to predict diseases based on patient data.</a:t>
            </a:r>
          </a:p>
        </p:txBody>
      </p:sp>
    </p:spTree>
    <p:extLst>
      <p:ext uri="{BB962C8B-B14F-4D97-AF65-F5344CB8AC3E}">
        <p14:creationId xmlns:p14="http://schemas.microsoft.com/office/powerpoint/2010/main" val="992356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25F61-06CD-BC8B-D0C5-432D34857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A380C0-7901-FD7B-B1FA-0F42DEB6A54F}"/>
              </a:ext>
            </a:extLst>
          </p:cNvPr>
          <p:cNvSpPr txBox="1"/>
          <p:nvPr/>
        </p:nvSpPr>
        <p:spPr>
          <a:xfrm>
            <a:off x="1269010" y="615498"/>
            <a:ext cx="826935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u="sng" dirty="0"/>
              <a:t>Database vs Data Warehouse</a:t>
            </a:r>
          </a:p>
          <a:p>
            <a:pPr>
              <a:buNone/>
            </a:pPr>
            <a:endParaRPr lang="en-IN" sz="2400" b="1" dirty="0"/>
          </a:p>
          <a:p>
            <a:pPr>
              <a:buNone/>
            </a:pPr>
            <a:r>
              <a:rPr lang="en-IN" sz="2400" dirty="0"/>
              <a:t>A database stores current and operational data.</a:t>
            </a:r>
            <a:br>
              <a:rPr lang="en-IN" sz="2400" dirty="0"/>
            </a:br>
            <a:r>
              <a:rPr lang="en-IN" sz="2400" dirty="0"/>
              <a:t>It supports daily transactions such as insert, update, and delete.</a:t>
            </a:r>
          </a:p>
          <a:p>
            <a:pPr>
              <a:buNone/>
            </a:pPr>
            <a:br>
              <a:rPr lang="en-IN" sz="2400" dirty="0"/>
            </a:br>
            <a:r>
              <a:rPr lang="en-IN" sz="2400" dirty="0"/>
              <a:t>A data warehouse stores historical and summarized data.</a:t>
            </a:r>
            <a:br>
              <a:rPr lang="en-IN" sz="2400" dirty="0"/>
            </a:br>
            <a:r>
              <a:rPr lang="en-IN" sz="2400" dirty="0"/>
              <a:t>It supports analysis and decision making, not daily operations.</a:t>
            </a:r>
          </a:p>
        </p:txBody>
      </p:sp>
    </p:spTree>
    <p:extLst>
      <p:ext uri="{BB962C8B-B14F-4D97-AF65-F5344CB8AC3E}">
        <p14:creationId xmlns:p14="http://schemas.microsoft.com/office/powerpoint/2010/main" val="1610223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AEFDA-9EA6-76BF-7F9B-AF0C2D90E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7B0E4F-EED5-4289-5EAD-68A811DDECCF}"/>
              </a:ext>
            </a:extLst>
          </p:cNvPr>
          <p:cNvSpPr txBox="1"/>
          <p:nvPr/>
        </p:nvSpPr>
        <p:spPr>
          <a:xfrm>
            <a:off x="1490869" y="454680"/>
            <a:ext cx="846814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u="sng" dirty="0"/>
              <a:t>Characteristics of a Data Warehouse</a:t>
            </a:r>
          </a:p>
          <a:p>
            <a:pPr>
              <a:buNone/>
            </a:pPr>
            <a:endParaRPr lang="en-IN" sz="2400" b="1" dirty="0"/>
          </a:p>
          <a:p>
            <a:pPr>
              <a:buNone/>
            </a:pPr>
            <a:r>
              <a:rPr lang="en-IN" sz="2400" dirty="0"/>
              <a:t>A </a:t>
            </a:r>
            <a:r>
              <a:rPr lang="en-IN" sz="2400" b="1" dirty="0"/>
              <a:t>Data Warehouse</a:t>
            </a:r>
            <a:r>
              <a:rPr lang="en-IN" sz="2400" dirty="0"/>
              <a:t> has some special features that make it different from a normal database.</a:t>
            </a:r>
          </a:p>
          <a:p>
            <a:pPr>
              <a:buNone/>
            </a:pPr>
            <a:br>
              <a:rPr lang="en-IN" sz="2400" dirty="0"/>
            </a:br>
            <a:r>
              <a:rPr lang="en-IN" sz="2400" dirty="0"/>
              <a:t>According to standard definition, a Data Warehouse is:</a:t>
            </a:r>
          </a:p>
          <a:p>
            <a:pPr>
              <a:buNone/>
            </a:pPr>
            <a:endParaRPr lang="en-IN" sz="2400" dirty="0"/>
          </a:p>
          <a:p>
            <a:pPr>
              <a:buNone/>
            </a:pPr>
            <a:r>
              <a:rPr lang="en-IN" sz="2400" b="1" dirty="0"/>
              <a:t>Subject-Oriented, Integrated, Time-Variant, and Non-Volatile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3299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F562B-59D8-6F54-D63E-210C1AEF5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4D1A38-67D8-59D9-A58B-201C08EBDF44}"/>
              </a:ext>
            </a:extLst>
          </p:cNvPr>
          <p:cNvSpPr txBox="1"/>
          <p:nvPr/>
        </p:nvSpPr>
        <p:spPr>
          <a:xfrm>
            <a:off x="1272209" y="289679"/>
            <a:ext cx="927320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1️⃣ Subject-Oriented</a:t>
            </a:r>
          </a:p>
          <a:p>
            <a:pPr>
              <a:buNone/>
            </a:pPr>
            <a:endParaRPr lang="en-IN" sz="2000" b="1" dirty="0"/>
          </a:p>
          <a:p>
            <a:pPr>
              <a:buNone/>
            </a:pPr>
            <a:r>
              <a:rPr lang="en-IN" sz="2000" dirty="0"/>
              <a:t>Subject-oriented means that data is organized around </a:t>
            </a:r>
            <a:r>
              <a:rPr lang="en-IN" sz="2000" b="1" dirty="0"/>
              <a:t>major subjects of the organization</a:t>
            </a:r>
            <a:r>
              <a:rPr lang="en-IN" sz="2000" dirty="0"/>
              <a:t>, not around daily processes.</a:t>
            </a:r>
          </a:p>
          <a:p>
            <a:pPr>
              <a:buNone/>
            </a:pPr>
            <a:endParaRPr lang="en-IN" sz="2000" dirty="0"/>
          </a:p>
          <a:p>
            <a:pPr>
              <a:buNone/>
            </a:pPr>
            <a:r>
              <a:rPr lang="en-IN" sz="2000" dirty="0"/>
              <a:t>Subjects can be: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Students , Sales , Customers , Products , Employees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BD1454-8FA6-DCEC-8096-BBFBB3B03E92}"/>
              </a:ext>
            </a:extLst>
          </p:cNvPr>
          <p:cNvSpPr txBox="1"/>
          <p:nvPr/>
        </p:nvSpPr>
        <p:spPr>
          <a:xfrm>
            <a:off x="1272209" y="2875002"/>
            <a:ext cx="1066965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For example : In a college database:</a:t>
            </a:r>
          </a:p>
          <a:p>
            <a:pPr>
              <a:buNone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Admission system stores admission data , Exam system stores marks , Fee system stores payment details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dirty="0"/>
              <a:t>Each system works independently.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In a </a:t>
            </a:r>
            <a:r>
              <a:rPr lang="en-IN" b="1" dirty="0"/>
              <a:t>Data Warehouse</a:t>
            </a:r>
            <a:r>
              <a:rPr lang="en-IN" dirty="0"/>
              <a:t>, all data related to the </a:t>
            </a:r>
            <a:r>
              <a:rPr lang="en-IN" b="1" dirty="0"/>
              <a:t>Student</a:t>
            </a:r>
            <a:r>
              <a:rPr lang="en-IN" dirty="0"/>
              <a:t> is grouped together, including: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Admission details , Academic performance , Fee history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This allows management to </a:t>
            </a:r>
            <a:r>
              <a:rPr lang="en-IN" dirty="0" err="1"/>
              <a:t>analyze</a:t>
            </a:r>
            <a:r>
              <a:rPr lang="en-IN" dirty="0"/>
              <a:t>:</a:t>
            </a:r>
          </a:p>
          <a:p>
            <a:pPr>
              <a:buNone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Student performance over years , Dropout rate , Course popularity</a:t>
            </a:r>
          </a:p>
        </p:txBody>
      </p:sp>
    </p:spTree>
    <p:extLst>
      <p:ext uri="{BB962C8B-B14F-4D97-AF65-F5344CB8AC3E}">
        <p14:creationId xmlns:p14="http://schemas.microsoft.com/office/powerpoint/2010/main" val="979658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C8BE9-C317-8701-52C5-57975FB4B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580BBE-F2EB-54D0-A92B-A2029AD4EB76}"/>
              </a:ext>
            </a:extLst>
          </p:cNvPr>
          <p:cNvSpPr txBox="1"/>
          <p:nvPr/>
        </p:nvSpPr>
        <p:spPr>
          <a:xfrm>
            <a:off x="924910" y="257395"/>
            <a:ext cx="1003738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2️⃣ Integrated</a:t>
            </a:r>
          </a:p>
          <a:p>
            <a:pPr>
              <a:buNone/>
            </a:pPr>
            <a:endParaRPr lang="en-IN" sz="2000" dirty="0"/>
          </a:p>
          <a:p>
            <a:pPr>
              <a:buNone/>
            </a:pPr>
            <a:r>
              <a:rPr lang="en-IN" sz="2000" dirty="0"/>
              <a:t>Integrated means that data from </a:t>
            </a:r>
            <a:r>
              <a:rPr lang="en-IN" sz="2000" b="1" dirty="0"/>
              <a:t>different sources is combined into a consistent and unified format</a:t>
            </a:r>
            <a:r>
              <a:rPr lang="en-IN" sz="2000" dirty="0"/>
              <a:t>.</a:t>
            </a:r>
          </a:p>
          <a:p>
            <a:pPr>
              <a:buNone/>
            </a:pPr>
            <a:br>
              <a:rPr lang="en-IN" sz="2000" dirty="0"/>
            </a:br>
            <a:r>
              <a:rPr lang="en-IN" sz="2000" dirty="0"/>
              <a:t>Different systems store data in different ways.</a:t>
            </a:r>
            <a:br>
              <a:rPr lang="en-IN" sz="2000" dirty="0"/>
            </a:br>
            <a:r>
              <a:rPr lang="en-IN" sz="2000" dirty="0"/>
              <a:t>A data warehouse removes these differences and stores data in a </a:t>
            </a:r>
            <a:r>
              <a:rPr lang="en-IN" sz="2000" b="1" dirty="0"/>
              <a:t>standard format</a:t>
            </a:r>
            <a:r>
              <a:rPr lang="en-IN" sz="2000" dirty="0"/>
              <a:t>.</a:t>
            </a:r>
          </a:p>
          <a:p>
            <a:pPr>
              <a:buNone/>
            </a:pPr>
            <a:br>
              <a:rPr lang="en-IN" sz="2000" dirty="0"/>
            </a:br>
            <a:endParaRPr lang="en-IN" sz="2000" dirty="0"/>
          </a:p>
          <a:p>
            <a:pPr>
              <a:buNone/>
            </a:pPr>
            <a:r>
              <a:rPr lang="en-IN" b="1" dirty="0"/>
              <a:t>For Example : 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Student gender stored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“M / F” in one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“Male / Female” in another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“1 / 0” in third system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dirty="0"/>
              <a:t>Data Warehouse converts all of them into: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Male / Female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dirty="0"/>
              <a:t>Integrated data means same meaning, same format, same structure.</a:t>
            </a:r>
          </a:p>
        </p:txBody>
      </p:sp>
    </p:spTree>
    <p:extLst>
      <p:ext uri="{BB962C8B-B14F-4D97-AF65-F5344CB8AC3E}">
        <p14:creationId xmlns:p14="http://schemas.microsoft.com/office/powerpoint/2010/main" val="4124295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1339F-89E4-4D40-5A56-7060EDB90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871615-F03E-6B7A-8EBA-6ED5C19B389D}"/>
              </a:ext>
            </a:extLst>
          </p:cNvPr>
          <p:cNvSpPr txBox="1"/>
          <p:nvPr/>
        </p:nvSpPr>
        <p:spPr>
          <a:xfrm>
            <a:off x="1116724" y="321184"/>
            <a:ext cx="8468709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3️⃣ Time-Variant</a:t>
            </a:r>
          </a:p>
          <a:p>
            <a:pPr>
              <a:buNone/>
            </a:pPr>
            <a:endParaRPr lang="en-IN" sz="2000" dirty="0"/>
          </a:p>
          <a:p>
            <a:pPr>
              <a:buNone/>
            </a:pPr>
            <a:r>
              <a:rPr lang="en-IN" sz="2000" dirty="0"/>
              <a:t>Time-variant means that a data warehouse stores </a:t>
            </a:r>
            <a:r>
              <a:rPr lang="en-IN" sz="2000" b="1" dirty="0"/>
              <a:t>historical data along with time information</a:t>
            </a:r>
            <a:r>
              <a:rPr lang="en-IN" sz="2000" dirty="0"/>
              <a:t>.</a:t>
            </a:r>
          </a:p>
          <a:p>
            <a:pPr>
              <a:buNone/>
            </a:pPr>
            <a:endParaRPr lang="en-IN" sz="2000" dirty="0"/>
          </a:p>
          <a:p>
            <a:pPr>
              <a:buNone/>
            </a:pPr>
            <a:r>
              <a:rPr lang="en-IN" sz="2000" dirty="0"/>
              <a:t>Databases mostly store current data.</a:t>
            </a:r>
            <a:br>
              <a:rPr lang="en-IN" sz="2000" dirty="0"/>
            </a:br>
            <a:r>
              <a:rPr lang="en-IN" sz="2000" dirty="0"/>
              <a:t>Data warehouses store data for many years, with </a:t>
            </a:r>
            <a:r>
              <a:rPr lang="en-IN" sz="2000" b="1" dirty="0"/>
              <a:t>date, month, or year information</a:t>
            </a:r>
            <a:r>
              <a:rPr lang="en-IN" sz="2000" dirty="0"/>
              <a:t>.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For Example : 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College management wants to know: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Admission trend for last 5 years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Year-wise pass percentage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dirty="0"/>
              <a:t>Database cannot answer this easily, but data warehouse can.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Data Warehouse remembers the past.</a:t>
            </a:r>
          </a:p>
        </p:txBody>
      </p:sp>
    </p:spTree>
    <p:extLst>
      <p:ext uri="{BB962C8B-B14F-4D97-AF65-F5344CB8AC3E}">
        <p14:creationId xmlns:p14="http://schemas.microsoft.com/office/powerpoint/2010/main" val="2067064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EA40B-767B-D3B8-507E-6CF7103D7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2B7E50-F532-CFC2-719B-7BAEA6D91A8B}"/>
              </a:ext>
            </a:extLst>
          </p:cNvPr>
          <p:cNvSpPr txBox="1"/>
          <p:nvPr/>
        </p:nvSpPr>
        <p:spPr>
          <a:xfrm>
            <a:off x="1337440" y="415776"/>
            <a:ext cx="8563303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4️⃣ Non-Volatile</a:t>
            </a:r>
          </a:p>
          <a:p>
            <a:pPr>
              <a:buNone/>
            </a:pPr>
            <a:endParaRPr lang="en-IN" sz="2000" dirty="0"/>
          </a:p>
          <a:p>
            <a:pPr>
              <a:buNone/>
            </a:pPr>
            <a:r>
              <a:rPr lang="en-IN" sz="2000" dirty="0"/>
              <a:t>Non-volatile means that data once stored in a data warehouse is </a:t>
            </a:r>
            <a:r>
              <a:rPr lang="en-IN" sz="2000" b="1" dirty="0"/>
              <a:t>not frequently updated or deleted</a:t>
            </a:r>
            <a:r>
              <a:rPr lang="en-IN" sz="2000" dirty="0"/>
              <a:t>.</a:t>
            </a:r>
          </a:p>
          <a:p>
            <a:pPr>
              <a:buNone/>
            </a:pPr>
            <a:endParaRPr lang="en-IN" sz="2000" dirty="0"/>
          </a:p>
          <a:p>
            <a:pPr>
              <a:buNone/>
            </a:pPr>
            <a:r>
              <a:rPr lang="en-IN" sz="2000" dirty="0"/>
              <a:t>Operational databases allow insert, update, and delete operations regularly.</a:t>
            </a:r>
            <a:br>
              <a:rPr lang="en-IN" sz="2000" dirty="0"/>
            </a:br>
            <a:r>
              <a:rPr lang="en-IN" sz="2000" dirty="0"/>
              <a:t>Data warehouses mainly allow </a:t>
            </a:r>
            <a:r>
              <a:rPr lang="en-IN" sz="2000" b="1" dirty="0"/>
              <a:t>read-only operations</a:t>
            </a:r>
            <a:r>
              <a:rPr lang="en-IN" sz="2000" dirty="0"/>
              <a:t> for analysis.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For Example :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Fee record: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Database updates fee payment status.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 Warehouse keeps old fee records permanently for financial analysis and audit.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Data Warehouse data is stable, not changing.</a:t>
            </a:r>
          </a:p>
        </p:txBody>
      </p:sp>
    </p:spTree>
    <p:extLst>
      <p:ext uri="{BB962C8B-B14F-4D97-AF65-F5344CB8AC3E}">
        <p14:creationId xmlns:p14="http://schemas.microsoft.com/office/powerpoint/2010/main" val="7709273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7DA94-1BF4-7CF9-49C1-984DB6BF4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68AB3A-932B-8AB2-7072-C79F65EC793F}"/>
              </a:ext>
            </a:extLst>
          </p:cNvPr>
          <p:cNvSpPr txBox="1"/>
          <p:nvPr/>
        </p:nvSpPr>
        <p:spPr>
          <a:xfrm>
            <a:off x="1263869" y="466636"/>
            <a:ext cx="78486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u="sng" dirty="0"/>
              <a:t>Components of a Data Warehouse</a:t>
            </a:r>
          </a:p>
          <a:p>
            <a:pPr>
              <a:buNone/>
            </a:pPr>
            <a:endParaRPr lang="en-IN" sz="2800" b="1" u="sng" dirty="0"/>
          </a:p>
          <a:p>
            <a:pPr>
              <a:buNone/>
            </a:pPr>
            <a:r>
              <a:rPr lang="en-IN" dirty="0"/>
              <a:t>A </a:t>
            </a:r>
            <a:r>
              <a:rPr lang="en-IN" b="1" dirty="0"/>
              <a:t>Data Warehouse</a:t>
            </a:r>
            <a:r>
              <a:rPr lang="en-IN" dirty="0"/>
              <a:t> is a complete system made up of several components that work together to collect, store, process, and </a:t>
            </a:r>
            <a:r>
              <a:rPr lang="en-IN" dirty="0" err="1"/>
              <a:t>analyze</a:t>
            </a:r>
            <a:r>
              <a:rPr lang="en-IN" dirty="0"/>
              <a:t> data for decision making.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8E3A0D5-977A-FC8B-CA48-A49FBE48D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245" y="2398885"/>
            <a:ext cx="5731510" cy="360235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95552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11BFB-5A24-C3B6-21C5-748C88511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A689C9-F3A3-E571-A7D5-ABB8B0171DAD}"/>
              </a:ext>
            </a:extLst>
          </p:cNvPr>
          <p:cNvSpPr txBox="1"/>
          <p:nvPr/>
        </p:nvSpPr>
        <p:spPr>
          <a:xfrm>
            <a:off x="1484586" y="544445"/>
            <a:ext cx="8447689" cy="4935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/>
              <a:t>What is a Data Mart?</a:t>
            </a:r>
          </a:p>
          <a:p>
            <a:pPr>
              <a:buNone/>
            </a:pPr>
            <a:endParaRPr lang="en-IN" sz="2400" b="1" u="sng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 </a:t>
            </a:r>
            <a:r>
              <a:rPr lang="en-IN" b="1" dirty="0"/>
              <a:t>Data Mart</a:t>
            </a:r>
            <a:r>
              <a:rPr lang="en-IN" dirty="0"/>
              <a:t> is a </a:t>
            </a:r>
            <a:r>
              <a:rPr lang="en-IN" b="1" dirty="0"/>
              <a:t>small and specialized part of a Data Warehouse</a:t>
            </a:r>
            <a:endParaRPr lang="en-IN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It is designed to serve a </a:t>
            </a:r>
            <a:r>
              <a:rPr lang="en-IN" b="1" dirty="0"/>
              <a:t>specific department or business unit</a:t>
            </a:r>
            <a:endParaRPr lang="en-IN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Focuses on a </a:t>
            </a:r>
            <a:r>
              <a:rPr lang="en-IN" b="1" dirty="0"/>
              <a:t>single subject area</a:t>
            </a:r>
            <a:r>
              <a:rPr lang="en-IN" dirty="0"/>
              <a:t> like: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Sales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Marketing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Finance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Human Resources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Data Warehouse vs Data Mart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Data Warehouse</a:t>
            </a:r>
            <a:r>
              <a:rPr lang="en-IN" dirty="0"/>
              <a:t> → Whole organization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Data Mart</a:t>
            </a:r>
            <a:r>
              <a:rPr lang="en-IN" dirty="0"/>
              <a:t> → One department or function</a:t>
            </a:r>
          </a:p>
        </p:txBody>
      </p:sp>
    </p:spTree>
    <p:extLst>
      <p:ext uri="{BB962C8B-B14F-4D97-AF65-F5344CB8AC3E}">
        <p14:creationId xmlns:p14="http://schemas.microsoft.com/office/powerpoint/2010/main" val="2711764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958D2-3AEB-7D27-D2D2-D822F323E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C428D3-6BD3-4B15-54DD-073E3086F887}"/>
              </a:ext>
            </a:extLst>
          </p:cNvPr>
          <p:cNvSpPr txBox="1"/>
          <p:nvPr/>
        </p:nvSpPr>
        <p:spPr>
          <a:xfrm>
            <a:off x="1295400" y="607506"/>
            <a:ext cx="8868103" cy="4611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/>
              <a:t>Key Characteristics</a:t>
            </a:r>
          </a:p>
          <a:p>
            <a:pPr>
              <a:lnSpc>
                <a:spcPct val="150000"/>
              </a:lnSpc>
              <a:buNone/>
            </a:pPr>
            <a:endParaRPr lang="en-IN" b="1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b="1" dirty="0"/>
              <a:t>Subject-Oriented : </a:t>
            </a:r>
            <a:r>
              <a:rPr lang="en-IN" dirty="0"/>
              <a:t>Focuses on one business area (e.g., Sales, HR)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b="1" dirty="0"/>
              <a:t>Smaller in Scope : </a:t>
            </a:r>
            <a:r>
              <a:rPr lang="en-IN" dirty="0"/>
              <a:t>Contains less data than a full data warehouse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b="1" dirty="0"/>
              <a:t>Faster to Implement</a:t>
            </a:r>
            <a:endParaRPr lang="en-IN" dirty="0"/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Easier and quicker to build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Suitable for quick decision-making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b="1" dirty="0"/>
              <a:t>Independent or Dependent : </a:t>
            </a:r>
            <a:r>
              <a:rPr lang="en-IN" dirty="0"/>
              <a:t>Can work alone or depend on a data warehouse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b="1" dirty="0"/>
              <a:t>ETL Process</a:t>
            </a:r>
            <a:endParaRPr lang="en-IN" dirty="0"/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Uses </a:t>
            </a:r>
            <a:r>
              <a:rPr lang="en-IN" b="1" dirty="0"/>
              <a:t>ETL (Extract, Transform, Load)</a:t>
            </a:r>
            <a:endParaRPr lang="en-IN" dirty="0"/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ETL is simpler due to limited scope</a:t>
            </a:r>
          </a:p>
        </p:txBody>
      </p:sp>
    </p:spTree>
    <p:extLst>
      <p:ext uri="{BB962C8B-B14F-4D97-AF65-F5344CB8AC3E}">
        <p14:creationId xmlns:p14="http://schemas.microsoft.com/office/powerpoint/2010/main" val="12436205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2F198-07BC-7CCF-A010-D7FAE8DCF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B609FF-CBC0-AFFA-EB2E-474637E62219}"/>
              </a:ext>
            </a:extLst>
          </p:cNvPr>
          <p:cNvSpPr txBox="1"/>
          <p:nvPr/>
        </p:nvSpPr>
        <p:spPr>
          <a:xfrm>
            <a:off x="1432035" y="488164"/>
            <a:ext cx="610125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Types of Data Marts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1. Dependent Data Mart</a:t>
            </a:r>
          </a:p>
          <a:p>
            <a:pPr marL="357188">
              <a:buFont typeface="Arial" panose="020B0604020202020204" pitchFamily="34" charset="0"/>
              <a:buChar char="•"/>
            </a:pPr>
            <a:r>
              <a:rPr lang="en-IN" dirty="0"/>
              <a:t>Built from an </a:t>
            </a:r>
            <a:r>
              <a:rPr lang="en-IN" b="1" dirty="0"/>
              <a:t>existing Data Warehouse</a:t>
            </a:r>
            <a:endParaRPr lang="en-IN" dirty="0"/>
          </a:p>
          <a:p>
            <a:pPr marL="357188">
              <a:buFont typeface="Arial" panose="020B0604020202020204" pitchFamily="34" charset="0"/>
              <a:buChar char="•"/>
            </a:pPr>
            <a:r>
              <a:rPr lang="en-IN" dirty="0"/>
              <a:t>Ensures </a:t>
            </a:r>
            <a:r>
              <a:rPr lang="en-IN" b="1" dirty="0"/>
              <a:t>data consistency</a:t>
            </a:r>
            <a:endParaRPr lang="en-IN" dirty="0"/>
          </a:p>
          <a:p>
            <a:pPr marL="357188">
              <a:buFont typeface="Arial" panose="020B0604020202020204" pitchFamily="34" charset="0"/>
              <a:buChar char="•"/>
            </a:pPr>
            <a:r>
              <a:rPr lang="en-IN" dirty="0"/>
              <a:t>Most commonly used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/>
              <a:t>2. Independent Data Mart</a:t>
            </a:r>
          </a:p>
          <a:p>
            <a:pPr marL="357188">
              <a:buFont typeface="Arial" panose="020B0604020202020204" pitchFamily="34" charset="0"/>
              <a:buChar char="•"/>
            </a:pPr>
            <a:r>
              <a:rPr lang="en-IN" dirty="0"/>
              <a:t>Built directly from </a:t>
            </a:r>
            <a:r>
              <a:rPr lang="en-IN" b="1" dirty="0"/>
              <a:t>operational systems</a:t>
            </a:r>
            <a:endParaRPr lang="en-IN" dirty="0"/>
          </a:p>
          <a:p>
            <a:pPr marL="357188">
              <a:buFont typeface="Arial" panose="020B0604020202020204" pitchFamily="34" charset="0"/>
              <a:buChar char="•"/>
            </a:pPr>
            <a:r>
              <a:rPr lang="en-IN" dirty="0"/>
              <a:t>Does not depend on a data warehouse</a:t>
            </a:r>
          </a:p>
          <a:p>
            <a:pPr marL="357188">
              <a:buFont typeface="Arial" panose="020B0604020202020204" pitchFamily="34" charset="0"/>
              <a:buChar char="•"/>
            </a:pPr>
            <a:r>
              <a:rPr lang="en-IN" dirty="0"/>
              <a:t>Faster but less consistent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/>
              <a:t>3. Hybrid Data Mart</a:t>
            </a:r>
          </a:p>
          <a:p>
            <a:pPr marL="357188">
              <a:buFont typeface="Arial" panose="020B0604020202020204" pitchFamily="34" charset="0"/>
              <a:buChar char="•"/>
            </a:pPr>
            <a:r>
              <a:rPr lang="en-IN" dirty="0"/>
              <a:t>Combines data from:</a:t>
            </a:r>
          </a:p>
          <a:p>
            <a:pPr marL="357188" lvl="1">
              <a:buFont typeface="Arial" panose="020B0604020202020204" pitchFamily="34" charset="0"/>
              <a:buChar char="•"/>
            </a:pPr>
            <a:r>
              <a:rPr lang="en-IN" dirty="0"/>
              <a:t>Data Warehouse</a:t>
            </a:r>
          </a:p>
          <a:p>
            <a:pPr marL="357188" lvl="1">
              <a:buFont typeface="Arial" panose="020B0604020202020204" pitchFamily="34" charset="0"/>
              <a:buChar char="•"/>
            </a:pPr>
            <a:r>
              <a:rPr lang="en-IN" dirty="0"/>
              <a:t>Operational systems</a:t>
            </a:r>
          </a:p>
          <a:p>
            <a:pPr marL="357188" lvl="1">
              <a:buFont typeface="Arial" panose="020B0604020202020204" pitchFamily="34" charset="0"/>
              <a:buChar char="•"/>
            </a:pPr>
            <a:r>
              <a:rPr lang="en-IN" dirty="0"/>
              <a:t>External sources</a:t>
            </a:r>
          </a:p>
          <a:p>
            <a:pPr marL="357188">
              <a:buFont typeface="Arial" panose="020B0604020202020204" pitchFamily="34" charset="0"/>
              <a:buChar char="•"/>
            </a:pPr>
            <a:r>
              <a:rPr lang="en-IN" dirty="0"/>
              <a:t>Used for </a:t>
            </a:r>
            <a:r>
              <a:rPr lang="en-IN" b="1" dirty="0"/>
              <a:t>advanced and flexible analysis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48626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AF578-7FB5-6298-20D3-D9254BDA0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712E91-A55D-34F7-B7AA-D9A9BEA05E6D}"/>
              </a:ext>
            </a:extLst>
          </p:cNvPr>
          <p:cNvSpPr txBox="1"/>
          <p:nvPr/>
        </p:nvSpPr>
        <p:spPr>
          <a:xfrm>
            <a:off x="1116725" y="591193"/>
            <a:ext cx="8027276" cy="4543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b="1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Meta Data in Data Warehousing?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Metadata in data warehousing is data that describes other data. It provides information about the structure, meaning, origin, and usage of data stored in a data warehouse. Instead of containing actual business data, metadata acts as a guidebook that helps users and systems understand how data is organized and how it should be used.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example: if a customer's purchase amount is the data, then the information about when the purchase was made, the data type, and the source system is its metadata.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Note</a:t>
            </a:r>
            <a:r>
              <a:rPr lang="en-IN" sz="18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If data is the content, metadata is the documentation that explains what that content represents.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9263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94F43-0F85-890A-8637-5426CBC6B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5D371A-CAC5-D739-6648-2AF1731181FD}"/>
              </a:ext>
            </a:extLst>
          </p:cNvPr>
          <p:cNvSpPr txBox="1"/>
          <p:nvPr/>
        </p:nvSpPr>
        <p:spPr>
          <a:xfrm>
            <a:off x="990600" y="388787"/>
            <a:ext cx="8500241" cy="5242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Examples of Metadata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File metadata: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This includes information about a file, such as its name, size, type, and creation date.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 metadata: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This includes information about an image, such as its resolution,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color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depth, and camera settings.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Music metadata: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This includes information about a piece of music, such as its title, artist, album, and genre.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Video metadata: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This includes information about a video, such as its length, resolution, and frame rate.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Document metadata: 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includes information about a document, such as its author, title, and creation date.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Database metadata: 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includes information about a database, such as its structure, tables, and fields.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Web metadata: 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includes information about a web page, such as its title, keywords, and description.</a:t>
            </a:r>
          </a:p>
        </p:txBody>
      </p:sp>
    </p:spTree>
    <p:extLst>
      <p:ext uri="{BB962C8B-B14F-4D97-AF65-F5344CB8AC3E}">
        <p14:creationId xmlns:p14="http://schemas.microsoft.com/office/powerpoint/2010/main" val="15633378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BDCF9-79AE-346E-F00C-B0237CEAF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DDD3FF-0E88-3A3B-85AA-342DA6AAFFFB}"/>
              </a:ext>
            </a:extLst>
          </p:cNvPr>
          <p:cNvSpPr txBox="1"/>
          <p:nvPr/>
        </p:nvSpPr>
        <p:spPr>
          <a:xfrm>
            <a:off x="1124607" y="773933"/>
            <a:ext cx="8586952" cy="3960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buNone/>
            </a:pPr>
            <a:r>
              <a:rPr lang="en-IN" sz="1800" b="1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Types of Metadata in Data Warehousing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Metadata in a data warehouse is commonly divided into three main categories:</a:t>
            </a:r>
          </a:p>
          <a:p>
            <a:pPr algn="just"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Business Metadata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Business metadata describes data in business-friendly terms so that non-technical users can understand it easily.</a:t>
            </a:r>
          </a:p>
          <a:p>
            <a:pPr algn="just"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Technical Metadata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Technical metadata focuses on the physical and structural aspects of data.</a:t>
            </a:r>
          </a:p>
          <a:p>
            <a:pPr algn="just"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Operational Metadata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Operational metadata tracks process-related information about how data moves and changes.</a:t>
            </a:r>
          </a:p>
          <a:p>
            <a:pPr algn="just">
              <a:spcAft>
                <a:spcPts val="800"/>
              </a:spcAft>
              <a:buNone/>
            </a:pP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4632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BC5A2-51AF-CD80-2F14-885F57778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46D7D2-C039-C928-0A17-051AA2124E06}"/>
              </a:ext>
            </a:extLst>
          </p:cNvPr>
          <p:cNvSpPr txBox="1"/>
          <p:nvPr/>
        </p:nvSpPr>
        <p:spPr>
          <a:xfrm>
            <a:off x="1379482" y="344129"/>
            <a:ext cx="7995745" cy="3061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b="1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Three-Tier Architecture of Data Warehouse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warehousing helps businesses make informed decisions using large datasets. The Three-Tier Architecture is widely used for its clear structure, dividing data processing into three layers for efficient access and management.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Bottom Tier (Data Sources and Data Storage)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Middle Tier (OLAP Engine)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 Tier (Front-End Tools)</a:t>
            </a:r>
          </a:p>
        </p:txBody>
      </p:sp>
    </p:spTree>
    <p:extLst>
      <p:ext uri="{BB962C8B-B14F-4D97-AF65-F5344CB8AC3E}">
        <p14:creationId xmlns:p14="http://schemas.microsoft.com/office/powerpoint/2010/main" val="3154830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DCAD9-905D-1D76-F2CF-6284399D8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6DD8E38-9039-94EC-67B5-151A1BF85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21" y="341813"/>
            <a:ext cx="10817757" cy="5796000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279236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25744-4FB4-2CC0-57E1-40ECABB55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DE7837-DD68-234B-DC8F-0B44625FA025}"/>
              </a:ext>
            </a:extLst>
          </p:cNvPr>
          <p:cNvSpPr txBox="1"/>
          <p:nvPr/>
        </p:nvSpPr>
        <p:spPr>
          <a:xfrm>
            <a:off x="1484587" y="600727"/>
            <a:ext cx="6101254" cy="5073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800" b="1" u="sng" dirty="0"/>
              <a:t>Problem in Traditional Systems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Data stored in </a:t>
            </a:r>
            <a:r>
              <a:rPr lang="en-IN" b="1" dirty="0"/>
              <a:t>multiple departmental databases</a:t>
            </a:r>
            <a:endParaRPr lang="en-IN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Different formats, structures, and standards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Direct access causes </a:t>
            </a:r>
            <a:r>
              <a:rPr lang="en-IN" b="1" dirty="0"/>
              <a:t>performance issues</a:t>
            </a:r>
            <a:endParaRPr lang="en-IN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Manual data collection is </a:t>
            </a:r>
            <a:r>
              <a:rPr lang="en-IN" b="1" dirty="0"/>
              <a:t>slow and error-prone</a:t>
            </a:r>
            <a:endParaRPr lang="en-IN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Difficult to generate </a:t>
            </a:r>
            <a:r>
              <a:rPr lang="en-IN" b="1" dirty="0"/>
              <a:t>integrated reports</a:t>
            </a:r>
            <a:endParaRPr lang="en-IN" dirty="0"/>
          </a:p>
          <a:p>
            <a:pPr>
              <a:lnSpc>
                <a:spcPct val="150000"/>
              </a:lnSpc>
              <a:buNone/>
            </a:pPr>
            <a:r>
              <a:rPr lang="en-IN" sz="2800" b="1" u="sng" dirty="0"/>
              <a:t>Need of Data Gateway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Centralized and controlled data access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Reduce load on operational databases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Ensure data consistency and security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Support efficient Data Warehouse reporting</a:t>
            </a:r>
          </a:p>
        </p:txBody>
      </p:sp>
    </p:spTree>
    <p:extLst>
      <p:ext uri="{BB962C8B-B14F-4D97-AF65-F5344CB8AC3E}">
        <p14:creationId xmlns:p14="http://schemas.microsoft.com/office/powerpoint/2010/main" val="33305268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D7B46-1B13-83C5-26EB-0BA929854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273FDE-0180-4115-59B7-FD08DE3B6215}"/>
              </a:ext>
            </a:extLst>
          </p:cNvPr>
          <p:cNvSpPr txBox="1"/>
          <p:nvPr/>
        </p:nvSpPr>
        <p:spPr>
          <a:xfrm>
            <a:off x="1421524" y="579706"/>
            <a:ext cx="838462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u="sng" dirty="0"/>
              <a:t>What is a Data Gateway?</a:t>
            </a:r>
          </a:p>
          <a:p>
            <a:pPr>
              <a:buNone/>
            </a:pPr>
            <a:endParaRPr lang="en-IN" sz="2800" b="1" u="sng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 </a:t>
            </a:r>
            <a:r>
              <a:rPr lang="en-IN" b="1" dirty="0"/>
              <a:t>software-based middleware layer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Acts as a </a:t>
            </a:r>
            <a:r>
              <a:rPr lang="en-IN" b="1" dirty="0"/>
              <a:t>bridge</a:t>
            </a:r>
            <a:r>
              <a:rPr lang="en-IN" dirty="0"/>
              <a:t> between source systems and ETL/Data Warehouse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Provides </a:t>
            </a:r>
            <a:r>
              <a:rPr lang="en-IN" b="1" dirty="0"/>
              <a:t>secure, standardized, and controlled data access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sz="2800" b="1" u="sng" dirty="0"/>
              <a:t>How Data Gateway Works</a:t>
            </a:r>
          </a:p>
          <a:p>
            <a:pPr>
              <a:buNone/>
            </a:pPr>
            <a:endParaRPr lang="en-IN" sz="2800" b="1" u="sng" dirty="0"/>
          </a:p>
          <a:p>
            <a:pPr>
              <a:buFont typeface="+mj-lt"/>
              <a:buAutoNum type="arabicPeriod"/>
            </a:pPr>
            <a:r>
              <a:rPr lang="en-IN" dirty="0"/>
              <a:t>Connects to multiple source databases</a:t>
            </a:r>
          </a:p>
          <a:p>
            <a:pPr>
              <a:buFont typeface="+mj-lt"/>
              <a:buAutoNum type="arabicPeriod"/>
            </a:pPr>
            <a:r>
              <a:rPr lang="en-IN" dirty="0"/>
              <a:t>Filters and validates required data</a:t>
            </a:r>
          </a:p>
          <a:p>
            <a:pPr>
              <a:buFont typeface="+mj-lt"/>
              <a:buAutoNum type="arabicPeriod"/>
            </a:pPr>
            <a:r>
              <a:rPr lang="en-IN" dirty="0"/>
              <a:t>Applies access and security rules</a:t>
            </a:r>
          </a:p>
          <a:p>
            <a:pPr>
              <a:buFont typeface="+mj-lt"/>
              <a:buAutoNum type="arabicPeriod"/>
            </a:pPr>
            <a:r>
              <a:rPr lang="en-IN" dirty="0"/>
              <a:t>Transfers data securely to ETL/Data Warehouse</a:t>
            </a:r>
          </a:p>
        </p:txBody>
      </p:sp>
    </p:spTree>
    <p:extLst>
      <p:ext uri="{BB962C8B-B14F-4D97-AF65-F5344CB8AC3E}">
        <p14:creationId xmlns:p14="http://schemas.microsoft.com/office/powerpoint/2010/main" val="31125361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9172A-601F-4A60-983E-0C11B8E35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11F159-F635-91DC-39C1-0819F195E8AE}"/>
              </a:ext>
            </a:extLst>
          </p:cNvPr>
          <p:cNvSpPr txBox="1"/>
          <p:nvPr/>
        </p:nvSpPr>
        <p:spPr>
          <a:xfrm>
            <a:off x="1368972" y="420185"/>
            <a:ext cx="8437179" cy="5212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u="sng" dirty="0"/>
              <a:t>University Example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Departments: Admissions, Exams, Finance, Library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Data Gateway collects student data from all departments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ETL processes the data and loads it into Data Warehouse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Management generates </a:t>
            </a:r>
            <a:r>
              <a:rPr lang="en-IN" b="1" dirty="0"/>
              <a:t>combined student reports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lnSpc>
                <a:spcPct val="150000"/>
              </a:lnSpc>
              <a:buNone/>
            </a:pPr>
            <a:r>
              <a:rPr lang="en-IN" sz="2400" b="1" u="sng" dirty="0"/>
              <a:t>Benefits of Data Gateway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Improved data security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Faster and accurate reporting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Reduced system load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Better decision-making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Scalable and flexible architecture</a:t>
            </a:r>
          </a:p>
        </p:txBody>
      </p:sp>
    </p:spTree>
    <p:extLst>
      <p:ext uri="{BB962C8B-B14F-4D97-AF65-F5344CB8AC3E}">
        <p14:creationId xmlns:p14="http://schemas.microsoft.com/office/powerpoint/2010/main" val="25564252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1EF5F-BE13-1592-E6CE-286C4C187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4A1B29-FF88-5092-0FA4-917086FE5C6B}"/>
              </a:ext>
            </a:extLst>
          </p:cNvPr>
          <p:cNvSpPr txBox="1"/>
          <p:nvPr/>
        </p:nvSpPr>
        <p:spPr>
          <a:xfrm>
            <a:off x="1116724" y="412790"/>
            <a:ext cx="8374117" cy="5258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2800" b="1" u="sng" dirty="0"/>
              <a:t>What is Database Synchronization?</a:t>
            </a:r>
          </a:p>
          <a:p>
            <a:pPr algn="just">
              <a:lnSpc>
                <a:spcPct val="150000"/>
              </a:lnSpc>
              <a:buNone/>
            </a:pPr>
            <a:endParaRPr lang="en-IN" dirty="0"/>
          </a:p>
          <a:p>
            <a:pPr algn="just">
              <a:lnSpc>
                <a:spcPct val="150000"/>
              </a:lnSpc>
              <a:buNone/>
            </a:pPr>
            <a:r>
              <a:rPr lang="en-IN" dirty="0"/>
              <a:t>Database synchronization is the process of </a:t>
            </a:r>
            <a:r>
              <a:rPr lang="en-IN" b="1" dirty="0"/>
              <a:t>keeping two or more databases consistent</a:t>
            </a:r>
            <a:r>
              <a:rPr lang="en-IN" dirty="0"/>
              <a:t> by ensuring that any update in one database is </a:t>
            </a:r>
            <a:r>
              <a:rPr lang="en-IN" b="1" dirty="0"/>
              <a:t>replicated or reflected in other related databases or the Data Warehouse</a:t>
            </a:r>
            <a:r>
              <a:rPr lang="en-IN" dirty="0"/>
              <a:t>.</a:t>
            </a:r>
          </a:p>
          <a:p>
            <a:pPr algn="just">
              <a:lnSpc>
                <a:spcPct val="150000"/>
              </a:lnSpc>
              <a:buNone/>
            </a:pPr>
            <a:endParaRPr lang="en-IN" dirty="0"/>
          </a:p>
          <a:p>
            <a:pPr algn="just">
              <a:lnSpc>
                <a:spcPct val="150000"/>
              </a:lnSpc>
              <a:buNone/>
            </a:pPr>
            <a:r>
              <a:rPr lang="en-IN" b="1" dirty="0"/>
              <a:t>Key Points:</a:t>
            </a:r>
          </a:p>
          <a:p>
            <a:pPr algn="just">
              <a:lnSpc>
                <a:spcPct val="150000"/>
              </a:lnSpc>
              <a:buNone/>
            </a:pPr>
            <a:endParaRPr lang="en-IN" dirty="0"/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Ensures </a:t>
            </a:r>
            <a:r>
              <a:rPr lang="en-IN" b="1" dirty="0"/>
              <a:t>all systems reflect the same information</a:t>
            </a:r>
            <a:r>
              <a:rPr lang="en-IN" dirty="0"/>
              <a:t>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Can be </a:t>
            </a:r>
            <a:r>
              <a:rPr lang="en-IN" b="1" dirty="0"/>
              <a:t>real-time (instant updates)</a:t>
            </a:r>
            <a:r>
              <a:rPr lang="en-IN" dirty="0"/>
              <a:t> or </a:t>
            </a:r>
            <a:r>
              <a:rPr lang="en-IN" b="1" dirty="0"/>
              <a:t>batch-based (periodic updates)</a:t>
            </a:r>
            <a:r>
              <a:rPr lang="en-IN" dirty="0"/>
              <a:t>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Critical in </a:t>
            </a:r>
            <a:r>
              <a:rPr lang="en-IN" b="1" dirty="0"/>
              <a:t>Data Warehouse environments</a:t>
            </a:r>
            <a:r>
              <a:rPr lang="en-IN" dirty="0"/>
              <a:t>, where data comes from </a:t>
            </a:r>
            <a:r>
              <a:rPr lang="en-IN" b="1" dirty="0"/>
              <a:t>multiple heterogeneous sources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127690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CF788-3E2B-0740-9FA6-122394345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78FD83-6FC1-67FD-8E16-F5E59144C657}"/>
              </a:ext>
            </a:extLst>
          </p:cNvPr>
          <p:cNvSpPr txBox="1"/>
          <p:nvPr/>
        </p:nvSpPr>
        <p:spPr>
          <a:xfrm>
            <a:off x="1347951" y="462227"/>
            <a:ext cx="8058807" cy="2549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u="sng" dirty="0"/>
              <a:t>Interoperability of Data and Applications</a:t>
            </a:r>
          </a:p>
          <a:p>
            <a:pPr algn="just">
              <a:lnSpc>
                <a:spcPct val="150000"/>
              </a:lnSpc>
              <a:buNone/>
            </a:pPr>
            <a:br>
              <a:rPr lang="en-IN" dirty="0"/>
            </a:br>
            <a:r>
              <a:rPr lang="en-IN" b="1" dirty="0"/>
              <a:t>Interoperability</a:t>
            </a:r>
            <a:r>
              <a:rPr lang="en-IN" dirty="0"/>
              <a:t> means the </a:t>
            </a:r>
            <a:r>
              <a:rPr lang="en-IN" b="1" dirty="0"/>
              <a:t>ability of different systems, databases, applications, or software to work together</a:t>
            </a:r>
            <a:r>
              <a:rPr lang="en-IN" dirty="0"/>
              <a:t>, share data, and use that data </a:t>
            </a:r>
            <a:r>
              <a:rPr lang="en-IN" b="1" dirty="0"/>
              <a:t>correctly and meaningfully</a:t>
            </a:r>
            <a:r>
              <a:rPr lang="en-IN" dirty="0"/>
              <a:t>, even if they are built using different technologies.</a:t>
            </a:r>
          </a:p>
        </p:txBody>
      </p:sp>
    </p:spTree>
    <p:extLst>
      <p:ext uri="{BB962C8B-B14F-4D97-AF65-F5344CB8AC3E}">
        <p14:creationId xmlns:p14="http://schemas.microsoft.com/office/powerpoint/2010/main" val="2329914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FE1C1-D33D-4F5E-0F70-E6A91C4DA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E9B3F9-5C5A-A91F-1C0F-05BF6D1F1785}"/>
              </a:ext>
            </a:extLst>
          </p:cNvPr>
          <p:cNvSpPr txBox="1"/>
          <p:nvPr/>
        </p:nvSpPr>
        <p:spPr>
          <a:xfrm>
            <a:off x="1043152" y="386790"/>
            <a:ext cx="847922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/>
              <a:t>Why Interoperability is Needed (Problem First)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In real organizations (like universities, hospitals, banks):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Different departments use </a:t>
            </a:r>
            <a:r>
              <a:rPr lang="en-IN" b="1" dirty="0"/>
              <a:t>different software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Databases may be: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MySQL, Oracle, SQL Server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Different data formats (CSV, JSON, XML)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Applications are developed by </a:t>
            </a:r>
            <a:r>
              <a:rPr lang="en-IN" b="1" dirty="0"/>
              <a:t>different vendors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sz="2400" b="1" u="sng" dirty="0"/>
              <a:t>Problems without Interoperability</a:t>
            </a:r>
          </a:p>
          <a:p>
            <a:pPr>
              <a:buNone/>
            </a:pP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 cannot be shared easily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Same data entered multiple times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Reports become inconsistent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Manual data conversion required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Decision-making becomes slow and unreliable</a:t>
            </a:r>
          </a:p>
        </p:txBody>
      </p:sp>
    </p:spTree>
    <p:extLst>
      <p:ext uri="{BB962C8B-B14F-4D97-AF65-F5344CB8AC3E}">
        <p14:creationId xmlns:p14="http://schemas.microsoft.com/office/powerpoint/2010/main" val="15755446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97AF3-DC67-126E-4934-B4E468FD7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114358-B013-5B54-3884-E3C14BB92A57}"/>
              </a:ext>
            </a:extLst>
          </p:cNvPr>
          <p:cNvSpPr txBox="1"/>
          <p:nvPr/>
        </p:nvSpPr>
        <p:spPr>
          <a:xfrm>
            <a:off x="1211317" y="243374"/>
            <a:ext cx="7354614" cy="6089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/>
              <a:t>Interoperability in Data Warehouse Context</a:t>
            </a:r>
          </a:p>
          <a:p>
            <a:pPr>
              <a:buNone/>
            </a:pPr>
            <a:endParaRPr lang="en-IN" b="1" dirty="0"/>
          </a:p>
          <a:p>
            <a:pPr>
              <a:lnSpc>
                <a:spcPct val="150000"/>
              </a:lnSpc>
              <a:buNone/>
            </a:pPr>
            <a:r>
              <a:rPr lang="en-IN" dirty="0"/>
              <a:t>In a </a:t>
            </a:r>
            <a:r>
              <a:rPr lang="en-IN" b="1" dirty="0"/>
              <a:t>Data Warehouse environment</a:t>
            </a:r>
            <a:r>
              <a:rPr lang="en-IN" dirty="0"/>
              <a:t>:</a:t>
            </a:r>
          </a:p>
          <a:p>
            <a:pPr>
              <a:lnSpc>
                <a:spcPct val="150000"/>
              </a:lnSpc>
              <a:buNone/>
            </a:pPr>
            <a:endParaRPr lang="en-IN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Data comes from </a:t>
            </a:r>
            <a:r>
              <a:rPr lang="en-IN" b="1" dirty="0"/>
              <a:t>multiple heterogeneous systems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These systems must: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Exchange data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Understand data meaning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Use common standards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lnSpc>
                <a:spcPct val="150000"/>
              </a:lnSpc>
              <a:buNone/>
            </a:pPr>
            <a:r>
              <a:rPr lang="en-IN" dirty="0"/>
              <a:t>👉 Interoperability ensures: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Smooth data integration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Consistent reporting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Unified analytics</a:t>
            </a:r>
          </a:p>
        </p:txBody>
      </p:sp>
    </p:spTree>
    <p:extLst>
      <p:ext uri="{BB962C8B-B14F-4D97-AF65-F5344CB8AC3E}">
        <p14:creationId xmlns:p14="http://schemas.microsoft.com/office/powerpoint/2010/main" val="126662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2E8BC-E9D2-756F-6519-A501CFDC3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61123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FF67D-9A9B-CBD9-D3CE-3A39353CC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98485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ED41E-481E-154F-6DA1-23190B4FE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25483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80993-79F4-3581-D327-B2AF6242F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59804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F3FA1-EA35-DB8A-6AC3-BF76D8969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13310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DA688-408F-B960-927A-CCF68C53D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81466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47E57-352A-9946-94C6-BB5AFCBF5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13825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16015-0059-67E4-AFCF-F25896958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8E466A-56AE-9626-D19B-56982407CCB1}"/>
              </a:ext>
            </a:extLst>
          </p:cNvPr>
          <p:cNvSpPr txBox="1"/>
          <p:nvPr/>
        </p:nvSpPr>
        <p:spPr>
          <a:xfrm>
            <a:off x="1620078" y="575896"/>
            <a:ext cx="784197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Course Roadmap &amp; Learning Outcomes</a:t>
            </a:r>
          </a:p>
          <a:p>
            <a:pPr>
              <a:buNone/>
            </a:pPr>
            <a:endParaRPr lang="en-IN" sz="2400" b="1" dirty="0"/>
          </a:p>
          <a:p>
            <a:pPr>
              <a:buNone/>
            </a:pPr>
            <a:r>
              <a:rPr lang="en-IN" sz="2400" dirty="0"/>
              <a:t>We will first study Data Warehousing concepts and architecture.</a:t>
            </a:r>
          </a:p>
          <a:p>
            <a:pPr>
              <a:buNone/>
            </a:pPr>
            <a:br>
              <a:rPr lang="en-IN" sz="2400" dirty="0"/>
            </a:br>
            <a:r>
              <a:rPr lang="en-IN" sz="2400" dirty="0"/>
              <a:t>Then we will learn Data Mining techniques and algorithms.</a:t>
            </a:r>
          </a:p>
          <a:p>
            <a:pPr>
              <a:buNone/>
            </a:pPr>
            <a:br>
              <a:rPr lang="en-IN" sz="2400" dirty="0"/>
            </a:br>
            <a:r>
              <a:rPr lang="en-IN" sz="2400" dirty="0"/>
              <a:t>By the end of the course, students will understand how data supports intelligent decisions.</a:t>
            </a:r>
          </a:p>
          <a:p>
            <a:pPr>
              <a:buNone/>
            </a:pPr>
            <a:br>
              <a:rPr lang="en-IN" sz="2400" dirty="0"/>
            </a:br>
            <a:r>
              <a:rPr lang="en-IN" sz="2400" dirty="0"/>
              <a:t>This subject is important for careers in data science, analytics, and AI.</a:t>
            </a:r>
          </a:p>
        </p:txBody>
      </p:sp>
    </p:spTree>
    <p:extLst>
      <p:ext uri="{BB962C8B-B14F-4D97-AF65-F5344CB8AC3E}">
        <p14:creationId xmlns:p14="http://schemas.microsoft.com/office/powerpoint/2010/main" val="17518705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D6F4F-D2C9-9797-2B32-9A68815EF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84938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CF01C-FCD4-9B92-8DAA-FCF53CDAA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0218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40F8C-ADC6-01FA-C8DB-C78759C1F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154125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265</TotalTime>
  <Words>1882</Words>
  <Application>Microsoft Office PowerPoint</Application>
  <PresentationFormat>Widescreen</PresentationFormat>
  <Paragraphs>263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Arial</vt:lpstr>
      <vt:lpstr>Calibri</vt:lpstr>
      <vt:lpstr>Symbol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Devesh Kumar</dc:creator>
  <cp:lastModifiedBy>Devesh Kumar</cp:lastModifiedBy>
  <cp:revision>10</cp:revision>
  <dcterms:created xsi:type="dcterms:W3CDTF">2026-01-05T04:46:38Z</dcterms:created>
  <dcterms:modified xsi:type="dcterms:W3CDTF">2026-01-15T05:06:49Z</dcterms:modified>
</cp:coreProperties>
</file>